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[현업 역할] 꼭 필요한 활동에만 표기
P1 의견 청취 - Pain Point 제공: 현업 인터뷰를 통해 실제 문제를 제기
P2 As-Is 분석 - 업무 흐름 설명: 실제 업무 흐름과 예외 사례를 설명
P3 기술 타당성 검증 - 업무 데이터 제공: 검증용 데이터·샘플 제공
P3 과제 확정 - 과제 Owner 지정: 과제별 현업 책임자 지정
P4 사용자 테스트 - 사용자 테스트 수행: 직접 테스트하고 개선 요구사항 제기
P5 KPI 확정 - KPI 목표 합의: 성과 목표를 현업과 합의
P5 운영 이관 - 운영 인수·정착: 운영 인수 및 현장 활용 정착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28600"/>
            <a:ext cx="9144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추진 역할 및 조직 (案)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1051560"/>
            <a:ext cx="11365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4040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그룹사 Agent 적용방안 기반에 AX컨설팅팀, AI혁신센터, IS팀, 현업 등 역할을 나누어 실행력 확보가 필요함</a:t>
            </a:r>
            <a:endParaRPr lang="en-US" sz="165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691640"/>
          <a:ext cx="11365992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4507992"/>
                <a:gridCol w="1234440"/>
                <a:gridCol w="1234440"/>
                <a:gridCol w="1234440"/>
                <a:gridCol w="173736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단계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세부 활동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AX컨설팅팀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AI혁신센터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IS팀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현업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864"/>
                    </a:solidFill>
                  </a:tcPr>
                </a:tc>
              </a:tr>
              <a:tr h="301752">
                <a:tc row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i="1" dirty="0">
                          <a:solidFill>
                            <a:srgbClr val="D9D9D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Phase 1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문제 정의 · 발굴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626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유관 조직 경영진 및 실무자 의견 청취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9728" marR="0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i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주관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F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i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협업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8E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F3F6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Pain Point 제공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8"/>
                    </a:solidFill>
                  </a:tcPr>
                </a:tc>
              </a:tr>
              <a:tr h="301752">
                <a:tc vMerge="1"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626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문제 정의 및 핵심 기대효과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(KPI) 가설 수립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9728" marR="0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i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주관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F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i="1" dirty="0">
                          <a:solidFill>
                            <a:srgbClr val="8C8C8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지원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5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 vMerge="1"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626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Agent 과제 후보 선정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(AI Agent 적용 가능성 초기 검토)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9728" marR="0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i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주관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F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i="1" dirty="0">
                          <a:solidFill>
                            <a:srgbClr val="8C8C8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지원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5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i="1" dirty="0">
                          <a:solidFill>
                            <a:srgbClr val="8C8C8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지원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5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 row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i="1" dirty="0">
                          <a:solidFill>
                            <a:srgbClr val="D9D9D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Phase 2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업무 재설계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626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As-Is 프로세스 분석 및 병목 진단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9728" marR="0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i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주관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F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i="1" dirty="0">
                          <a:solidFill>
                            <a:srgbClr val="8C8C8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지원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5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F3F6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업무 흐름 설명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8"/>
                    </a:solidFill>
                  </a:tcPr>
                </a:tc>
              </a:tr>
              <a:tr h="301752">
                <a:tc vMerge="1"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626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To-Be Workflow 설계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(사람·Agent·시스템 역할 분담)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9728" marR="0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i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주관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F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i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협업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8E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i="1" dirty="0">
                          <a:solidFill>
                            <a:srgbClr val="8C8C8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지원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5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 vMerge="1"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626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레거시 시스템 연계 및 제약 사항 검토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9728" marR="0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i="1" dirty="0">
                          <a:solidFill>
                            <a:srgbClr val="8C8C8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지원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5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i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협업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8E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i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주관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F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 row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i="1" dirty="0">
                          <a:solidFill>
                            <a:srgbClr val="D9D9D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Phase 3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검증 · 과제화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626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To-Be 설계 기술 타당성 검증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(Agent 구축 가능성)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9728" marR="0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i="1" dirty="0">
                          <a:solidFill>
                            <a:srgbClr val="8C8C8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지원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5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i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주관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F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i="1" dirty="0">
                          <a:solidFill>
                            <a:srgbClr val="8C8C8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지원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5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F3F6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업무 데이터 제공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8"/>
                    </a:solidFill>
                  </a:tcPr>
                </a:tc>
              </a:tr>
              <a:tr h="301752">
                <a:tc vMerge="1"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626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Agent 우선순위화 및 과제 확정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9728" marR="0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i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주관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F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i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협업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8E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F3F6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과제 Owner 지정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8"/>
                    </a:solidFill>
                  </a:tcPr>
                </a:tc>
              </a:tr>
              <a:tr h="301752">
                <a:tc vMerge="1"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626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ROI 산정, KPI 초안 및 Baseline 산정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9728" marR="0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i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주관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F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i="1" dirty="0">
                          <a:solidFill>
                            <a:srgbClr val="8C8C8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지원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5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i="1" dirty="0">
                          <a:solidFill>
                            <a:srgbClr val="8C8C8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지원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5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 row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i="1" dirty="0">
                          <a:solidFill>
                            <a:srgbClr val="D9D9D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Phase 4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Agent 구축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626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Agent 아키텍처 설계 및 개발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9728" marR="0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i="1" dirty="0">
                          <a:solidFill>
                            <a:srgbClr val="8C8C8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지원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5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i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주관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F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 vMerge="1"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626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기존 시스템 연동 및 운영 환경 준비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9728" marR="0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i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협업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8E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i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주관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F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 vMerge="1"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626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현업 사용자 테스트 및 요구사항 적합성 검토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9728" marR="0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i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주관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F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i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협업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8E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i="1" dirty="0">
                          <a:solidFill>
                            <a:srgbClr val="8C8C8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지원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5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F3F6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사용자 테스트 수행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8"/>
                    </a:solidFill>
                  </a:tcPr>
                </a:tc>
              </a:tr>
              <a:tr h="301752">
                <a:tc row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i="1" dirty="0">
                          <a:solidFill>
                            <a:srgbClr val="D9D9D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Phase 5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운영 체계 수립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626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성공기준 및 KPI 확정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9728" marR="0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i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주관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F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i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협업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8E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i="1" dirty="0">
                          <a:solidFill>
                            <a:srgbClr val="8C8C8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지원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5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F3F6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KPI 목표 합의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8"/>
                    </a:solidFill>
                  </a:tcPr>
                </a:tc>
              </a:tr>
              <a:tr h="301752">
                <a:tc vMerge="1"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626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운영 모델 설계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(운영 조직/프로세스 정의)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9728" marR="0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i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주관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F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i="1" dirty="0">
                          <a:solidFill>
                            <a:srgbClr val="8C8C8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지원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5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i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협업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8E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 vMerge="1"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626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운영 이관 협의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9728" marR="0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i="1" dirty="0">
                          <a:solidFill>
                            <a:srgbClr val="8C8C8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지원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5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i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협업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8E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i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주관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F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F3F6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운영 인수·정착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182880"/>
            <a:ext cx="11521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5. Agent 운영 전환 및 발굴 역량 내재화 (案)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320040" y="841248"/>
            <a:ext cx="11521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Agent의 지속 가능한 운영과 확산을 위해, </a:t>
            </a:r>
            <a:pPr indent="0" marL="0">
              <a:buNone/>
            </a:pPr>
            <a:r>
              <a:rPr lang="en-US" sz="1600" b="1" u="sng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IS팀 운영 전환 지원과 현업 Use case 발굴 역량 내재화</a:t>
            </a:r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를 추진하고자 함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20040" y="1737360"/>
            <a:ext cx="5669280" cy="4892040"/>
          </a:xfrm>
          <a:prstGeom prst="rect">
            <a:avLst/>
          </a:prstGeom>
          <a:solidFill>
            <a:srgbClr val="FFFFFF"/>
          </a:solidFill>
          <a:ln w="12700">
            <a:solidFill>
              <a:srgbClr val="A6A6A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07592"/>
            <a:ext cx="5212080" cy="429768"/>
          </a:xfrm>
          <a:prstGeom prst="round2SameRect">
            <a:avLst>
              <a:gd name="adj" fmla="val 17021"/>
            </a:avLst>
          </a:prstGeom>
          <a:solidFill>
            <a:srgbClr val="404040"/>
          </a:solidFill>
          <a:ln w="12700">
            <a:solidFill>
              <a:srgbClr val="40404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307592"/>
            <a:ext cx="52120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IS팀 운영 전환 지원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1874520"/>
            <a:ext cx="1645920" cy="502920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18745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운영 자산 이관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377440"/>
            <a:ext cx="16459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237744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아키텍처·소스·프롬프트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Runbook 인계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331720" y="1874520"/>
            <a:ext cx="1645920" cy="502920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331720" y="18745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모니터링·품질 관리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331720" y="2377440"/>
            <a:ext cx="16459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331720" y="237744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성능·비용·품질 지표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장애 대응 절차 수립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114800" y="1874520"/>
            <a:ext cx="1645920" cy="502920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114800" y="18745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기술 교육·안정화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114800" y="2377440"/>
            <a:ext cx="16459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114800" y="237744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Agent 플랫폼·LLMOps 교육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이관 후 2선 기술 지원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 flipV="1">
            <a:off x="548640" y="2971800"/>
            <a:ext cx="5212080" cy="228600"/>
          </a:xfrm>
          <a:prstGeom prst="trapezoid">
            <a:avLst/>
          </a:prstGeom>
          <a:solidFill>
            <a:srgbClr val="E7E6E6"/>
          </a:solidFill>
          <a:ln w="12700">
            <a:solidFill>
              <a:srgbClr val="E7E6E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20040" y="3218688"/>
            <a:ext cx="5669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040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공동 운영 → 전환 운영 → 독립 운영 단계를 거친</a:t>
            </a:r>
            <a:endParaRPr lang="en-US" sz="15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IS팀 중심의 안정적 Agent 운영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548640" y="3931920"/>
            <a:ext cx="5212080" cy="2560320"/>
          </a:xfrm>
          <a:prstGeom prst="roundRect">
            <a:avLst>
              <a:gd name="adj" fmla="val 3571"/>
            </a:avLst>
          </a:prstGeom>
          <a:solidFill>
            <a:srgbClr val="F2F2F2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8640" y="3931920"/>
            <a:ext cx="5212080" cy="411480"/>
          </a:xfrm>
          <a:prstGeom prst="round2SameRect">
            <a:avLst>
              <a:gd name="adj" fmla="val 22222"/>
            </a:avLst>
          </a:prstGeom>
          <a:solidFill>
            <a:srgbClr val="A6A6A6"/>
          </a:solidFill>
          <a:ln w="12700">
            <a:solidFill>
              <a:srgbClr val="A6A6A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48640" y="393192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역할 분담</a:t>
            </a:r>
            <a:pPr algn="ctr"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기반의 </a:t>
            </a:r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단계적 운영 이관 체계 확보</a:t>
            </a:r>
            <a:endParaRPr lang="en-US" sz="1450" dirty="0"/>
          </a:p>
        </p:txBody>
      </p:sp>
      <p:sp>
        <p:nvSpPr>
          <p:cNvPr id="24" name="Shape 22"/>
          <p:cNvSpPr/>
          <p:nvPr/>
        </p:nvSpPr>
        <p:spPr>
          <a:xfrm>
            <a:off x="1874520" y="4526280"/>
            <a:ext cx="2606040" cy="731520"/>
          </a:xfrm>
          <a:prstGeom prst="leftArrow">
            <a:avLst/>
          </a:prstGeom>
          <a:solidFill>
            <a:srgbClr val="D6DCE5"/>
          </a:solidFill>
          <a:ln w="12700">
            <a:solidFill>
              <a:srgbClr val="D6DCE5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2240280" y="452628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4040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운영 자산 이관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i="1" dirty="0">
                <a:solidFill>
                  <a:srgbClr val="4040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기술 교육 · 2선 지원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828800" y="5577840"/>
            <a:ext cx="2606040" cy="731520"/>
          </a:xfrm>
          <a:prstGeom prst="rightArrow">
            <a:avLst/>
          </a:prstGeom>
          <a:solidFill>
            <a:srgbClr val="F6DADA"/>
          </a:solidFill>
          <a:ln w="12700">
            <a:solidFill>
              <a:srgbClr val="F6DADA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2148840" y="557784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4040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운영 이슈 공유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i="1" dirty="0">
                <a:solidFill>
                  <a:srgbClr val="4040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고도화 요청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2011680" y="53035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FBFB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Partnership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85800" y="4846320"/>
            <a:ext cx="1463040" cy="1463040"/>
          </a:xfrm>
          <a:prstGeom prst="ellipse">
            <a:avLst/>
          </a:prstGeom>
          <a:solidFill>
            <a:srgbClr val="F4DCDC"/>
          </a:solidFill>
          <a:ln w="12700">
            <a:solidFill>
              <a:srgbClr val="F4DCDC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85800" y="4846320"/>
            <a:ext cx="1463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IS팀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4160520" y="4297680"/>
            <a:ext cx="1463040" cy="1463040"/>
          </a:xfrm>
          <a:prstGeom prst="ellipse">
            <a:avLst/>
          </a:prstGeom>
          <a:solidFill>
            <a:srgbClr val="DAE3F3"/>
          </a:solidFill>
          <a:ln w="12700">
            <a:solidFill>
              <a:srgbClr val="DAE3F3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160520" y="4297680"/>
            <a:ext cx="1463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혁신센터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6217920" y="1737360"/>
            <a:ext cx="5669280" cy="4892040"/>
          </a:xfrm>
          <a:prstGeom prst="rect">
            <a:avLst/>
          </a:prstGeom>
          <a:solidFill>
            <a:srgbClr val="FFFFFF"/>
          </a:solidFill>
          <a:ln w="12700">
            <a:solidFill>
              <a:srgbClr val="A6A6A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446520" y="1307592"/>
            <a:ext cx="5212080" cy="429768"/>
          </a:xfrm>
          <a:prstGeom prst="round2SameRect">
            <a:avLst>
              <a:gd name="adj" fmla="val 17021"/>
            </a:avLst>
          </a:prstGeom>
          <a:solidFill>
            <a:srgbClr val="404040"/>
          </a:solidFill>
          <a:ln w="12700">
            <a:solidFill>
              <a:srgbClr val="404040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446520" y="1307592"/>
            <a:ext cx="52120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현업 Use case 발굴 교육·워크샵</a:t>
            </a:r>
            <a:endParaRPr lang="en-US" sz="1700" dirty="0"/>
          </a:p>
        </p:txBody>
      </p:sp>
      <p:sp>
        <p:nvSpPr>
          <p:cNvPr id="36" name="Text 34"/>
          <p:cNvSpPr txBox="1"/>
          <p:nvPr/>
        </p:nvSpPr>
        <p:spPr>
          <a:xfrm>
            <a:off x="6355080" y="1965960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F7F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추진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7F7F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과정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949440" y="1965960"/>
            <a:ext cx="1600200" cy="685800"/>
          </a:xfrm>
          <a:prstGeom prst="homePlate">
            <a:avLst/>
          </a:prstGeom>
          <a:solidFill>
            <a:srgbClr val="EEF1F7"/>
          </a:solidFill>
          <a:ln w="12700">
            <a:solidFill>
              <a:srgbClr val="B4C0D6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7040880" y="1965960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Agent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이해 교육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967728" y="1828800"/>
            <a:ext cx="246888" cy="246888"/>
          </a:xfrm>
          <a:prstGeom prst="rect">
            <a:avLst/>
          </a:prstGeom>
          <a:solidFill>
            <a:srgbClr val="7F7F7F"/>
          </a:solidFill>
          <a:ln w="12700">
            <a:solidFill>
              <a:srgbClr val="7F7F7F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967728" y="1828800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8503920" y="1965960"/>
            <a:ext cx="1600200" cy="685800"/>
          </a:xfrm>
          <a:prstGeom prst="chevron">
            <a:avLst/>
          </a:prstGeom>
          <a:solidFill>
            <a:srgbClr val="EEF1F7"/>
          </a:solidFill>
          <a:ln w="12700">
            <a:solidFill>
              <a:srgbClr val="B4C0D6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8778240" y="1965960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Use case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발굴 워크샵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8522208" y="1828800"/>
            <a:ext cx="246888" cy="246888"/>
          </a:xfrm>
          <a:prstGeom prst="rect">
            <a:avLst/>
          </a:prstGeom>
          <a:solidFill>
            <a:srgbClr val="7F7F7F"/>
          </a:solidFill>
          <a:ln w="12700">
            <a:solidFill>
              <a:srgbClr val="7F7F7F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8522208" y="1828800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10058400" y="1965960"/>
            <a:ext cx="1600200" cy="685800"/>
          </a:xfrm>
          <a:prstGeom prst="chevron">
            <a:avLst/>
          </a:prstGeom>
          <a:solidFill>
            <a:srgbClr val="EEF1F7"/>
          </a:solidFill>
          <a:ln w="12700">
            <a:solidFill>
              <a:srgbClr val="B4C0D6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10332720" y="1965960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과제화 및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우수사례 확산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10076688" y="1828800"/>
            <a:ext cx="246888" cy="246888"/>
          </a:xfrm>
          <a:prstGeom prst="rect">
            <a:avLst/>
          </a:prstGeom>
          <a:solidFill>
            <a:srgbClr val="7F7F7F"/>
          </a:solidFill>
          <a:ln w="12700">
            <a:solidFill>
              <a:srgbClr val="7F7F7F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10076688" y="1828800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6537960" y="2880360"/>
            <a:ext cx="246888" cy="246888"/>
          </a:xfrm>
          <a:prstGeom prst="rect">
            <a:avLst/>
          </a:prstGeom>
          <a:solidFill>
            <a:srgbClr val="7F7F7F"/>
          </a:solidFill>
          <a:ln w="12700">
            <a:solidFill>
              <a:srgbClr val="7F7F7F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6537960" y="2880360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100" dirty="0"/>
          </a:p>
        </p:txBody>
      </p:sp>
      <p:sp>
        <p:nvSpPr>
          <p:cNvPr id="51" name="Text 49"/>
          <p:cNvSpPr txBox="1"/>
          <p:nvPr/>
        </p:nvSpPr>
        <p:spPr>
          <a:xfrm>
            <a:off x="6903720" y="2834640"/>
            <a:ext cx="48463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Agent 개념·적용 사례 및 Agent 적용 가능 업무 유형 이해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6537960" y="3246120"/>
            <a:ext cx="246888" cy="246888"/>
          </a:xfrm>
          <a:prstGeom prst="rect">
            <a:avLst/>
          </a:prstGeom>
          <a:solidFill>
            <a:srgbClr val="7F7F7F"/>
          </a:solidFill>
          <a:ln w="12700">
            <a:solidFill>
              <a:srgbClr val="7F7F7F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6537960" y="3246120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100" dirty="0"/>
          </a:p>
        </p:txBody>
      </p:sp>
      <p:sp>
        <p:nvSpPr>
          <p:cNvPr id="54" name="Text 52"/>
          <p:cNvSpPr txBox="1"/>
          <p:nvPr/>
        </p:nvSpPr>
        <p:spPr>
          <a:xfrm>
            <a:off x="6903720" y="3200400"/>
            <a:ext cx="48463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Pain Point 도출 → 업무 분해 → Agent 적합성 판단으로 Use case 도출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6537960" y="3611880"/>
            <a:ext cx="246888" cy="246888"/>
          </a:xfrm>
          <a:prstGeom prst="rect">
            <a:avLst/>
          </a:prstGeom>
          <a:solidFill>
            <a:srgbClr val="7F7F7F"/>
          </a:solidFill>
          <a:ln w="12700">
            <a:solidFill>
              <a:srgbClr val="7F7F7F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6537960" y="3611880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100" dirty="0"/>
          </a:p>
        </p:txBody>
      </p:sp>
      <p:sp>
        <p:nvSpPr>
          <p:cNvPr id="57" name="Text 55"/>
          <p:cNvSpPr txBox="1"/>
          <p:nvPr/>
        </p:nvSpPr>
        <p:spPr>
          <a:xfrm>
            <a:off x="6903720" y="356616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실무자 주도 Use case 우선순위화 + 과제 후보 리스트 등록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F3FB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Phase 1 과제 발굴과 연계, 타 부서·계열사 전파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6446520" y="4251960"/>
            <a:ext cx="5212080" cy="475488"/>
          </a:xfrm>
          <a:prstGeom prst="roundRect">
            <a:avLst>
              <a:gd name="adj" fmla="val 15385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6446520" y="4251960"/>
            <a:ext cx="5212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현업의 실제 업무와 Pain Point 중심의 Use case 발굴</a:t>
            </a:r>
            <a:endParaRPr lang="en-US" sz="1350" dirty="0"/>
          </a:p>
        </p:txBody>
      </p:sp>
      <p:sp>
        <p:nvSpPr>
          <p:cNvPr id="60" name="Shape 58"/>
          <p:cNvSpPr/>
          <p:nvPr/>
        </p:nvSpPr>
        <p:spPr>
          <a:xfrm>
            <a:off x="6446520" y="4818888"/>
            <a:ext cx="5212080" cy="475488"/>
          </a:xfrm>
          <a:prstGeom prst="roundRect">
            <a:avLst>
              <a:gd name="adj" fmla="val 15385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6446520" y="4818888"/>
            <a:ext cx="5212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업무 영역별 Agent 적용 사례 및 발굴 Canvas 제공</a:t>
            </a:r>
            <a:endParaRPr lang="en-US" sz="1350" dirty="0"/>
          </a:p>
        </p:txBody>
      </p:sp>
      <p:sp>
        <p:nvSpPr>
          <p:cNvPr id="62" name="Shape 60"/>
          <p:cNvSpPr/>
          <p:nvPr/>
        </p:nvSpPr>
        <p:spPr>
          <a:xfrm>
            <a:off x="6446520" y="5385816"/>
            <a:ext cx="5212080" cy="475488"/>
          </a:xfrm>
          <a:prstGeom prst="roundRect">
            <a:avLst>
              <a:gd name="adj" fmla="val 15385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6446520" y="5385816"/>
            <a:ext cx="5212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참가자 주도 실습을 통한 실행 가능한 과제 후보 도출</a:t>
            </a:r>
            <a:endParaRPr lang="en-US" sz="1350" dirty="0"/>
          </a:p>
        </p:txBody>
      </p:sp>
      <p:sp>
        <p:nvSpPr>
          <p:cNvPr id="64" name="Shape 62"/>
          <p:cNvSpPr/>
          <p:nvPr/>
        </p:nvSpPr>
        <p:spPr>
          <a:xfrm>
            <a:off x="6446520" y="5952744"/>
            <a:ext cx="5212080" cy="475488"/>
          </a:xfrm>
          <a:prstGeom prst="roundRect">
            <a:avLst>
              <a:gd name="adj" fmla="val 15385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6446520" y="5952744"/>
            <a:ext cx="5212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AX컨설턴트·AI 전문가의 현장 코칭 및 기술 적합성 검토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2026-10-01T05:09:16Z</dcterms:created>
  <dcterms:modified xsi:type="dcterms:W3CDTF">2026-10-01T05:09:16Z</dcterms:modified>
</cp:coreProperties>
</file>