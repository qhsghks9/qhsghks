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X 전환 성공 조건" id="{f9bb1a7f-bfcf-d4d1-6864-92340db6818d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[수정 사항] 헤드라인(한계점)과 본문(필요)이 일치하도록 '현실적 한계 → 필요 사항' 2단 구조로 변경. 거버넌스를 사례 기반 3요소(성과관리-SK / 실행조직·확산-엑센츄어·SDS, 삼성중공업 / 보안·운영 원칙)로 재정의. '단위 시스템별 데이터 분산'은 Infra에서 AI Ready Data로 이동. Infra는 SAP PCE·BTP 등 통합 인프라·AI 플랫폼과 연계되도록 'AI 플랫폼·Agent 연계 표준' 추가.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64592"/>
            <a:ext cx="11457432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64592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2. AX 전환 성공 조건 &gt; 요약</a:t>
            </a:r>
            <a:endParaRPr lang="en-US" sz="2600" dirty="0"/>
          </a:p>
        </p:txBody>
      </p:sp>
      <p:sp>
        <p:nvSpPr>
          <p:cNvPr id="3" name="head-message"/>
          <p:cNvSpPr txBox="1"/>
          <p:nvPr/>
        </p:nvSpPr>
        <p:spPr>
          <a:xfrm>
            <a:off x="365760" y="749808"/>
            <a:ext cx="11457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성공을 위한 4대 선결조건별 현실적 한계를 해소하려면 </a:t>
            </a:r>
            <a:pPr indent="0" marL="0">
              <a:buNone/>
            </a:pPr>
            <a:r>
              <a:rPr lang="en-US" sz="18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실행 중심의 컨설팅 전환</a:t>
            </a:r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필요함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2984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선결조건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039112" y="1298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현실적 한계 (As-Is)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298448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사항 (To-Be)  ·  사례 근거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1145743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8" name="cond-1"/>
          <p:cNvSpPr/>
          <p:nvPr/>
        </p:nvSpPr>
        <p:spPr>
          <a:xfrm>
            <a:off x="365760" y="1755648"/>
            <a:ext cx="1600200" cy="860552"/>
          </a:xfrm>
          <a:prstGeom prst="rect">
            <a:avLst/>
          </a:prstGeom>
          <a:solidFill>
            <a:srgbClr val="4A5674"/>
          </a:solidFill>
          <a:ln w="12700">
            <a:solidFill>
              <a:srgbClr val="4A567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1755648"/>
            <a:ext cx="1600200" cy="86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재설계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039112" y="1755648"/>
            <a:ext cx="3840480" cy="40741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76272" y="1755648"/>
            <a:ext cx="3657600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개별 업무 자동화에 그쳐 전사 연계 단절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1849628"/>
            <a:ext cx="164592" cy="219456"/>
          </a:xfrm>
          <a:prstGeom prst="chevron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755648"/>
            <a:ext cx="5559552" cy="407416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1755648"/>
            <a:ext cx="4142232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Human–AI 역할을 구분한 End-to-End 업무 재설계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88752" y="1822196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88752" y="182219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삼성중공업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39112" y="2208784"/>
            <a:ext cx="3840480" cy="40741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176272" y="2208784"/>
            <a:ext cx="3657600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병목을 아는 업무·AI 융합 인력 부재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89320" y="2302764"/>
            <a:ext cx="164592" cy="219456"/>
          </a:xfrm>
          <a:prstGeom prst="chevron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2208784"/>
            <a:ext cx="5559552" cy="407416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2208784"/>
            <a:ext cx="4142232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업무·AI 융합 실행 인력(FDE)의 현장 투입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588752" y="2275332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88752" y="22753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엑센츄어·SDS</a:t>
            </a:r>
            <a:endParaRPr lang="en-US" sz="950" dirty="0"/>
          </a:p>
        </p:txBody>
      </p:sp>
      <p:sp>
        <p:nvSpPr>
          <p:cNvPr id="24" name="cond-2"/>
          <p:cNvSpPr/>
          <p:nvPr/>
        </p:nvSpPr>
        <p:spPr>
          <a:xfrm>
            <a:off x="365760" y="2744216"/>
            <a:ext cx="1600200" cy="1313688"/>
          </a:xfrm>
          <a:prstGeom prst="rect">
            <a:avLst/>
          </a:prstGeom>
          <a:solidFill>
            <a:srgbClr val="4A5674"/>
          </a:solidFill>
          <a:ln w="12700">
            <a:solidFill>
              <a:srgbClr val="4A567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5760" y="2744216"/>
            <a:ext cx="1600200" cy="13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거버넌스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2039112" y="2744216"/>
            <a:ext cx="3840480" cy="40741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76272" y="2744216"/>
            <a:ext cx="3657600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생산성이 전사 성과로 연결되지 않음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89320" y="2838196"/>
            <a:ext cx="164592" cy="219456"/>
          </a:xfrm>
          <a:prstGeom prst="chevron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2744216"/>
            <a:ext cx="5559552" cy="407416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0" y="2744216"/>
            <a:ext cx="4142232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KPI·FTE 기반 성과관리 체계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588752" y="2810764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88752" y="28107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SK그룹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39112" y="3197352"/>
            <a:ext cx="3840480" cy="40741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76272" y="3197352"/>
            <a:ext cx="3657600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단위 일회성 추진, 확산 체계 부재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989320" y="3291332"/>
            <a:ext cx="164592" cy="219456"/>
          </a:xfrm>
          <a:prstGeom prst="chevron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3197352"/>
            <a:ext cx="5559552" cy="407416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0" y="3197352"/>
            <a:ext cx="4142232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조직·R&amp;R 정립 및 자산화 기반 확산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588752" y="3263900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88752" y="32639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엑센츄어·SDS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039112" y="3650488"/>
            <a:ext cx="3840480" cy="40741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176272" y="3650488"/>
            <a:ext cx="3657600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Data~AI 운영 전 과정의 원칙 부재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989320" y="3744468"/>
            <a:ext cx="164592" cy="219456"/>
          </a:xfrm>
          <a:prstGeom prst="chevron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63640" y="3650488"/>
            <a:ext cx="5559552" cy="407416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0800" y="3650488"/>
            <a:ext cx="4142232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보안·운영 원칙 수립, 제도·교육 지원</a:t>
            </a:r>
            <a:endParaRPr lang="en-US" sz="1300" dirty="0"/>
          </a:p>
        </p:txBody>
      </p:sp>
      <p:sp>
        <p:nvSpPr>
          <p:cNvPr id="45" name="cond-3"/>
          <p:cNvSpPr/>
          <p:nvPr/>
        </p:nvSpPr>
        <p:spPr>
          <a:xfrm>
            <a:off x="365760" y="4185920"/>
            <a:ext cx="1600200" cy="860552"/>
          </a:xfrm>
          <a:prstGeom prst="rect">
            <a:avLst/>
          </a:prstGeom>
          <a:solidFill>
            <a:srgbClr val="4A5674"/>
          </a:solidFill>
          <a:ln w="12700">
            <a:solidFill>
              <a:srgbClr val="4A567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65760" y="4185920"/>
            <a:ext cx="1600200" cy="86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Ready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2039112" y="4185920"/>
            <a:ext cx="3840480" cy="40741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176272" y="4185920"/>
            <a:ext cx="3657600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시스템별 데이터 분산, 품질 편차 존재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5989320" y="4279900"/>
            <a:ext cx="164592" cy="219456"/>
          </a:xfrm>
          <a:prstGeom prst="chevron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63640" y="4185920"/>
            <a:ext cx="5559552" cy="407416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400800" y="4185920"/>
            <a:ext cx="4142232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통합·표준화 (AI 성능 = 데이터 품질)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039112" y="4639056"/>
            <a:ext cx="3840480" cy="40741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176272" y="4639056"/>
            <a:ext cx="3657600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관리 주체(Owner) 불명확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5989320" y="4733036"/>
            <a:ext cx="164592" cy="219456"/>
          </a:xfrm>
          <a:prstGeom prst="chevron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63640" y="4639056"/>
            <a:ext cx="5559552" cy="407416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00800" y="4639056"/>
            <a:ext cx="4142232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수집·가공·표준화를 주도할 Data Owner·전문가</a:t>
            </a:r>
            <a:endParaRPr lang="en-US" sz="1300" dirty="0"/>
          </a:p>
        </p:txBody>
      </p:sp>
      <p:sp>
        <p:nvSpPr>
          <p:cNvPr id="57" name="cond-4"/>
          <p:cNvSpPr/>
          <p:nvPr/>
        </p:nvSpPr>
        <p:spPr>
          <a:xfrm>
            <a:off x="365760" y="5174488"/>
            <a:ext cx="1600200" cy="860552"/>
          </a:xfrm>
          <a:prstGeom prst="rect">
            <a:avLst/>
          </a:prstGeom>
          <a:solidFill>
            <a:srgbClr val="4A5674"/>
          </a:solidFill>
          <a:ln w="12700">
            <a:solidFill>
              <a:srgbClr val="4A567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65760" y="5174488"/>
            <a:ext cx="1600200" cy="86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Infra.</a:t>
            </a:r>
            <a:endParaRPr lang="en-US" sz="1700" dirty="0"/>
          </a:p>
        </p:txBody>
      </p:sp>
      <p:sp>
        <p:nvSpPr>
          <p:cNvPr id="59" name="Shape 57"/>
          <p:cNvSpPr/>
          <p:nvPr/>
        </p:nvSpPr>
        <p:spPr>
          <a:xfrm>
            <a:off x="2039112" y="5174488"/>
            <a:ext cx="3840480" cy="40741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176272" y="5174488"/>
            <a:ext cx="3657600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온프레미스·구버전 시스템으로 AI 접목 경직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5989320" y="5268468"/>
            <a:ext cx="164592" cy="219456"/>
          </a:xfrm>
          <a:prstGeom prst="chevron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63640" y="5174488"/>
            <a:ext cx="5559552" cy="407416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400800" y="5174488"/>
            <a:ext cx="4142232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기반 확장 가능 인프라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2039112" y="5627624"/>
            <a:ext cx="3840480" cy="40741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2176272" y="5627624"/>
            <a:ext cx="3657600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플랫폼·Agent 연계 표준 부재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5989320" y="5721604"/>
            <a:ext cx="164592" cy="219456"/>
          </a:xfrm>
          <a:prstGeom prst="chevron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63640" y="5627624"/>
            <a:ext cx="5559552" cy="407416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400800" y="5627624"/>
            <a:ext cx="4142232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플랫폼·Agent(MCP) 연계 표준 수립</a:t>
            </a:r>
            <a:endParaRPr lang="en-US" sz="1300" dirty="0"/>
          </a:p>
        </p:txBody>
      </p:sp>
      <p:sp>
        <p:nvSpPr>
          <p:cNvPr id="69" name="implication"/>
          <p:cNvSpPr/>
          <p:nvPr/>
        </p:nvSpPr>
        <p:spPr>
          <a:xfrm>
            <a:off x="365760" y="6144768"/>
            <a:ext cx="11457432" cy="4572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48640" y="614476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9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시사점 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재설계·거버넌스는 </a:t>
            </a:r>
            <a:pPr algn="ctr" indent="0" marL="0">
              <a:buNone/>
            </a:pPr>
            <a:r>
              <a:rPr lang="en-US" sz="1400" b="1" dirty="0">
                <a:solidFill>
                  <a:srgbClr val="FFD9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실행 조직(FDE)과 성과관리 체계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없이는 달성 어려움 → 3. Next INWAYIN 개선 방향으로 연계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FDE">
  <a:themeElements>
    <a:clrScheme name="AX FDE">
      <a:dk1>
        <a:srgbClr val="000000"/>
      </a:dk1>
      <a:lt1>
        <a:srgbClr val="FFFFFF"/>
      </a:lt1>
      <a:dk2>
        <a:srgbClr val="1F2A44"/>
      </a:dk2>
      <a:lt2>
        <a:srgbClr val="F2F2F2"/>
      </a:lt2>
      <a:accent1>
        <a:srgbClr val="2F5597"/>
      </a:accent1>
      <a:accent2>
        <a:srgbClr val="4A5674"/>
      </a:accent2>
      <a:accent3>
        <a:srgbClr val="595959"/>
      </a:accent3>
      <a:accent4>
        <a:srgbClr val="E8ECF4"/>
      </a:accent4>
      <a:accent5>
        <a:srgbClr val="FFD966"/>
      </a:accent5>
      <a:accent6>
        <a:srgbClr val="C00000"/>
      </a:accent6>
      <a:hlink>
        <a:srgbClr val="2F5597"/>
      </a:hlink>
      <a:folHlink>
        <a:srgbClr val="4A5674"/>
      </a:folHlink>
    </a:clrScheme>
    <a:fontScheme name="AX F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 전환 성공 조건 - 요약</dc:title>
  <dc:subject>PptxGenJS Presentation</dc:subject>
  <dc:creator>PptxGenJS</dc:creator>
  <cp:lastModifiedBy>PptxGenJS</cp:lastModifiedBy>
  <cp:revision>1</cp:revision>
  <dcterms:created xsi:type="dcterms:W3CDTF">2026-10-19T07:34:00Z</dcterms:created>
  <dcterms:modified xsi:type="dcterms:W3CDTF">2026-10-19T07:34:00Z</dcterms:modified>
</cp:coreProperties>
</file>