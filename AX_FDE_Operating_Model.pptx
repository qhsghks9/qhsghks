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X 전환 성공 조건" id="{4442eb7b-8918-35a9-0a93-ef82f9c6d3b8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보완 사항: 도입배경 'PoC 이후 확산 실패', '전략–실행 간 단절' 신규 추가 / 수행방안 '성과 책임 및 자산화' 추가(엑센츄어 표준화 확산·자산화, 삼성SDS Scale 단계 근거).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65760" y="201168"/>
            <a:ext cx="114300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000000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65760" y="201168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2. AX 전환 성공 조건 &gt; 사례 3. 엑센츄어, 삼성 SDS</a:t>
            </a:r>
            <a:endParaRPr lang="en-US" sz="2600" dirty="0"/>
          </a:p>
        </p:txBody>
      </p:sp>
      <p:sp>
        <p:nvSpPr>
          <p:cNvPr id="3" name="head-message"/>
          <p:cNvSpPr txBox="1"/>
          <p:nvPr/>
        </p:nvSpPr>
        <p:spPr>
          <a:xfrm>
            <a:off x="365760" y="749808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도입의 병목은 기술이 아닌 '현장 실행력'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— 현장 투입 FDE Pod가 문제 정의부터 성과까지 책임지는 운영 모델이 AX 성공의 핵심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1298448"/>
            <a:ext cx="6172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AX 전환 성공 조건 : FDE 도입 배경 및 수행 방안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645920"/>
            <a:ext cx="6172200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766560" y="1298448"/>
            <a:ext cx="5056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사례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766560" y="1645920"/>
            <a:ext cx="5056632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755648"/>
            <a:ext cx="502920" cy="1481328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5760" y="1755648"/>
            <a:ext cx="50292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</a:t>
            </a:r>
            <a:endParaRPr lang="en-US" sz="1300" dirty="0"/>
          </a:p>
        </p:txBody>
      </p:sp>
      <p:sp>
        <p:nvSpPr>
          <p:cNvPr id="10" name="bg-1"/>
          <p:cNvSpPr/>
          <p:nvPr/>
        </p:nvSpPr>
        <p:spPr>
          <a:xfrm>
            <a:off x="941832" y="1755648"/>
            <a:ext cx="2761488" cy="704088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51560" y="1755648"/>
            <a:ext cx="257860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PoC 이후 확산 실패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파일럿은 다수 추진되나 운영 환경 전환과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성과 창출로 이어지지 못하는 'PoC의 늪' 반복</a:t>
            </a:r>
            <a:endParaRPr lang="en-US" sz="1250" dirty="0"/>
          </a:p>
        </p:txBody>
      </p:sp>
      <p:sp>
        <p:nvSpPr>
          <p:cNvPr id="12" name="bg-2"/>
          <p:cNvSpPr/>
          <p:nvPr/>
        </p:nvSpPr>
        <p:spPr>
          <a:xfrm>
            <a:off x="3776472" y="1755648"/>
            <a:ext cx="2761488" cy="704088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886200" y="1755648"/>
            <a:ext cx="257860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전략–실행 간 단절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전략·자문은 수립되나 현업 프로세스·데이터·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시스템에 연결해 구현할 실행 역량 부족</a:t>
            </a:r>
            <a:endParaRPr lang="en-US" sz="1250" dirty="0"/>
          </a:p>
        </p:txBody>
      </p:sp>
      <p:sp>
        <p:nvSpPr>
          <p:cNvPr id="14" name="bg-3"/>
          <p:cNvSpPr/>
          <p:nvPr/>
        </p:nvSpPr>
        <p:spPr>
          <a:xfrm>
            <a:off x="941832" y="2532888"/>
            <a:ext cx="2761488" cy="704088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51560" y="2532888"/>
            <a:ext cx="257860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극단적인 인력 운영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 AI 전문인력 집중 또는 대규모 외주 의존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현업을 이해하는 융합형 인력 부재</a:t>
            </a:r>
            <a:endParaRPr lang="en-US" sz="1250" dirty="0"/>
          </a:p>
        </p:txBody>
      </p:sp>
      <p:sp>
        <p:nvSpPr>
          <p:cNvPr id="16" name="bg-4"/>
          <p:cNvSpPr/>
          <p:nvPr/>
        </p:nvSpPr>
        <p:spPr>
          <a:xfrm>
            <a:off x="3776472" y="2532888"/>
            <a:ext cx="2761488" cy="704088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886200" y="2532888"/>
            <a:ext cx="257860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유지보수 비용 지속 지출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적합성 부족으로 구축 후 수정·SM 비용이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계속 발생하나, 실제 성과 측정은 미흡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1188720" y="3291840"/>
            <a:ext cx="4526280" cy="658368"/>
          </a:xfrm>
          <a:prstGeom prst="flowChartMerge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65760" y="3310128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적용 중심의 FDE 운영 모델 도입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365760" y="3584448"/>
            <a:ext cx="6172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FDE(Forward Deployed Engineer) : 고객 현장에 투입되어 문제 정의→구현→배포→성과까지 책임지는 융합형 엔지니어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3986784"/>
            <a:ext cx="502920" cy="1993392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65760" y="3986784"/>
            <a:ext cx="502920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</a:t>
            </a:r>
            <a:endParaRPr lang="en-US" sz="1300" dirty="0"/>
          </a:p>
        </p:txBody>
      </p:sp>
      <p:sp>
        <p:nvSpPr>
          <p:cNvPr id="23" name="ex-title-1"/>
          <p:cNvSpPr/>
          <p:nvPr/>
        </p:nvSpPr>
        <p:spPr>
          <a:xfrm>
            <a:off x="941832" y="3986784"/>
            <a:ext cx="1783080" cy="457200"/>
          </a:xfrm>
          <a:prstGeom prst="rect">
            <a:avLst/>
          </a:prstGeom>
          <a:solidFill>
            <a:srgbClr val="E8ECF4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41832" y="3986784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현장 밀착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779776" y="3986784"/>
            <a:ext cx="3758184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889504" y="3986784"/>
            <a:ext cx="3593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기술·업무 조직에 FDE를 상주 배치, 실제 데이터·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시스템·제약조건 안에서 문제 정의부터 공동 수행</a:t>
            </a:r>
            <a:endParaRPr lang="en-US" sz="950" dirty="0"/>
          </a:p>
        </p:txBody>
      </p:sp>
      <p:sp>
        <p:nvSpPr>
          <p:cNvPr id="27" name="ex-title-2"/>
          <p:cNvSpPr/>
          <p:nvPr/>
        </p:nvSpPr>
        <p:spPr>
          <a:xfrm>
            <a:off x="941832" y="4498848"/>
            <a:ext cx="1783080" cy="457200"/>
          </a:xfrm>
          <a:prstGeom prst="rect">
            <a:avLst/>
          </a:prstGeom>
          <a:solidFill>
            <a:srgbClr val="E8ECF4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41832" y="449884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전략과 엔지니어링 통합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779776" y="4498848"/>
            <a:ext cx="3758184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889504" y="4498848"/>
            <a:ext cx="3593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경영진 AI 전략을 프로덕션 시스템·업무 프로세스로 연결,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짧은 Sprint로 프로토타입–검증–배포 반복</a:t>
            </a:r>
            <a:endParaRPr lang="en-US" sz="950" dirty="0"/>
          </a:p>
        </p:txBody>
      </p:sp>
      <p:sp>
        <p:nvSpPr>
          <p:cNvPr id="31" name="ex-title-3"/>
          <p:cNvSpPr/>
          <p:nvPr/>
        </p:nvSpPr>
        <p:spPr>
          <a:xfrm>
            <a:off x="941832" y="5010912"/>
            <a:ext cx="1783080" cy="457200"/>
          </a:xfrm>
          <a:prstGeom prst="rect">
            <a:avLst/>
          </a:prstGeom>
          <a:solidFill>
            <a:srgbClr val="E8ECF4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41832" y="501091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산업·기능 전문성 결합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2779776" y="5010912"/>
            <a:ext cx="3758184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889504" y="5010912"/>
            <a:ext cx="3593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Biz·프로세스·IT·AI·Data 융합 One Pod 구성,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산업 지식과 파트너 AI 플랫폼을 결합</a:t>
            </a:r>
            <a:endParaRPr lang="en-US" sz="950" dirty="0"/>
          </a:p>
        </p:txBody>
      </p:sp>
      <p:sp>
        <p:nvSpPr>
          <p:cNvPr id="35" name="ex-title-4"/>
          <p:cNvSpPr/>
          <p:nvPr/>
        </p:nvSpPr>
        <p:spPr>
          <a:xfrm>
            <a:off x="941832" y="5522976"/>
            <a:ext cx="1783080" cy="457200"/>
          </a:xfrm>
          <a:prstGeom prst="rect">
            <a:avLst/>
          </a:prstGeom>
          <a:solidFill>
            <a:srgbClr val="E8ECF4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41832" y="552297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성과 책임 및 자산화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2779776" y="5522976"/>
            <a:ext cx="3758184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889504" y="5522976"/>
            <a:ext cx="3593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업무성과 중심 KPI로 효과 측정, 검증된 코드·플레이북·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Agent를 자산화하여 타 부서·고객으로 표준화 확산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766560" y="1755648"/>
            <a:ext cx="731520" cy="2212848"/>
          </a:xfrm>
          <a:prstGeom prst="rect">
            <a:avLst/>
          </a:prstGeom>
          <a:solidFill>
            <a:srgbClr val="4A5674"/>
          </a:solidFill>
          <a:ln w="12700">
            <a:solidFill>
              <a:srgbClr val="4A5674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766560" y="1755648"/>
            <a:ext cx="731520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엑센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츄어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7635240" y="175564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100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&gt;</a:t>
            </a:r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accenture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7635240" y="2103120"/>
            <a:ext cx="4187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파일럿을 고객 현장에 직접 투입</a:t>
            </a:r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하여 업무·매출·생산성 성과로 전환하는 </a:t>
            </a:r>
            <a:pPr indent="0" marL="0">
              <a:buNone/>
            </a:pPr>
            <a:r>
              <a:rPr lang="en-US" sz="10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실행형 사업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7635240" y="2487168"/>
            <a:ext cx="4187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고객별 </a:t>
            </a:r>
            <a:pPr indent="0" marL="0">
              <a:buNone/>
            </a:pPr>
            <a:r>
              <a:rPr lang="en-US" sz="9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소규모·상시·성과책임형 Pod</a:t>
            </a:r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운영 프로세스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635240" y="2724912"/>
            <a:ext cx="1280160" cy="292608"/>
          </a:xfrm>
          <a:prstGeom prst="roundRect">
            <a:avLst>
              <a:gd name="adj" fmla="val 18750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635240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정의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8942832" y="2871216"/>
            <a:ext cx="118872" cy="0"/>
          </a:xfrm>
          <a:prstGeom prst="line">
            <a:avLst/>
          </a:prstGeom>
          <a:noFill/>
          <a:ln w="12700">
            <a:solidFill>
              <a:srgbClr val="2F5597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9089136" y="2724912"/>
            <a:ext cx="1280160" cy="292608"/>
          </a:xfrm>
          <a:prstGeom prst="roundRect">
            <a:avLst>
              <a:gd name="adj" fmla="val 18750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9089136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공동설계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10396728" y="2871216"/>
            <a:ext cx="118872" cy="0"/>
          </a:xfrm>
          <a:prstGeom prst="line">
            <a:avLst/>
          </a:prstGeom>
          <a:noFill/>
          <a:ln w="12700">
            <a:solidFill>
              <a:srgbClr val="2F5597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10543032" y="2724912"/>
            <a:ext cx="1280160" cy="292608"/>
          </a:xfrm>
          <a:prstGeom prst="roundRect">
            <a:avLst>
              <a:gd name="adj" fmla="val 18750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0543032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신속 프로토타입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7635240" y="3145536"/>
            <a:ext cx="1280160" cy="292608"/>
          </a:xfrm>
          <a:prstGeom prst="roundRect">
            <a:avLst>
              <a:gd name="adj" fmla="val 18750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7635240" y="314553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운영환경 배포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8942832" y="3291840"/>
            <a:ext cx="118872" cy="0"/>
          </a:xfrm>
          <a:prstGeom prst="line">
            <a:avLst/>
          </a:prstGeom>
          <a:noFill/>
          <a:ln w="12700">
            <a:solidFill>
              <a:srgbClr val="2F5597"/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9089136" y="3145536"/>
            <a:ext cx="1280160" cy="292608"/>
          </a:xfrm>
          <a:prstGeom prst="roundRect">
            <a:avLst>
              <a:gd name="adj" fmla="val 18750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9089136" y="314553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성과 측정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10396728" y="3291840"/>
            <a:ext cx="118872" cy="0"/>
          </a:xfrm>
          <a:prstGeom prst="line">
            <a:avLst/>
          </a:prstGeom>
          <a:noFill/>
          <a:ln w="12700">
            <a:solidFill>
              <a:srgbClr val="2F5597"/>
            </a:solidFill>
            <a:prstDash val="solid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10543032" y="3145536"/>
            <a:ext cx="1280160" cy="292608"/>
          </a:xfrm>
          <a:prstGeom prst="roundRect">
            <a:avLst>
              <a:gd name="adj" fmla="val 18750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10543032" y="314553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표준화 확산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11183112" y="3026664"/>
            <a:ext cx="0" cy="109728"/>
          </a:xfrm>
          <a:prstGeom prst="line">
            <a:avLst/>
          </a:prstGeom>
          <a:noFill/>
          <a:ln w="12700">
            <a:solidFill>
              <a:srgbClr val="2F5597"/>
            </a:solidFill>
            <a:prstDash val="solid"/>
            <a:tailEnd type="triangle"/>
          </a:ln>
        </p:spPr>
      </p:sp>
      <p:sp>
        <p:nvSpPr>
          <p:cNvPr id="61" name="Text 59"/>
          <p:cNvSpPr txBox="1"/>
          <p:nvPr/>
        </p:nvSpPr>
        <p:spPr>
          <a:xfrm>
            <a:off x="7635240" y="3456432"/>
            <a:ext cx="4187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수개월 로드맵 대신 짧은 주기의 프로토타입–검증–배포 반복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고객별 문제해결 코드·플레이북·AI 에이전트 스킬을 자산화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6766560" y="4059936"/>
            <a:ext cx="731520" cy="1920240"/>
          </a:xfrm>
          <a:prstGeom prst="rect">
            <a:avLst/>
          </a:prstGeom>
          <a:solidFill>
            <a:srgbClr val="4A5674"/>
          </a:solidFill>
          <a:ln w="12700">
            <a:solidFill>
              <a:srgbClr val="4A5674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6766560" y="4059936"/>
            <a:ext cx="731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삼성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SDS</a:t>
            </a:r>
            <a:endParaRPr lang="en-US" sz="1300" dirty="0"/>
          </a:p>
        </p:txBody>
      </p:sp>
      <p:sp>
        <p:nvSpPr>
          <p:cNvPr id="64" name="Text 62"/>
          <p:cNvSpPr txBox="1"/>
          <p:nvPr/>
        </p:nvSpPr>
        <p:spPr>
          <a:xfrm>
            <a:off x="7635240" y="405993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SAMSUNG SDS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10040112" y="4078224"/>
            <a:ext cx="1783080" cy="310896"/>
          </a:xfrm>
          <a:prstGeom prst="roundRect">
            <a:avLst>
              <a:gd name="adj" fmla="val 17647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6" name="sds-stat"/>
          <p:cNvSpPr txBox="1"/>
          <p:nvPr/>
        </p:nvSpPr>
        <p:spPr>
          <a:xfrm>
            <a:off x="10040112" y="4078224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'26년 내 </a:t>
            </a:r>
            <a:pPr algn="ctr" indent="0" marL="0">
              <a:buNone/>
            </a:pPr>
            <a:r>
              <a:rPr lang="en-US" sz="1200" b="1" dirty="0">
                <a:solidFill>
                  <a:srgbClr val="FFD9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FDE 200명</a:t>
            </a:r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배치</a:t>
            </a:r>
            <a:endParaRPr lang="en-US" sz="1000" dirty="0"/>
          </a:p>
        </p:txBody>
      </p:sp>
      <p:sp>
        <p:nvSpPr>
          <p:cNvPr id="67" name="Text 65"/>
          <p:cNvSpPr txBox="1"/>
          <p:nvPr/>
        </p:nvSpPr>
        <p:spPr>
          <a:xfrm>
            <a:off x="7635240" y="4425696"/>
            <a:ext cx="4187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FDE 기반 고객사 AX 전략·방법론</a:t>
            </a:r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수립, </a:t>
            </a:r>
            <a:pPr indent="0" marL="0">
              <a:buNone/>
            </a:pPr>
            <a:r>
              <a:rPr lang="en-US" sz="10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FDE One Pod</a:t>
            </a:r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(Biz·프로세스·IT·AI·Data·고객)가 Sprint로 공동 수행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7635240" y="4882896"/>
            <a:ext cx="1024128" cy="292608"/>
          </a:xfrm>
          <a:prstGeom prst="roundRect">
            <a:avLst>
              <a:gd name="adj" fmla="val 18750"/>
            </a:avLst>
          </a:prstGeom>
          <a:solidFill>
            <a:srgbClr val="4A5674"/>
          </a:solidFill>
          <a:ln w="12700">
            <a:solidFill>
              <a:srgbClr val="4A5674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7635240" y="4882896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Discovery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8677656" y="5029200"/>
            <a:ext cx="-6096" cy="0"/>
          </a:xfrm>
          <a:prstGeom prst="line">
            <a:avLst/>
          </a:prstGeom>
          <a:noFill/>
          <a:ln w="12700">
            <a:solidFill>
              <a:srgbClr val="2F5597"/>
            </a:solidFill>
            <a:prstDash val="solid"/>
            <a:tailEnd type="triangle"/>
          </a:ln>
        </p:spPr>
      </p:sp>
      <p:sp>
        <p:nvSpPr>
          <p:cNvPr id="71" name="Text 69"/>
          <p:cNvSpPr txBox="1"/>
          <p:nvPr/>
        </p:nvSpPr>
        <p:spPr>
          <a:xfrm>
            <a:off x="7589520" y="5212080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개선기회 분석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 선정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8689848" y="4882896"/>
            <a:ext cx="1024128" cy="292608"/>
          </a:xfrm>
          <a:prstGeom prst="roundRect">
            <a:avLst>
              <a:gd name="adj" fmla="val 18750"/>
            </a:avLst>
          </a:prstGeom>
          <a:solidFill>
            <a:srgbClr val="4A5674"/>
          </a:solidFill>
          <a:ln w="12700">
            <a:solidFill>
              <a:srgbClr val="4A5674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8689848" y="4882896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Re-Design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9732264" y="5029200"/>
            <a:ext cx="-6096" cy="0"/>
          </a:xfrm>
          <a:prstGeom prst="line">
            <a:avLst/>
          </a:prstGeom>
          <a:noFill/>
          <a:ln w="12700">
            <a:solidFill>
              <a:srgbClr val="2F5597"/>
            </a:solidFill>
            <a:prstDash val="solid"/>
            <a:tailEnd type="triangle"/>
          </a:ln>
        </p:spPr>
      </p:sp>
      <p:sp>
        <p:nvSpPr>
          <p:cNvPr id="75" name="Text 73"/>
          <p:cNvSpPr txBox="1"/>
          <p:nvPr/>
        </p:nvSpPr>
        <p:spPr>
          <a:xfrm>
            <a:off x="8644128" y="5212080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프로세스 재설계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Infra/Data/보안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9744456" y="4882896"/>
            <a:ext cx="1024128" cy="292608"/>
          </a:xfrm>
          <a:prstGeom prst="roundRect">
            <a:avLst>
              <a:gd name="adj" fmla="val 18750"/>
            </a:avLst>
          </a:prstGeom>
          <a:solidFill>
            <a:srgbClr val="4A5674"/>
          </a:solidFill>
          <a:ln w="12700">
            <a:solidFill>
              <a:srgbClr val="4A5674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9744456" y="4882896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Activate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10786872" y="5029200"/>
            <a:ext cx="-6096" cy="0"/>
          </a:xfrm>
          <a:prstGeom prst="line">
            <a:avLst/>
          </a:prstGeom>
          <a:noFill/>
          <a:ln w="12700">
            <a:solidFill>
              <a:srgbClr val="2F5597"/>
            </a:solidFill>
            <a:prstDash val="solid"/>
            <a:tailEnd type="triangle"/>
          </a:ln>
        </p:spPr>
      </p:sp>
      <p:sp>
        <p:nvSpPr>
          <p:cNvPr id="79" name="Text 77"/>
          <p:cNvSpPr txBox="1"/>
          <p:nvPr/>
        </p:nvSpPr>
        <p:spPr>
          <a:xfrm>
            <a:off x="9698736" y="5212080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Agent 협업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대시보드 모니터링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10799064" y="4882896"/>
            <a:ext cx="1024128" cy="292608"/>
          </a:xfrm>
          <a:prstGeom prst="roundRect">
            <a:avLst>
              <a:gd name="adj" fmla="val 18750"/>
            </a:avLst>
          </a:prstGeom>
          <a:solidFill>
            <a:srgbClr val="4A5674"/>
          </a:solidFill>
          <a:ln w="12700">
            <a:solidFill>
              <a:srgbClr val="4A5674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10799064" y="4882896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Scale</a:t>
            </a:r>
            <a:endParaRPr lang="en-US" sz="1000" dirty="0"/>
          </a:p>
        </p:txBody>
      </p:sp>
      <p:sp>
        <p:nvSpPr>
          <p:cNvPr id="82" name="Text 80"/>
          <p:cNvSpPr txBox="1"/>
          <p:nvPr/>
        </p:nvSpPr>
        <p:spPr>
          <a:xfrm>
            <a:off x="10753344" y="5212080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성과 측정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운영체계 수립</a:t>
            </a:r>
            <a:endParaRPr lang="en-US" sz="850" dirty="0"/>
          </a:p>
        </p:txBody>
      </p:sp>
      <p:sp>
        <p:nvSpPr>
          <p:cNvPr id="83" name="Text 81"/>
          <p:cNvSpPr txBox="1"/>
          <p:nvPr/>
        </p:nvSpPr>
        <p:spPr>
          <a:xfrm>
            <a:off x="7635240" y="5614416"/>
            <a:ext cx="4187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Asset 활용으로 적용영역 발굴 가속, 설계–구현 리드타임 단축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AI Ready 현황 고려 설계, 업무성과 중심 성공지표로 운영</a:t>
            </a:r>
            <a:endParaRPr lang="en-US" sz="950" dirty="0"/>
          </a:p>
        </p:txBody>
      </p:sp>
      <p:sp>
        <p:nvSpPr>
          <p:cNvPr id="84" name="implication"/>
          <p:cNvSpPr/>
          <p:nvPr/>
        </p:nvSpPr>
        <p:spPr>
          <a:xfrm>
            <a:off x="365760" y="6089904"/>
            <a:ext cx="11457432" cy="420624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548640" y="6089904"/>
            <a:ext cx="11091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D9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시사점  </a:t>
            </a:r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AX 성공은 기술 도입이 아닌, 현장에 투입된 융합형 FDE Pod가 </a:t>
            </a:r>
            <a:pPr algn="ctr" indent="0" marL="0">
              <a:buNone/>
            </a:pPr>
            <a:r>
              <a:rPr lang="en-US" sz="1250" b="1" dirty="0">
                <a:solidFill>
                  <a:srgbClr val="FFD9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'짧은 주기 실행 → 성과 책임 → 자산화 확산'</a:t>
            </a:r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을 반복하는 운영 구조에서 결정됨</a:t>
            </a:r>
            <a:endParaRPr lang="en-US" sz="1250" dirty="0"/>
          </a:p>
        </p:txBody>
      </p:sp>
      <p:sp>
        <p:nvSpPr>
          <p:cNvPr id="86" name="Text 84"/>
          <p:cNvSpPr txBox="1"/>
          <p:nvPr/>
        </p:nvSpPr>
        <p:spPr>
          <a:xfrm>
            <a:off x="365760" y="654710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Accenture 공개자료, Real Summit 2026 이준희 삼성SDS 대표이사 기조연설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X FDE">
  <a:themeElements>
    <a:clrScheme name="AX FDE">
      <a:dk1>
        <a:srgbClr val="000000"/>
      </a:dk1>
      <a:lt1>
        <a:srgbClr val="FFFFFF"/>
      </a:lt1>
      <a:dk2>
        <a:srgbClr val="1F2A44"/>
      </a:dk2>
      <a:lt2>
        <a:srgbClr val="F2F2F2"/>
      </a:lt2>
      <a:accent1>
        <a:srgbClr val="2F5597"/>
      </a:accent1>
      <a:accent2>
        <a:srgbClr val="4A5674"/>
      </a:accent2>
      <a:accent3>
        <a:srgbClr val="595959"/>
      </a:accent3>
      <a:accent4>
        <a:srgbClr val="E8ECF4"/>
      </a:accent4>
      <a:accent5>
        <a:srgbClr val="FFD966"/>
      </a:accent5>
      <a:accent6>
        <a:srgbClr val="A100FF"/>
      </a:accent6>
      <a:hlink>
        <a:srgbClr val="2F5597"/>
      </a:hlink>
      <a:folHlink>
        <a:srgbClr val="4A5674"/>
      </a:folHlink>
    </a:clrScheme>
    <a:fontScheme name="AX FD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AX 전환 성공 조건 - FDE 운영 모델</dc:title>
  <dc:subject>PptxGenJS Presentation</dc:subject>
  <dc:creator>PptxGenJS</dc:creator>
  <cp:lastModifiedBy>PptxGenJS</cp:lastModifiedBy>
  <cp:revision>1</cp:revision>
  <dcterms:created xsi:type="dcterms:W3CDTF">2026-10-19T01:22:56Z</dcterms:created>
  <dcterms:modified xsi:type="dcterms:W3CDTF">2026-10-19T01:22:56Z</dcterms:modified>
</cp:coreProperties>
</file>