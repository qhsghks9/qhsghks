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5852160" cy="2743200"/>
  <p:notesSz cx="2743200" cy="585216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alue Chain 패널"/>
          <p:cNvSpPr/>
          <p:nvPr/>
        </p:nvSpPr>
        <p:spPr>
          <a:xfrm>
            <a:off x="45720" y="45720"/>
            <a:ext cx="5760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9050" dist="12700" dir="5400000">
              <a:srgbClr val="999999">
                <a:alpha val="3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73152" y="7315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04040"/>
                </a:solidFill>
              </a:rPr>
              <a:t>그룹사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404040"/>
                </a:solidFill>
              </a:rPr>
              <a:t>Value Chain</a:t>
            </a:r>
            <a:endParaRPr lang="en-US" sz="750" dirty="0"/>
          </a:p>
        </p:txBody>
      </p:sp>
      <p:sp>
        <p:nvSpPr>
          <p:cNvPr id="4" name="VC R&amp;D"/>
          <p:cNvSpPr txBox="1"/>
          <p:nvPr/>
        </p:nvSpPr>
        <p:spPr>
          <a:xfrm>
            <a:off x="658368" y="82296"/>
            <a:ext cx="868680" cy="347472"/>
          </a:xfrm>
          <a:prstGeom prst="homePlate">
            <a:avLst/>
          </a:prstGeom>
          <a:solidFill>
            <a:srgbClr val="7F7F7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R&amp;D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11건</a:t>
            </a:r>
            <a:endParaRPr lang="en-US" sz="800" dirty="0"/>
          </a:p>
        </p:txBody>
      </p:sp>
      <p:sp>
        <p:nvSpPr>
          <p:cNvPr id="5" name="VC 구매"/>
          <p:cNvSpPr txBox="1"/>
          <p:nvPr/>
        </p:nvSpPr>
        <p:spPr>
          <a:xfrm>
            <a:off x="1499616" y="82296"/>
            <a:ext cx="868680" cy="347472"/>
          </a:xfrm>
          <a:prstGeom prst="chevron">
            <a:avLst/>
          </a:prstGeom>
          <a:solidFill>
            <a:srgbClr val="7F7F7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구매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10건</a:t>
            </a:r>
            <a:endParaRPr lang="en-US" sz="800" dirty="0"/>
          </a:p>
        </p:txBody>
      </p:sp>
      <p:sp>
        <p:nvSpPr>
          <p:cNvPr id="6" name="VC 생산"/>
          <p:cNvSpPr txBox="1"/>
          <p:nvPr/>
        </p:nvSpPr>
        <p:spPr>
          <a:xfrm>
            <a:off x="2340864" y="82296"/>
            <a:ext cx="868680" cy="347472"/>
          </a:xfrm>
          <a:prstGeom prst="chevron">
            <a:avLst/>
          </a:prstGeom>
          <a:solidFill>
            <a:srgbClr val="7F7F7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생산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9건</a:t>
            </a:r>
            <a:endParaRPr lang="en-US" sz="800" dirty="0"/>
          </a:p>
        </p:txBody>
      </p:sp>
      <p:sp>
        <p:nvSpPr>
          <p:cNvPr id="7" name="VC 물류"/>
          <p:cNvSpPr txBox="1"/>
          <p:nvPr/>
        </p:nvSpPr>
        <p:spPr>
          <a:xfrm>
            <a:off x="3182112" y="82296"/>
            <a:ext cx="868680" cy="347472"/>
          </a:xfrm>
          <a:prstGeom prst="chevron">
            <a:avLst/>
          </a:prstGeom>
          <a:solidFill>
            <a:srgbClr val="7F7F7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물류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13건</a:t>
            </a:r>
            <a:endParaRPr lang="en-US" sz="800" dirty="0"/>
          </a:p>
        </p:txBody>
      </p:sp>
      <p:sp>
        <p:nvSpPr>
          <p:cNvPr id="8" name="VC 영업·MK"/>
          <p:cNvSpPr txBox="1"/>
          <p:nvPr/>
        </p:nvSpPr>
        <p:spPr>
          <a:xfrm>
            <a:off x="4023360" y="82296"/>
            <a:ext cx="868680" cy="347472"/>
          </a:xfrm>
          <a:prstGeom prst="chevron">
            <a:avLst/>
          </a:prstGeom>
          <a:solidFill>
            <a:srgbClr val="7F7F7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영업·MK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40건</a:t>
            </a:r>
            <a:endParaRPr lang="en-US" sz="800" dirty="0"/>
          </a:p>
        </p:txBody>
      </p:sp>
      <p:sp>
        <p:nvSpPr>
          <p:cNvPr id="9" name="VC 경영관리"/>
          <p:cNvSpPr txBox="1"/>
          <p:nvPr/>
        </p:nvSpPr>
        <p:spPr>
          <a:xfrm>
            <a:off x="4864608" y="82296"/>
            <a:ext cx="868680" cy="347472"/>
          </a:xfrm>
          <a:prstGeom prst="chevron">
            <a:avLst/>
          </a:prstGeom>
          <a:solidFill>
            <a:srgbClr val="7F7F7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경영관리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25건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448056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F7F7F"/>
                </a:solidFill>
              </a:rPr>
              <a:t>※ 영역별 AI과제 Pool (총 108건)</a:t>
            </a:r>
            <a:endParaRPr lang="en-US" sz="650" dirty="0"/>
          </a:p>
        </p:txBody>
      </p:sp>
      <p:sp>
        <p:nvSpPr>
          <p:cNvPr id="11" name="수행체계 패널"/>
          <p:cNvSpPr/>
          <p:nvPr/>
        </p:nvSpPr>
        <p:spPr>
          <a:xfrm>
            <a:off x="45720" y="685800"/>
            <a:ext cx="5760720" cy="201168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71600" y="71323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u="sng" dirty="0">
                <a:solidFill>
                  <a:srgbClr val="262626"/>
                </a:solidFill>
              </a:rPr>
              <a:t>FDE 수행 체계 및 그룹사 제공 서비스</a:t>
            </a:r>
            <a:endParaRPr lang="en-US" sz="850" dirty="0"/>
          </a:p>
        </p:txBody>
      </p:sp>
      <p:sp>
        <p:nvSpPr>
          <p:cNvPr id="13" name="엔지니어 박스"/>
          <p:cNvSpPr/>
          <p:nvPr/>
        </p:nvSpPr>
        <p:spPr>
          <a:xfrm>
            <a:off x="109728" y="932688"/>
            <a:ext cx="960120" cy="170078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" y="95097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95959"/>
                </a:solidFill>
              </a:rPr>
              <a:t>Tech 조직</a:t>
            </a:r>
            <a:endParaRPr lang="en-US" sz="750" dirty="0"/>
          </a:p>
        </p:txBody>
      </p:sp>
      <p:sp>
        <p:nvSpPr>
          <p:cNvPr id="15" name="엔지니어 AI혁신센터"/>
          <p:cNvSpPr txBox="1"/>
          <p:nvPr/>
        </p:nvSpPr>
        <p:spPr>
          <a:xfrm>
            <a:off x="164592" y="1161288"/>
            <a:ext cx="850392" cy="438912"/>
          </a:xfrm>
          <a:prstGeom prst="roundRect">
            <a:avLst>
              <a:gd name="adj" fmla="val 8333"/>
            </a:avLst>
          </a:prstGeom>
          <a:solidFill>
            <a:srgbClr val="404040"/>
          </a:solidFill>
          <a:ln/>
          <a:effectLst>
            <a:outerShdw sx="100000" sy="100000" kx="0" ky="0" algn="bl" rotWithShape="0" blurRad="19050" dist="12700" dir="5400000">
              <a:srgbClr val="999999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AI혁신센터</a:t>
            </a:r>
            <a:endParaRPr lang="en-US" sz="8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AI·Agent 개발</a:t>
            </a:r>
            <a:endParaRPr lang="en-US" sz="850" dirty="0"/>
          </a:p>
        </p:txBody>
      </p:sp>
      <p:sp>
        <p:nvSpPr>
          <p:cNvPr id="16" name="엔지니어 D&amp;AX부문"/>
          <p:cNvSpPr txBox="1"/>
          <p:nvPr/>
        </p:nvSpPr>
        <p:spPr>
          <a:xfrm>
            <a:off x="164592" y="1645920"/>
            <a:ext cx="850392" cy="438912"/>
          </a:xfrm>
          <a:prstGeom prst="roundRect">
            <a:avLst>
              <a:gd name="adj" fmla="val 8333"/>
            </a:avLst>
          </a:prstGeom>
          <a:solidFill>
            <a:srgbClr val="404040"/>
          </a:solidFill>
          <a:ln/>
          <a:effectLst>
            <a:outerShdw sx="100000" sy="100000" kx="0" ky="0" algn="bl" rotWithShape="0" blurRad="19050" dist="12700" dir="5400000">
              <a:srgbClr val="999999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D&amp;AX부문</a:t>
            </a:r>
            <a:endParaRPr lang="en-US" sz="8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데이터·Legacy 연동</a:t>
            </a:r>
            <a:endParaRPr lang="en-US" sz="850" dirty="0"/>
          </a:p>
        </p:txBody>
      </p:sp>
      <p:sp>
        <p:nvSpPr>
          <p:cNvPr id="17" name="Tech 역할"/>
          <p:cNvSpPr txBox="1"/>
          <p:nvPr/>
        </p:nvSpPr>
        <p:spPr>
          <a:xfrm>
            <a:off x="164592" y="2130552"/>
            <a:ext cx="850392" cy="438912"/>
          </a:xfrm>
          <a:prstGeom prst="roundRect">
            <a:avLst>
              <a:gd name="adj" fmla="val 8333"/>
            </a:avLst>
          </a:prstGeom>
          <a:solidFill>
            <a:srgbClr val="404040"/>
          </a:solidFill>
          <a:ln/>
          <a:effectLst>
            <a:outerShdw sx="100000" sy="100000" kx="0" ky="0" algn="bl" rotWithShape="0" blurRad="19050" dist="12700" dir="5400000">
              <a:srgbClr val="999999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MVP 구축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운영 이관</a:t>
            </a:r>
            <a:endParaRPr lang="en-US" sz="800" dirty="0"/>
          </a:p>
        </p:txBody>
      </p:sp>
      <p:sp>
        <p:nvSpPr>
          <p:cNvPr id="18" name="점 0"/>
          <p:cNvSpPr/>
          <p:nvPr/>
        </p:nvSpPr>
        <p:spPr>
          <a:xfrm>
            <a:off x="1115568" y="1627632"/>
            <a:ext cx="41148" cy="4114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9" name="점 1"/>
          <p:cNvSpPr/>
          <p:nvPr/>
        </p:nvSpPr>
        <p:spPr>
          <a:xfrm>
            <a:off x="1115568" y="1691640"/>
            <a:ext cx="41148" cy="4114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0" name="점 2"/>
          <p:cNvSpPr/>
          <p:nvPr/>
        </p:nvSpPr>
        <p:spPr>
          <a:xfrm>
            <a:off x="1115568" y="1755648"/>
            <a:ext cx="41148" cy="4114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1" name="점 3"/>
          <p:cNvSpPr/>
          <p:nvPr/>
        </p:nvSpPr>
        <p:spPr>
          <a:xfrm>
            <a:off x="1115568" y="1819656"/>
            <a:ext cx="41148" cy="4114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2" name="점 4"/>
          <p:cNvSpPr/>
          <p:nvPr/>
        </p:nvSpPr>
        <p:spPr>
          <a:xfrm>
            <a:off x="1115568" y="1883664"/>
            <a:ext cx="41148" cy="4114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3" name="점 5"/>
          <p:cNvSpPr/>
          <p:nvPr/>
        </p:nvSpPr>
        <p:spPr>
          <a:xfrm>
            <a:off x="1188720" y="1691640"/>
            <a:ext cx="41148" cy="41148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24" name="점 6"/>
          <p:cNvSpPr/>
          <p:nvPr/>
        </p:nvSpPr>
        <p:spPr>
          <a:xfrm>
            <a:off x="1188720" y="1755648"/>
            <a:ext cx="41148" cy="41148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25" name="점 7"/>
          <p:cNvSpPr/>
          <p:nvPr/>
        </p:nvSpPr>
        <p:spPr>
          <a:xfrm>
            <a:off x="1188720" y="1819656"/>
            <a:ext cx="41148" cy="41148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26" name="점 8"/>
          <p:cNvSpPr/>
          <p:nvPr/>
        </p:nvSpPr>
        <p:spPr>
          <a:xfrm>
            <a:off x="1261872" y="1755648"/>
            <a:ext cx="41148" cy="41148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27" name="Biz 그룹 박스"/>
          <p:cNvSpPr/>
          <p:nvPr/>
        </p:nvSpPr>
        <p:spPr>
          <a:xfrm>
            <a:off x="1371600" y="932688"/>
            <a:ext cx="2606040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371600" y="950976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95959"/>
                </a:solidFill>
              </a:rPr>
              <a:t>Biz 그룹 (문제정의 · 적용설계)</a:t>
            </a:r>
            <a:endParaRPr lang="en-US" sz="750" dirty="0"/>
          </a:p>
        </p:txBody>
      </p:sp>
      <p:sp>
        <p:nvSpPr>
          <p:cNvPr id="29" name="팀 AX컨설팅팀"/>
          <p:cNvSpPr txBox="1"/>
          <p:nvPr/>
        </p:nvSpPr>
        <p:spPr>
          <a:xfrm>
            <a:off x="1426464" y="1170432"/>
            <a:ext cx="1225296" cy="219456"/>
          </a:xfrm>
          <a:prstGeom prst="rect">
            <a:avLst/>
          </a:prstGeom>
          <a:solidFill>
            <a:srgbClr val="2E5C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AX컨설팅팀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1426464" y="1426464"/>
            <a:ext cx="594360" cy="182880"/>
          </a:xfrm>
          <a:prstGeom prst="rect">
            <a:avLst/>
          </a:prstGeom>
          <a:solidFill>
            <a:srgbClr val="DCE6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5C8A"/>
                </a:solidFill>
              </a:rPr>
              <a:t>진단/발굴 9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2057400" y="1426464"/>
            <a:ext cx="594360" cy="182880"/>
          </a:xfrm>
          <a:prstGeom prst="rect">
            <a:avLst/>
          </a:prstGeom>
          <a:solidFill>
            <a:srgbClr val="DCE6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5C8A"/>
                </a:solidFill>
              </a:rPr>
              <a:t>전략수립 4</a:t>
            </a:r>
            <a:endParaRPr lang="en-US" sz="700" dirty="0"/>
          </a:p>
        </p:txBody>
      </p:sp>
      <p:sp>
        <p:nvSpPr>
          <p:cNvPr id="32" name="Text 30"/>
          <p:cNvSpPr txBox="1"/>
          <p:nvPr/>
        </p:nvSpPr>
        <p:spPr>
          <a:xfrm>
            <a:off x="1426464" y="1636776"/>
            <a:ext cx="594360" cy="182880"/>
          </a:xfrm>
          <a:prstGeom prst="rect">
            <a:avLst/>
          </a:prstGeom>
          <a:solidFill>
            <a:srgbClr val="DCE6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5C8A"/>
                </a:solidFill>
              </a:rPr>
              <a:t>전문영역 3</a:t>
            </a:r>
            <a:endParaRPr lang="en-US" sz="700" dirty="0"/>
          </a:p>
        </p:txBody>
      </p:sp>
      <p:sp>
        <p:nvSpPr>
          <p:cNvPr id="33" name="Text 31"/>
          <p:cNvSpPr txBox="1"/>
          <p:nvPr/>
        </p:nvSpPr>
        <p:spPr>
          <a:xfrm>
            <a:off x="2057400" y="1636776"/>
            <a:ext cx="594360" cy="182880"/>
          </a:xfrm>
          <a:prstGeom prst="rect">
            <a:avLst/>
          </a:prstGeom>
          <a:solidFill>
            <a:srgbClr val="DCE6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5C8A"/>
                </a:solidFill>
              </a:rPr>
              <a:t>AX교육 6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1426464" y="1865376"/>
            <a:ext cx="1225296" cy="219456"/>
          </a:xfrm>
          <a:prstGeom prst="rect">
            <a:avLst/>
          </a:prstGeom>
          <a:solidFill>
            <a:srgbClr val="DCE6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5C8A"/>
                </a:solidFill>
              </a:rPr>
              <a:t>그룹사 AI컨설팅 경험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1426464" y="2121408"/>
            <a:ext cx="1225296" cy="219456"/>
          </a:xfrm>
          <a:prstGeom prst="rect">
            <a:avLst/>
          </a:prstGeom>
          <a:solidFill>
            <a:srgbClr val="2E5C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AI과제 Pool 108건</a:t>
            </a:r>
            <a:endParaRPr lang="en-US" sz="750" dirty="0"/>
          </a:p>
        </p:txBody>
      </p:sp>
      <p:sp>
        <p:nvSpPr>
          <p:cNvPr id="36" name="팀 Biz컨설팅팀"/>
          <p:cNvSpPr txBox="1"/>
          <p:nvPr/>
        </p:nvSpPr>
        <p:spPr>
          <a:xfrm>
            <a:off x="2697480" y="1170432"/>
            <a:ext cx="1225296" cy="219456"/>
          </a:xfrm>
          <a:prstGeom prst="rect">
            <a:avLst/>
          </a:prstGeom>
          <a:solidFill>
            <a:srgbClr val="2E5C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Biz컨설팅팀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2697480" y="1426464"/>
            <a:ext cx="594360" cy="182880"/>
          </a:xfrm>
          <a:prstGeom prst="rect">
            <a:avLst/>
          </a:prstGeom>
          <a:solidFill>
            <a:srgbClr val="DCE6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5C8A"/>
                </a:solidFill>
              </a:rPr>
              <a:t>식품·제조</a:t>
            </a:r>
            <a:endParaRPr lang="en-US" sz="700" dirty="0"/>
          </a:p>
        </p:txBody>
      </p:sp>
      <p:sp>
        <p:nvSpPr>
          <p:cNvPr id="38" name="Text 36"/>
          <p:cNvSpPr txBox="1"/>
          <p:nvPr/>
        </p:nvSpPr>
        <p:spPr>
          <a:xfrm>
            <a:off x="3328416" y="1426464"/>
            <a:ext cx="594360" cy="182880"/>
          </a:xfrm>
          <a:prstGeom prst="rect">
            <a:avLst/>
          </a:prstGeom>
          <a:solidFill>
            <a:srgbClr val="DCE6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5C8A"/>
                </a:solidFill>
              </a:rPr>
              <a:t>유통</a:t>
            </a:r>
            <a:endParaRPr lang="en-US" sz="700" dirty="0"/>
          </a:p>
        </p:txBody>
      </p:sp>
      <p:sp>
        <p:nvSpPr>
          <p:cNvPr id="39" name="Text 37"/>
          <p:cNvSpPr txBox="1"/>
          <p:nvPr/>
        </p:nvSpPr>
        <p:spPr>
          <a:xfrm>
            <a:off x="2697480" y="1636776"/>
            <a:ext cx="594360" cy="182880"/>
          </a:xfrm>
          <a:prstGeom prst="rect">
            <a:avLst/>
          </a:prstGeom>
          <a:solidFill>
            <a:srgbClr val="DCE6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5C8A"/>
                </a:solidFill>
              </a:rPr>
              <a:t>화학·건설</a:t>
            </a:r>
            <a:endParaRPr lang="en-US" sz="700" dirty="0"/>
          </a:p>
        </p:txBody>
      </p:sp>
      <p:sp>
        <p:nvSpPr>
          <p:cNvPr id="40" name="Text 38"/>
          <p:cNvSpPr txBox="1"/>
          <p:nvPr/>
        </p:nvSpPr>
        <p:spPr>
          <a:xfrm>
            <a:off x="3328416" y="1636776"/>
            <a:ext cx="594360" cy="182880"/>
          </a:xfrm>
          <a:prstGeom prst="rect">
            <a:avLst/>
          </a:prstGeom>
          <a:solidFill>
            <a:srgbClr val="DCE6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5C8A"/>
                </a:solidFill>
              </a:rPr>
              <a:t>서비스</a:t>
            </a:r>
            <a:endParaRPr lang="en-US" sz="700" dirty="0"/>
          </a:p>
        </p:txBody>
      </p:sp>
      <p:sp>
        <p:nvSpPr>
          <p:cNvPr id="41" name="Text 39"/>
          <p:cNvSpPr txBox="1"/>
          <p:nvPr/>
        </p:nvSpPr>
        <p:spPr>
          <a:xfrm>
            <a:off x="2697480" y="1865376"/>
            <a:ext cx="1225296" cy="219456"/>
          </a:xfrm>
          <a:prstGeom prst="rect">
            <a:avLst/>
          </a:prstGeom>
          <a:solidFill>
            <a:srgbClr val="DCE6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5C8A"/>
                </a:solidFill>
              </a:rPr>
              <a:t>차세대 PI/ISP 경험</a:t>
            </a:r>
            <a:endParaRPr lang="en-US" sz="700" dirty="0"/>
          </a:p>
        </p:txBody>
      </p:sp>
      <p:sp>
        <p:nvSpPr>
          <p:cNvPr id="42" name="Text 40"/>
          <p:cNvSpPr txBox="1"/>
          <p:nvPr/>
        </p:nvSpPr>
        <p:spPr>
          <a:xfrm>
            <a:off x="2697480" y="2121408"/>
            <a:ext cx="1225296" cy="219456"/>
          </a:xfrm>
          <a:prstGeom prst="rect">
            <a:avLst/>
          </a:prstGeom>
          <a:solidFill>
            <a:srgbClr val="2E5C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도메인 전문성</a:t>
            </a:r>
            <a:endParaRPr lang="en-US" sz="750" dirty="0"/>
          </a:p>
        </p:txBody>
      </p:sp>
      <p:sp>
        <p:nvSpPr>
          <p:cNvPr id="43" name="공동 TF"/>
          <p:cNvSpPr txBox="1"/>
          <p:nvPr/>
        </p:nvSpPr>
        <p:spPr>
          <a:xfrm>
            <a:off x="1426464" y="2386584"/>
            <a:ext cx="249631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2E5C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5C8A"/>
                </a:solidFill>
              </a:rPr>
              <a:t>FDE 공동 TF : Target 선정 → 적용 설계 → 성과 관리</a:t>
            </a:r>
            <a:endParaRPr lang="en-US" sz="750" dirty="0"/>
          </a:p>
        </p:txBody>
      </p:sp>
      <p:sp>
        <p:nvSpPr>
          <p:cNvPr id="44" name="Text 42"/>
          <p:cNvSpPr txBox="1"/>
          <p:nvPr/>
        </p:nvSpPr>
        <p:spPr>
          <a:xfrm>
            <a:off x="4224528" y="950976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95959"/>
                </a:solidFill>
              </a:rPr>
              <a:t>그룹사 제공 서비스</a:t>
            </a:r>
            <a:endParaRPr lang="en-US" sz="750" dirty="0"/>
          </a:p>
        </p:txBody>
      </p:sp>
      <p:sp>
        <p:nvSpPr>
          <p:cNvPr id="45" name="서비스 1"/>
          <p:cNvSpPr txBox="1"/>
          <p:nvPr/>
        </p:nvSpPr>
        <p:spPr>
          <a:xfrm>
            <a:off x="4224528" y="1188720"/>
            <a:ext cx="1536192" cy="256032"/>
          </a:xfrm>
          <a:prstGeom prst="homePlate">
            <a:avLst/>
          </a:prstGeom>
          <a:solidFill>
            <a:srgbClr val="FFFFFF"/>
          </a:solidFill>
          <a:ln w="15875">
            <a:solidFill>
              <a:srgbClr val="2E5C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5C8A"/>
                </a:solidFill>
              </a:rPr>
              <a:t>AX 진단 · 과제 발굴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4261104" y="1453896"/>
            <a:ext cx="1517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62626"/>
                </a:solidFill>
              </a:rPr>
              <a:t>· AI과제 진단 · AX CAMP</a:t>
            </a:r>
            <a:endParaRPr lang="en-US" sz="650" dirty="0"/>
          </a:p>
        </p:txBody>
      </p:sp>
      <p:sp>
        <p:nvSpPr>
          <p:cNvPr id="47" name="연결 1"/>
          <p:cNvSpPr/>
          <p:nvPr/>
        </p:nvSpPr>
        <p:spPr>
          <a:xfrm flipV="1">
            <a:off x="3986784" y="1316736"/>
            <a:ext cx="219456" cy="466344"/>
          </a:xfrm>
          <a:prstGeom prst="line">
            <a:avLst/>
          </a:prstGeom>
          <a:noFill/>
          <a:ln w="15875">
            <a:solidFill>
              <a:srgbClr val="2E5C8A"/>
            </a:solidFill>
            <a:prstDash val="solid"/>
            <a:tailEnd type="triangle"/>
          </a:ln>
        </p:spPr>
      </p:sp>
      <p:sp>
        <p:nvSpPr>
          <p:cNvPr id="48" name="서비스 2"/>
          <p:cNvSpPr txBox="1"/>
          <p:nvPr/>
        </p:nvSpPr>
        <p:spPr>
          <a:xfrm>
            <a:off x="4224528" y="1673352"/>
            <a:ext cx="1536192" cy="256032"/>
          </a:xfrm>
          <a:prstGeom prst="homePlate">
            <a:avLst/>
          </a:prstGeom>
          <a:solidFill>
            <a:srgbClr val="FFFFFF"/>
          </a:solidFill>
          <a:ln w="15875">
            <a:solidFill>
              <a:srgbClr val="2E5C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5C8A"/>
                </a:solidFill>
              </a:rPr>
              <a:t>MVP 구축 · 검증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4261104" y="1938528"/>
            <a:ext cx="1517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62626"/>
                </a:solidFill>
              </a:rPr>
              <a:t>· 기간계 적용 + 6~8주 MVP</a:t>
            </a:r>
            <a:endParaRPr lang="en-US" sz="650" dirty="0"/>
          </a:p>
        </p:txBody>
      </p:sp>
      <p:sp>
        <p:nvSpPr>
          <p:cNvPr id="50" name="연결 2"/>
          <p:cNvSpPr/>
          <p:nvPr/>
        </p:nvSpPr>
        <p:spPr>
          <a:xfrm>
            <a:off x="3986784" y="1783080"/>
            <a:ext cx="219456" cy="18288"/>
          </a:xfrm>
          <a:prstGeom prst="line">
            <a:avLst/>
          </a:prstGeom>
          <a:noFill/>
          <a:ln w="15875">
            <a:solidFill>
              <a:srgbClr val="2E5C8A"/>
            </a:solidFill>
            <a:prstDash val="solid"/>
            <a:tailEnd type="triangle"/>
          </a:ln>
        </p:spPr>
      </p:sp>
      <p:sp>
        <p:nvSpPr>
          <p:cNvPr id="51" name="서비스 3"/>
          <p:cNvSpPr txBox="1"/>
          <p:nvPr/>
        </p:nvSpPr>
        <p:spPr>
          <a:xfrm>
            <a:off x="4224528" y="2157984"/>
            <a:ext cx="1536192" cy="256032"/>
          </a:xfrm>
          <a:prstGeom prst="homePlate">
            <a:avLst/>
          </a:prstGeom>
          <a:solidFill>
            <a:srgbClr val="FFFFFF"/>
          </a:solidFill>
          <a:ln w="15875">
            <a:solidFill>
              <a:srgbClr val="2E5C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5C8A"/>
                </a:solidFill>
              </a:rPr>
              <a:t>구축 · 운영 이관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4261104" y="2423160"/>
            <a:ext cx="1517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62626"/>
                </a:solidFill>
              </a:rPr>
              <a:t>· 구축사업화 · 그룹사 확산</a:t>
            </a:r>
            <a:endParaRPr lang="en-US" sz="650" dirty="0"/>
          </a:p>
        </p:txBody>
      </p:sp>
      <p:sp>
        <p:nvSpPr>
          <p:cNvPr id="53" name="연결 3"/>
          <p:cNvSpPr/>
          <p:nvPr/>
        </p:nvSpPr>
        <p:spPr>
          <a:xfrm>
            <a:off x="3986784" y="1783080"/>
            <a:ext cx="219456" cy="502920"/>
          </a:xfrm>
          <a:prstGeom prst="line">
            <a:avLst/>
          </a:prstGeom>
          <a:noFill/>
          <a:ln w="15875">
            <a:solidFill>
              <a:srgbClr val="2E5C8A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AX Consulting">
  <a:themeElements>
    <a:clrScheme name="AX Consulting">
      <a:dk1>
        <a:srgbClr val="1F2329"/>
      </a:dk1>
      <a:lt1>
        <a:srgbClr val="FFFFFF"/>
      </a:lt1>
      <a:dk2>
        <a:srgbClr val="2F3E55"/>
      </a:dk2>
      <a:lt2>
        <a:srgbClr val="F2F4F7"/>
      </a:lt2>
      <a:accent1>
        <a:srgbClr val="2E5C8A"/>
      </a:accent1>
      <a:accent2>
        <a:srgbClr val="4A79A8"/>
      </a:accent2>
      <a:accent3>
        <a:srgbClr val="A6A6A6"/>
      </a:accent3>
      <a:accent4>
        <a:srgbClr val="D9D9D9"/>
      </a:accent4>
      <a:accent5>
        <a:srgbClr val="595959"/>
      </a:accent5>
      <a:accent6>
        <a:srgbClr val="404040"/>
      </a:accent6>
      <a:hlink>
        <a:srgbClr val="2E5C8A"/>
      </a:hlink>
      <a:folHlink>
        <a:srgbClr val="595959"/>
      </a:folHlink>
    </a:clrScheme>
    <a:fontScheme name="AX Consulting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2026-10-28T01:01:25Z</dcterms:created>
  <dcterms:modified xsi:type="dcterms:W3CDTF">2026-10-28T01:01:25Z</dcterms:modified>
</cp:coreProperties>
</file>