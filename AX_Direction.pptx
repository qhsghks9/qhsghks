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5214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AX 추진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161288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롯데월드는 AI가 업무 일부를 보조하는 현 수준에서, Agent가 업무 흐름 전반을 수행하고 사람이 감독하는 수준으로 Human–AI 협업을 고도화하고, 이에 맞춘 업무·운영 모델 혁신을 추진해야 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81328"/>
            <a:ext cx="116128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역할의 점진적 확대 과정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" y="1810512"/>
            <a:ext cx="11612880" cy="0"/>
          </a:xfrm>
          <a:prstGeom prst="line">
            <a:avLst/>
          </a:prstGeom>
          <a:ln w="1905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74320" y="2240280"/>
            <a:ext cx="155448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AI 역할</a:t>
            </a:r>
          </a:p>
          <a:p>
            <a:pPr algn="ctr"/>
            <a:r>
              <a:rPr sz="14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035808"/>
            <a:ext cx="804672" cy="987552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의사결정</a:t>
            </a:r>
          </a:p>
          <a:p>
            <a:pPr algn="ctr"/>
            <a:r>
              <a:rPr sz="11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및 보고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5568" y="3035808"/>
            <a:ext cx="713232" cy="98755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관리·</a:t>
            </a:r>
          </a:p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감독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96512"/>
            <a:ext cx="804672" cy="105156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프로세스</a:t>
            </a:r>
          </a:p>
          <a:p>
            <a:pPr algn="ctr"/>
            <a:r>
              <a:rPr sz="11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(loop)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5568" y="4096512"/>
            <a:ext cx="713232" cy="10515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221224"/>
            <a:ext cx="804672" cy="100584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단위</a:t>
            </a:r>
          </a:p>
          <a:p>
            <a:pPr algn="ctr"/>
            <a:r>
              <a:rPr sz="11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Activity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5568" y="5221224"/>
            <a:ext cx="713232" cy="10058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74519" y="4041648"/>
            <a:ext cx="10012681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74519" y="5166360"/>
            <a:ext cx="10012681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212080" y="1883664"/>
            <a:ext cx="3310128" cy="4846320"/>
          </a:xfrm>
          <a:prstGeom prst="rect">
            <a:avLst/>
          </a:prstGeom>
          <a:noFill/>
          <a:ln w="381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1901952"/>
            <a:ext cx="31546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 수준</a:t>
            </a:r>
          </a:p>
        </p:txBody>
      </p:sp>
      <p:sp>
        <p:nvSpPr>
          <p:cNvPr id="17" name="Pentagon 16"/>
          <p:cNvSpPr/>
          <p:nvPr/>
        </p:nvSpPr>
        <p:spPr>
          <a:xfrm>
            <a:off x="1920240" y="2212848"/>
            <a:ext cx="3154680" cy="749808"/>
          </a:xfrm>
          <a:prstGeom prst="homePlate">
            <a:avLst>
              <a:gd name="adj" fmla="val 18000"/>
            </a:avLst>
          </a:prstGeom>
          <a:solidFill>
            <a:srgbClr val="FFF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Human-in-the-loop</a:t>
            </a:r>
          </a:p>
          <a:p>
            <a:pPr algn="ctr"/>
            <a:r>
              <a:rPr sz="10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Junior AI(Assistant)로서</a:t>
            </a:r>
          </a:p>
          <a:p>
            <a:pPr algn="ctr"/>
            <a:r>
              <a:rPr sz="10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개별 업무(Activity)의 일부를 보조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1901952"/>
            <a:ext cx="31546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5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본 프로젝트를 통한 AX 목표</a:t>
            </a:r>
          </a:p>
        </p:txBody>
      </p:sp>
      <p:sp>
        <p:nvSpPr>
          <p:cNvPr id="19" name="Pentagon 18"/>
          <p:cNvSpPr/>
          <p:nvPr/>
        </p:nvSpPr>
        <p:spPr>
          <a:xfrm>
            <a:off x="5285232" y="2212848"/>
            <a:ext cx="3154680" cy="749808"/>
          </a:xfrm>
          <a:prstGeom prst="homePlate">
            <a:avLst>
              <a:gd name="adj" fmla="val 18000"/>
            </a:avLst>
          </a:prstGeom>
          <a:solidFill>
            <a:srgbClr val="FFE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Human-on-the-loop</a:t>
            </a:r>
          </a:p>
          <a:p>
            <a:pPr algn="ctr"/>
            <a:r>
              <a:rPr sz="10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Senior AI(Agent)가 업무 흐름</a:t>
            </a:r>
          </a:p>
          <a:p>
            <a:pPr algn="ctr"/>
            <a:r>
              <a:rPr sz="10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전반을 수행하고 사람은 감독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1901952"/>
            <a:ext cx="31546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최종 고도화된 AX 지향점</a:t>
            </a:r>
          </a:p>
        </p:txBody>
      </p:sp>
      <p:sp>
        <p:nvSpPr>
          <p:cNvPr id="21" name="Pentagon 20"/>
          <p:cNvSpPr/>
          <p:nvPr/>
        </p:nvSpPr>
        <p:spPr>
          <a:xfrm>
            <a:off x="8650224" y="2212848"/>
            <a:ext cx="3154680" cy="749808"/>
          </a:xfrm>
          <a:prstGeom prst="homePlate">
            <a:avLst>
              <a:gd name="adj" fmla="val 18000"/>
            </a:avLst>
          </a:prstGeom>
          <a:solidFill>
            <a:srgbClr val="FFD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Human-out-of-the-loop</a:t>
            </a:r>
          </a:p>
          <a:p>
            <a:pPr algn="ctr"/>
            <a:r>
              <a:rPr sz="10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AI가 업무를 자율적으로 수행,</a:t>
            </a:r>
          </a:p>
          <a:p>
            <a:pPr algn="ctr"/>
            <a:r>
              <a:rPr sz="100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사람의 개입이 거의 없는 수준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80260" y="4133087"/>
            <a:ext cx="2834640" cy="2066543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85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45252" y="4133087"/>
            <a:ext cx="2834640" cy="2066543"/>
          </a:xfrm>
          <a:prstGeom prst="roundRect">
            <a:avLst>
              <a:gd name="adj" fmla="val 22000"/>
            </a:avLst>
          </a:prstGeom>
          <a:solidFill>
            <a:srgbClr val="FFF6D6"/>
          </a:solidFill>
          <a:ln w="285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10244" y="4133087"/>
            <a:ext cx="2834640" cy="2066543"/>
          </a:xfrm>
          <a:prstGeom prst="roundRect">
            <a:avLst>
              <a:gd name="adj" fmla="val 22000"/>
            </a:avLst>
          </a:prstGeom>
          <a:solidFill>
            <a:srgbClr val="FFF6D6"/>
          </a:solidFill>
          <a:ln w="285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241548" y="3145536"/>
            <a:ext cx="512064" cy="512064"/>
          </a:xfrm>
          <a:prstGeom prst="ellipse">
            <a:avLst/>
          </a:prstGeom>
          <a:solidFill>
            <a:srgbClr val="F2F2F2"/>
          </a:solidFill>
          <a:ln w="254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x_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960" y="3247948"/>
            <a:ext cx="307238" cy="30723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57500" y="3666744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Human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497580" y="3904487"/>
            <a:ext cx="0" cy="320041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241548" y="4242816"/>
            <a:ext cx="512064" cy="512064"/>
          </a:xfrm>
          <a:prstGeom prst="ellipse">
            <a:avLst/>
          </a:prstGeom>
          <a:solidFill>
            <a:srgbClr val="F2F2F2"/>
          </a:solidFill>
          <a:ln w="254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x_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960" y="4345228"/>
            <a:ext cx="307238" cy="30723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857500" y="4764024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Human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497580" y="5010912"/>
            <a:ext cx="0" cy="155448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570732" y="4846320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의사결정/개입</a:t>
            </a:r>
          </a:p>
        </p:txBody>
      </p:sp>
      <p:sp>
        <p:nvSpPr>
          <p:cNvPr id="34" name="Oval 33"/>
          <p:cNvSpPr/>
          <p:nvPr/>
        </p:nvSpPr>
        <p:spPr>
          <a:xfrm>
            <a:off x="6606540" y="3145536"/>
            <a:ext cx="512064" cy="512064"/>
          </a:xfrm>
          <a:prstGeom prst="ellipse">
            <a:avLst/>
          </a:prstGeom>
          <a:solidFill>
            <a:srgbClr val="F2F2F2"/>
          </a:solidFill>
          <a:ln w="254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x_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952" y="3247948"/>
            <a:ext cx="307238" cy="30723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22492" y="3666744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Human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0044" y="3182112"/>
            <a:ext cx="11887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업무 단위 의사결정,</a:t>
            </a:r>
          </a:p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업무 조율·감독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62572" y="3904487"/>
            <a:ext cx="0" cy="320041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606540" y="4242816"/>
            <a:ext cx="512064" cy="512064"/>
          </a:xfrm>
          <a:prstGeom prst="ellipse">
            <a:avLst/>
          </a:prstGeom>
          <a:solidFill>
            <a:srgbClr val="FFE600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ax_s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952" y="4345228"/>
            <a:ext cx="307238" cy="30723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222492" y="4764024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Senior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10044" y="4297680"/>
            <a:ext cx="100584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 관리자</a:t>
            </a:r>
          </a:p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역할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62572" y="5010912"/>
            <a:ext cx="0" cy="155448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9651492" y="3145536"/>
            <a:ext cx="512064" cy="512064"/>
          </a:xfrm>
          <a:prstGeom prst="ellipse">
            <a:avLst/>
          </a:prstGeom>
          <a:solidFill>
            <a:srgbClr val="FFE600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ax_s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904" y="3247948"/>
            <a:ext cx="307238" cy="30723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267444" y="3666744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Senior AI</a:t>
            </a:r>
          </a:p>
        </p:txBody>
      </p:sp>
      <p:sp>
        <p:nvSpPr>
          <p:cNvPr id="47" name="Oval 46"/>
          <p:cNvSpPr/>
          <p:nvPr/>
        </p:nvSpPr>
        <p:spPr>
          <a:xfrm>
            <a:off x="10931652" y="3145536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ax_hum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4064" y="3247948"/>
            <a:ext cx="307238" cy="30723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547604" y="3666744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 u="none">
                <a:solidFill>
                  <a:srgbClr val="A6A6A6"/>
                </a:solidFill>
                <a:latin typeface="맑은 고딕"/>
                <a:ea typeface="맑은 고딕"/>
                <a:cs typeface="맑은 고딕"/>
              </a:rPr>
              <a:t>human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181844" y="3401568"/>
            <a:ext cx="731520" cy="0"/>
          </a:xfrm>
          <a:prstGeom prst="line">
            <a:avLst/>
          </a:prstGeom>
          <a:ln w="12700">
            <a:solidFill>
              <a:srgbClr val="A6A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227564" y="3127248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일부 상호작용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907524" y="3904487"/>
            <a:ext cx="0" cy="320041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9651492" y="4242816"/>
            <a:ext cx="512064" cy="512064"/>
          </a:xfrm>
          <a:prstGeom prst="ellipse">
            <a:avLst/>
          </a:prstGeom>
          <a:solidFill>
            <a:srgbClr val="FFE600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ax_s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904" y="4345228"/>
            <a:ext cx="307238" cy="30723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267444" y="4764024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Senior AI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39044" y="4315968"/>
            <a:ext cx="96012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결과 확인·조율</a:t>
            </a:r>
          </a:p>
          <a:p>
            <a:pPr algn="l"/>
            <a:r>
              <a:rPr sz="95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개입 최소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907524" y="5010912"/>
            <a:ext cx="0" cy="155448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497580" y="5166360"/>
            <a:ext cx="0" cy="9144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811780" y="5257800"/>
            <a:ext cx="1371600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811780" y="5257800"/>
            <a:ext cx="0" cy="155448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183380" y="5257800"/>
            <a:ext cx="0" cy="155448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2555748" y="5413248"/>
            <a:ext cx="512064" cy="512064"/>
          </a:xfrm>
          <a:prstGeom prst="ellipse">
            <a:avLst/>
          </a:prstGeom>
          <a:solidFill>
            <a:srgbClr val="F2F2F2"/>
          </a:solidFill>
          <a:ln w="254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ax_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160" y="5515660"/>
            <a:ext cx="307238" cy="30723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171700" y="5934456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Human</a:t>
            </a:r>
          </a:p>
        </p:txBody>
      </p:sp>
      <p:sp>
        <p:nvSpPr>
          <p:cNvPr id="65" name="Oval 64"/>
          <p:cNvSpPr/>
          <p:nvPr/>
        </p:nvSpPr>
        <p:spPr>
          <a:xfrm>
            <a:off x="3927348" y="5413248"/>
            <a:ext cx="512064" cy="512064"/>
          </a:xfrm>
          <a:prstGeom prst="ellipse">
            <a:avLst/>
          </a:prstGeom>
          <a:solidFill>
            <a:srgbClr val="FFE600"/>
          </a:solidFill>
          <a:ln w="254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ax_j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9760" y="5515660"/>
            <a:ext cx="307238" cy="30723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543300" y="5934456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Junior AI</a:t>
            </a:r>
          </a:p>
        </p:txBody>
      </p:sp>
      <p:sp>
        <p:nvSpPr>
          <p:cNvPr id="68" name="Oval 67"/>
          <p:cNvSpPr/>
          <p:nvPr/>
        </p:nvSpPr>
        <p:spPr>
          <a:xfrm>
            <a:off x="3378708" y="5550408"/>
            <a:ext cx="237744" cy="237744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77540" y="5806440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협업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862572" y="5166360"/>
            <a:ext cx="0" cy="9144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176772" y="5257800"/>
            <a:ext cx="1371600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176772" y="5257800"/>
            <a:ext cx="0" cy="155448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548372" y="5257800"/>
            <a:ext cx="0" cy="155448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920740" y="5413248"/>
            <a:ext cx="512064" cy="512064"/>
          </a:xfrm>
          <a:prstGeom prst="ellipse">
            <a:avLst/>
          </a:prstGeom>
          <a:solidFill>
            <a:srgbClr val="F2F2F2"/>
          </a:solidFill>
          <a:ln w="254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ax_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152" y="5515660"/>
            <a:ext cx="307238" cy="30723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5536692" y="5934456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Human</a:t>
            </a:r>
          </a:p>
        </p:txBody>
      </p:sp>
      <p:sp>
        <p:nvSpPr>
          <p:cNvPr id="77" name="Oval 76"/>
          <p:cNvSpPr/>
          <p:nvPr/>
        </p:nvSpPr>
        <p:spPr>
          <a:xfrm>
            <a:off x="7292340" y="5413248"/>
            <a:ext cx="512064" cy="512064"/>
          </a:xfrm>
          <a:prstGeom prst="ellipse">
            <a:avLst/>
          </a:prstGeom>
          <a:solidFill>
            <a:srgbClr val="FFE600"/>
          </a:solidFill>
          <a:ln w="254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ax_j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752" y="5515660"/>
            <a:ext cx="307238" cy="30723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908292" y="5934456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Junior AI</a:t>
            </a:r>
          </a:p>
        </p:txBody>
      </p:sp>
      <p:sp>
        <p:nvSpPr>
          <p:cNvPr id="80" name="Oval 79"/>
          <p:cNvSpPr/>
          <p:nvPr/>
        </p:nvSpPr>
        <p:spPr>
          <a:xfrm>
            <a:off x="6743700" y="5550408"/>
            <a:ext cx="237744" cy="237744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42532" y="5806440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협업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9907524" y="5166360"/>
            <a:ext cx="0" cy="9144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541764" y="5257800"/>
            <a:ext cx="1371600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541764" y="5257800"/>
            <a:ext cx="0" cy="155448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13364" y="5257800"/>
            <a:ext cx="0" cy="155448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9285732" y="5413248"/>
            <a:ext cx="512064" cy="512064"/>
          </a:xfrm>
          <a:prstGeom prst="ellipse">
            <a:avLst/>
          </a:prstGeom>
          <a:solidFill>
            <a:srgbClr val="F2F2F2"/>
          </a:solidFill>
          <a:ln w="254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x_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8144" y="5515660"/>
            <a:ext cx="307238" cy="307238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8901684" y="5934456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Human</a:t>
            </a:r>
          </a:p>
        </p:txBody>
      </p:sp>
      <p:sp>
        <p:nvSpPr>
          <p:cNvPr id="89" name="Oval 88"/>
          <p:cNvSpPr/>
          <p:nvPr/>
        </p:nvSpPr>
        <p:spPr>
          <a:xfrm>
            <a:off x="10657332" y="5413248"/>
            <a:ext cx="512064" cy="512064"/>
          </a:xfrm>
          <a:prstGeom prst="ellipse">
            <a:avLst/>
          </a:prstGeom>
          <a:solidFill>
            <a:srgbClr val="FFE600"/>
          </a:solidFill>
          <a:ln w="254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ax_j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9744" y="5515660"/>
            <a:ext cx="307238" cy="30723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10273284" y="5934456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Junior AI</a:t>
            </a:r>
          </a:p>
        </p:txBody>
      </p:sp>
      <p:sp>
        <p:nvSpPr>
          <p:cNvPr id="92" name="Oval 91"/>
          <p:cNvSpPr/>
          <p:nvPr/>
        </p:nvSpPr>
        <p:spPr>
          <a:xfrm>
            <a:off x="10108692" y="5550408"/>
            <a:ext cx="237744" cy="237744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07524" y="5806440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협업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72684" y="534924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일부 업무</a:t>
            </a:r>
          </a:p>
          <a:p>
            <a:pPr algn="l"/>
            <a:r>
              <a:rPr sz="9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참여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20240" y="6272784"/>
            <a:ext cx="3154680" cy="4023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예) 담당자가 AI로 VOC 답변 초안을 작성한 뒤 직접 처리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285232" y="6272784"/>
            <a:ext cx="3154680" cy="402336"/>
          </a:xfrm>
          <a:prstGeom prst="rect">
            <a:avLst/>
          </a:prstGeom>
          <a:solidFill>
            <a:srgbClr val="FFF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예) Agent가 VOC 분류→답변→부서 이관까지 수행, 담당자는 승인·예외 처리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50224" y="6272784"/>
            <a:ext cx="3154680" cy="4023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예) AI가 고객 문의를 자율 응대·처리하고, 사람은 결과를 모니터링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" y="6272784"/>
            <a:ext cx="155448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롯데월드 적용 예시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