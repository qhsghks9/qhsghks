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전환 성공 조건" id="{38009edd-9159-8b6e-bb4e-4c4a01976e9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[수행방안 간소화] 기존 2줄 설명을 '한 줄 제목 + 한 줄 핵심'으로 축약. 고객 현장 밀착: 기술·업무 조직에 FDE 직접 배치, 실제 데이터·시스템 기반 개발 / 전략·엔지니어링 통합: 경영진 AI 전략을 시스템·업무 프로세스로 즉시 구현 / 융합형 One Pod: 산업 지식·프로세스 혁신 역량과 IT·AI/Data 융합 / 성과 책임·자산화: 업무성과 중심 KPI 검증, 코드·Agent 자산화를 통한 확산.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AI 도입의 병목은 기술이 아닌 '현장 실행력' - 문제정의부터 성과까지 책임지는 현장 중심의 운영모델이 AX 성공의 핵심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24128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전환 성공 조건 : FDE</a:t>
            </a:r>
            <a:pPr algn="ctr" indent="0" marL="0">
              <a:buNone/>
            </a:pPr>
            <a:r>
              <a:rPr lang="en-US" sz="1600" b="1" baseline="30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</a:t>
            </a:r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도입 배경 및 수행방안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61722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024128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: FDE 적용 운영 모델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0" y="1389888"/>
            <a:ext cx="505663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99616"/>
            <a:ext cx="548640" cy="13716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499616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</a:t>
            </a:r>
            <a:endParaRPr lang="en-US" sz="1500" dirty="0"/>
          </a:p>
        </p:txBody>
      </p:sp>
      <p:sp>
        <p:nvSpPr>
          <p:cNvPr id="9" name="bg-1"/>
          <p:cNvSpPr/>
          <p:nvPr/>
        </p:nvSpPr>
        <p:spPr>
          <a:xfrm>
            <a:off x="987552" y="1499616"/>
            <a:ext cx="2738628" cy="6492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1499616"/>
            <a:ext cx="27386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이후 확산 실패</a:t>
            </a:r>
            <a:endParaRPr lang="en-US" sz="1600" dirty="0"/>
          </a:p>
        </p:txBody>
      </p:sp>
      <p:sp>
        <p:nvSpPr>
          <p:cNvPr id="11" name="bg-2"/>
          <p:cNvSpPr/>
          <p:nvPr/>
        </p:nvSpPr>
        <p:spPr>
          <a:xfrm>
            <a:off x="3799332" y="1499616"/>
            <a:ext cx="2738628" cy="6492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9332" y="1499616"/>
            <a:ext cx="27386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전략–실행 간 단절</a:t>
            </a:r>
            <a:endParaRPr lang="en-US" sz="1600" dirty="0"/>
          </a:p>
        </p:txBody>
      </p:sp>
      <p:sp>
        <p:nvSpPr>
          <p:cNvPr id="13" name="bg-3"/>
          <p:cNvSpPr/>
          <p:nvPr/>
        </p:nvSpPr>
        <p:spPr>
          <a:xfrm>
            <a:off x="987552" y="2221992"/>
            <a:ext cx="2738628" cy="6492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2221992"/>
            <a:ext cx="27386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극단적 인력 운영</a:t>
            </a:r>
            <a:endParaRPr lang="en-US" sz="1600" dirty="0"/>
          </a:p>
        </p:txBody>
      </p:sp>
      <p:sp>
        <p:nvSpPr>
          <p:cNvPr id="15" name="bg-4"/>
          <p:cNvSpPr/>
          <p:nvPr/>
        </p:nvSpPr>
        <p:spPr>
          <a:xfrm>
            <a:off x="3799332" y="2221992"/>
            <a:ext cx="2738628" cy="6492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9332" y="2221992"/>
            <a:ext cx="27386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비용 지속 지출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2926080"/>
            <a:ext cx="4526280" cy="566928"/>
          </a:xfrm>
          <a:prstGeom prst="flowChartMerg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296265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중심의 FDE 모델 운영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548640" cy="245973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547872"/>
            <a:ext cx="54864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</a:t>
            </a:r>
            <a:endParaRPr lang="en-US" sz="1500" dirty="0"/>
          </a:p>
        </p:txBody>
      </p:sp>
      <p:sp>
        <p:nvSpPr>
          <p:cNvPr id="21" name="ex-title-1"/>
          <p:cNvSpPr/>
          <p:nvPr/>
        </p:nvSpPr>
        <p:spPr>
          <a:xfrm>
            <a:off x="987552" y="3547872"/>
            <a:ext cx="2148840" cy="566928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3547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현장 밀착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191256" y="3547872"/>
            <a:ext cx="33467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55848" y="3547872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상주</a:t>
            </a:r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실데이터 기반 개발</a:t>
            </a:r>
            <a:endParaRPr lang="en-US" sz="1350" dirty="0"/>
          </a:p>
        </p:txBody>
      </p:sp>
      <p:sp>
        <p:nvSpPr>
          <p:cNvPr id="25" name="ex-title-2"/>
          <p:cNvSpPr/>
          <p:nvPr/>
        </p:nvSpPr>
        <p:spPr>
          <a:xfrm>
            <a:off x="987552" y="4178808"/>
            <a:ext cx="2148840" cy="566928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" y="41788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전략·엔지니어링 통합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3191256" y="4178808"/>
            <a:ext cx="33467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55848" y="41788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전략 → 시스템·프로세스</a:t>
            </a:r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구현</a:t>
            </a:r>
            <a:endParaRPr lang="en-US" sz="1350" dirty="0"/>
          </a:p>
        </p:txBody>
      </p:sp>
      <p:sp>
        <p:nvSpPr>
          <p:cNvPr id="29" name="ex-title-3"/>
          <p:cNvSpPr/>
          <p:nvPr/>
        </p:nvSpPr>
        <p:spPr>
          <a:xfrm>
            <a:off x="987552" y="4809744"/>
            <a:ext cx="2148840" cy="566928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48097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융합형 One Pod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191256" y="4809744"/>
            <a:ext cx="33467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55848" y="480974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업무·산업 지식 × IT·AI/Data</a:t>
            </a:r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결합</a:t>
            </a:r>
            <a:endParaRPr lang="en-US" sz="1350" dirty="0"/>
          </a:p>
        </p:txBody>
      </p:sp>
      <p:sp>
        <p:nvSpPr>
          <p:cNvPr id="33" name="ex-title-4"/>
          <p:cNvSpPr/>
          <p:nvPr/>
        </p:nvSpPr>
        <p:spPr>
          <a:xfrm>
            <a:off x="987552" y="5440680"/>
            <a:ext cx="2148840" cy="566928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" y="5440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책임 · 자산화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191256" y="5440680"/>
            <a:ext cx="33467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55848" y="54406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성과 검증</a:t>
            </a:r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코드/Agent 자산 확산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1499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1499616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" 플랫폼 파트너 연계형 FDE "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766560" y="1956816"/>
            <a:ext cx="3474720" cy="80695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2048256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2048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플랫폼사 공동 FDE 프로그램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76288" y="2377440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76288" y="2377440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08392" y="2377440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08392" y="2377440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ServiceNow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40496" y="2377440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0496" y="2377440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372600" y="2377440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72600" y="2377440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Workday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66560" y="2855214"/>
            <a:ext cx="3474720" cy="80695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2946654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0" y="294665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292836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엑센츄어 역할 : 산업 · 실행 전담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876288" y="3275838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76288" y="3275838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708392" y="3275838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08392" y="3275838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변화관리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540496" y="3275838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540496" y="3275838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워크플로우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372600" y="3275838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372600" y="3275838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533888" y="1956816"/>
            <a:ext cx="1289304" cy="1705356"/>
          </a:xfrm>
          <a:prstGeom prst="rect">
            <a:avLst/>
          </a:prstGeom>
          <a:solidFill>
            <a:srgbClr val="DAE3F3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607040" y="2029968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607040" y="2029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922508" y="2242566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pic>
        <p:nvPicPr>
          <p:cNvPr id="67" name="Image 0" descr="/tmp/claude-0/-home-user-qhsghks/bd147a9d-e025-5cd1-aa7e-d391ccb85bb6/scratchpad/ico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0" y="2361438"/>
            <a:ext cx="274320" cy="274320"/>
          </a:xfrm>
          <a:prstGeom prst="rect">
            <a:avLst/>
          </a:prstGeom>
        </p:spPr>
      </p:pic>
      <p:sp>
        <p:nvSpPr>
          <p:cNvPr id="68" name="Text 65"/>
          <p:cNvSpPr txBox="1"/>
          <p:nvPr/>
        </p:nvSpPr>
        <p:spPr>
          <a:xfrm>
            <a:off x="10533888" y="280949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FDE팀</a:t>
            </a:r>
            <a:endParaRPr lang="en-US" sz="1250" dirty="0"/>
          </a:p>
        </p:txBody>
      </p:sp>
      <p:sp>
        <p:nvSpPr>
          <p:cNvPr id="69" name="Text 66"/>
          <p:cNvSpPr txBox="1"/>
          <p:nvPr/>
        </p:nvSpPr>
        <p:spPr>
          <a:xfrm>
            <a:off x="10533888" y="308381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플랫폼사 FDE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엑센츄어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FDE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 flipH="1" flipV="1">
            <a:off x="10268712" y="2360295"/>
            <a:ext cx="265176" cy="449199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71" name="Shape 68"/>
          <p:cNvSpPr/>
          <p:nvPr/>
        </p:nvSpPr>
        <p:spPr>
          <a:xfrm flipH="1">
            <a:off x="10268712" y="2809494"/>
            <a:ext cx="265176" cy="449199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72" name="Text 69"/>
          <p:cNvSpPr txBox="1"/>
          <p:nvPr/>
        </p:nvSpPr>
        <p:spPr>
          <a:xfrm>
            <a:off x="6766560" y="38450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SDS</a:t>
            </a:r>
            <a:endParaRPr lang="en-US" sz="1600" dirty="0"/>
          </a:p>
        </p:txBody>
      </p:sp>
      <p:sp>
        <p:nvSpPr>
          <p:cNvPr id="73" name="Text 70"/>
          <p:cNvSpPr txBox="1"/>
          <p:nvPr/>
        </p:nvSpPr>
        <p:spPr>
          <a:xfrm>
            <a:off x="8503920" y="384505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" IT 서비스 인력 전환형 FDE "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6766560" y="4302252"/>
            <a:ext cx="3474720" cy="80695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858000" y="4393692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858000" y="4393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7178040" y="43754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역할 확장 : 문제 정의부터 운영까지</a:t>
            </a:r>
            <a:endParaRPr lang="en-US" sz="1250" dirty="0"/>
          </a:p>
        </p:txBody>
      </p:sp>
      <p:sp>
        <p:nvSpPr>
          <p:cNvPr id="78" name="Shape 75"/>
          <p:cNvSpPr/>
          <p:nvPr/>
        </p:nvSpPr>
        <p:spPr>
          <a:xfrm>
            <a:off x="6876288" y="4722876"/>
            <a:ext cx="704088" cy="276606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876288" y="4722876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파악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7598664" y="4861179"/>
            <a:ext cx="109728" cy="914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1" name="Shape 78"/>
          <p:cNvSpPr/>
          <p:nvPr/>
        </p:nvSpPr>
        <p:spPr>
          <a:xfrm>
            <a:off x="7726680" y="4722876"/>
            <a:ext cx="704088" cy="276606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7726680" y="4722876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449056" y="4861179"/>
            <a:ext cx="109728" cy="914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8577072" y="4722876"/>
            <a:ext cx="704088" cy="276606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577072" y="4722876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9299448" y="4861179"/>
            <a:ext cx="109728" cy="914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9427464" y="4722876"/>
            <a:ext cx="704088" cy="276606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427464" y="4722876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6766560" y="5200650"/>
            <a:ext cx="3474720" cy="80695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858000" y="5292090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858000" y="52920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7178040" y="527380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선 검증 + 글로벌 AI 협력</a:t>
            </a:r>
            <a:endParaRPr lang="en-US" sz="1250" dirty="0"/>
          </a:p>
        </p:txBody>
      </p:sp>
      <p:sp>
        <p:nvSpPr>
          <p:cNvPr id="93" name="Shape 90"/>
          <p:cNvSpPr/>
          <p:nvPr/>
        </p:nvSpPr>
        <p:spPr>
          <a:xfrm>
            <a:off x="6876288" y="5621274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876288" y="5621274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ClientZero²⁾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7708392" y="5621274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7708392" y="5621274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AI</a:t>
            </a:r>
            <a:endParaRPr lang="en-US" sz="1050" dirty="0"/>
          </a:p>
        </p:txBody>
      </p:sp>
      <p:sp>
        <p:nvSpPr>
          <p:cNvPr id="97" name="Shape 94"/>
          <p:cNvSpPr/>
          <p:nvPr/>
        </p:nvSpPr>
        <p:spPr>
          <a:xfrm>
            <a:off x="8540496" y="5621274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540496" y="5621274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99" name="Shape 96"/>
          <p:cNvSpPr/>
          <p:nvPr/>
        </p:nvSpPr>
        <p:spPr>
          <a:xfrm>
            <a:off x="9372600" y="5621274"/>
            <a:ext cx="758952" cy="27660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372600" y="5621274"/>
            <a:ext cx="75895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Accenture</a:t>
            </a:r>
            <a:endParaRPr lang="en-US" sz="1050" dirty="0"/>
          </a:p>
        </p:txBody>
      </p:sp>
      <p:sp>
        <p:nvSpPr>
          <p:cNvPr id="101" name="Shape 98"/>
          <p:cNvSpPr/>
          <p:nvPr/>
        </p:nvSpPr>
        <p:spPr>
          <a:xfrm>
            <a:off x="10533888" y="4302252"/>
            <a:ext cx="1289304" cy="1705356"/>
          </a:xfrm>
          <a:prstGeom prst="rect">
            <a:avLst/>
          </a:prstGeom>
          <a:solidFill>
            <a:srgbClr val="DAE3F3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0607040" y="4375404"/>
            <a:ext cx="23774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0607040" y="43754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04" name="Shape 101"/>
          <p:cNvSpPr/>
          <p:nvPr/>
        </p:nvSpPr>
        <p:spPr>
          <a:xfrm>
            <a:off x="10922508" y="4588002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pic>
        <p:nvPicPr>
          <p:cNvPr id="105" name="Image 1" descr="/tmp/claude-0/-home-user-qhsghks/bd147a9d-e025-5cd1-aa7e-d391ccb85bb6/scratchpad/icon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380" y="4706874"/>
            <a:ext cx="274320" cy="274320"/>
          </a:xfrm>
          <a:prstGeom prst="rect">
            <a:avLst/>
          </a:prstGeom>
        </p:spPr>
      </p:pic>
      <p:sp>
        <p:nvSpPr>
          <p:cNvPr id="106" name="Text 102"/>
          <p:cNvSpPr txBox="1"/>
          <p:nvPr/>
        </p:nvSpPr>
        <p:spPr>
          <a:xfrm>
            <a:off x="10533888" y="5154930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인력</a:t>
            </a:r>
            <a:endParaRPr lang="en-US" sz="1250" dirty="0"/>
          </a:p>
        </p:txBody>
      </p:sp>
      <p:sp>
        <p:nvSpPr>
          <p:cNvPr id="107" name="Text 103"/>
          <p:cNvSpPr txBox="1"/>
          <p:nvPr/>
        </p:nvSpPr>
        <p:spPr>
          <a:xfrm>
            <a:off x="10533888" y="542925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IT서비스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전환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신규 채용</a:t>
            </a:r>
            <a:endParaRPr lang="en-US" sz="950" dirty="0"/>
          </a:p>
        </p:txBody>
      </p:sp>
      <p:sp>
        <p:nvSpPr>
          <p:cNvPr id="108" name="Shape 104"/>
          <p:cNvSpPr/>
          <p:nvPr/>
        </p:nvSpPr>
        <p:spPr>
          <a:xfrm flipH="1" flipV="1">
            <a:off x="10268712" y="4705731"/>
            <a:ext cx="265176" cy="449199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09" name="Shape 105"/>
          <p:cNvSpPr/>
          <p:nvPr/>
        </p:nvSpPr>
        <p:spPr>
          <a:xfrm flipH="1">
            <a:off x="10268712" y="5154930"/>
            <a:ext cx="265176" cy="449199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0" name="Text 106"/>
          <p:cNvSpPr txBox="1"/>
          <p:nvPr/>
        </p:nvSpPr>
        <p:spPr>
          <a:xfrm>
            <a:off x="365760" y="611733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FDE (Forward Deployed Engineering) : 고객 현장에 상주하며, 성과까지 책임지는 융합형 엔지니어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Client Zero : 삼성SDS 내부 핵심업무부터 AI 적용 및 테스트 검증 전략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A100FF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성공 조건 - FDE 운영 모델</dc:title>
  <dc:subject>PptxGenJS Presentation</dc:subject>
  <dc:creator>PptxGenJS</dc:creator>
  <cp:lastModifiedBy>PptxGenJS</cp:lastModifiedBy>
  <cp:revision>1</cp:revision>
  <dcterms:created xsi:type="dcterms:W3CDTF">2026-10-19T05:36:29Z</dcterms:created>
  <dcterms:modified xsi:type="dcterms:W3CDTF">2026-10-19T05:36:29Z</dcterms:modified>
</cp:coreProperties>
</file>