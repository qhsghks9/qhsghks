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AI컨설팅 그룹사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</c:v>
                </c:pt>
                <c:pt idx="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AI컨설팅 대외</c:v>
                </c:pt>
              </c:strCache>
            </c:strRef>
          </c:tx>
          <c:spPr>
            <a:solidFill>
              <a:srgbClr val="7FA1D6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교육·Camp 그룹사</c:v>
                </c:pt>
              </c:strCache>
            </c:strRef>
          </c:tx>
          <c:spPr>
            <a:solidFill>
              <a:srgbClr val="0F7B6C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교육·Camp 대외</c:v>
                </c:pt>
              </c:strCache>
            </c:strRef>
          </c:tx>
          <c:spPr>
            <a:solidFill>
              <a:srgbClr val="8CCFC3"/>
            </a:solidFill>
            <a:effectLst/>
          </c:spPr>
          <c:invertIfNegative val="0"/>
          <c:dLbls>
            <c:numFmt formatCode="0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2025년
과제 77건</c:v>
                  </c:pt>
                  <c:pt idx="1">
                    <c:v>2026년
과제 31건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1F232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26년 수주 (AI사업분)</c:v>
                </c:pt>
              </c:strCache>
            </c:strRef>
          </c:tx>
          <c:spPr>
            <a:solidFill>
              <a:srgbClr val="1F4E9A"/>
            </a:solidFill>
            <a:effectLst/>
          </c:spPr>
          <c:invertIfNegative val="0"/>
          <c:dLbls>
            <c:numFmt formatCode="0.0#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신분당선</c:v>
                  </c:pt>
                  <c:pt idx="1">
                    <c:v>공항철도</c:v>
                  </c:pt>
                  <c:pt idx="2">
                    <c:v>물산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27년 수주 인벤토리</c:v>
                </c:pt>
              </c:strCache>
            </c:strRef>
          </c:tx>
          <c:spPr>
            <a:solidFill>
              <a:srgbClr val="7FA1D6"/>
            </a:solidFill>
            <a:effectLst/>
          </c:spPr>
          <c:invertIfNegative val="0"/>
          <c:dLbls>
            <c:numFmt formatCode="0.0#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신분당선</c:v>
                  </c:pt>
                  <c:pt idx="1">
                    <c:v>공항철도</c:v>
                  </c:pt>
                  <c:pt idx="2">
                    <c:v>물산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5.71</c:v>
                </c:pt>
                <c:pt idx="2">
                  <c:v>2.89</c:v>
                </c:pt>
              </c:numCache>
            </c:numRef>
          </c:val>
        </c:ser>
        <c:dLbls>
          <c:numFmt formatCode="0.0#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32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F232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25~26 활동 성과(제안 10, 프로젝트 27, 과제 Pool 108)와 Lessons Learned를 근거로, 27년 FDE·AX CAMP·AX 플랫폼 3대 중점과제로 AX 실행 파트너 전환을 제안.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As-Is/To-Be 방향과 27~30 연도별 로드맵, 인력 운영, 핵심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_① AX 실행 파트너로의 전환</a:t>
            </a:r>
            <a:endParaRPr lang="en-US" sz="2600" dirty="0"/>
          </a:p>
        </p:txBody>
      </p:sp>
      <p:sp>
        <p:nvSpPr>
          <p:cNvPr id="3" name="panel 추진 개요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개요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개요</a:t>
            </a:r>
            <a:endParaRPr lang="en-US" sz="1600" dirty="0"/>
          </a:p>
        </p:txBody>
      </p:sp>
      <p:sp>
        <p:nvSpPr>
          <p:cNvPr id="5" name="panel 추진 전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전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전략</a:t>
            </a:r>
            <a:endParaRPr lang="en-US" sz="1600" dirty="0"/>
          </a:p>
        </p:txBody>
      </p:sp>
      <p:sp>
        <p:nvSpPr>
          <p:cNvPr id="7" name="bullet 25~26 주요 활동 현황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25~26 주요 활동 현황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건)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1956816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연도별 프로젝트 수행 및 과제 발굴</a:t>
            </a:r>
            <a:endParaRPr lang="en-US" sz="1000" dirty="0"/>
          </a:p>
        </p:txBody>
      </p:sp>
      <p:graphicFrame>
        <p:nvGraphicFramePr>
          <p:cNvPr id="11" name="연도별 활동 추이 차트" descr=""/>
          <p:cNvGraphicFramePr/>
          <p:nvPr/>
        </p:nvGraphicFramePr>
        <p:xfrm>
          <a:off x="502920" y="2176272"/>
          <a:ext cx="31546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3794760" y="195681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성과 전환 (AI컨설팅 기준)</a:t>
            </a:r>
            <a:endParaRPr lang="en-US" sz="1000" dirty="0"/>
          </a:p>
        </p:txBody>
      </p:sp>
      <p:sp>
        <p:nvSpPr>
          <p:cNvPr id="13" name="깔때기 AI컨설팅 수행"/>
          <p:cNvSpPr/>
          <p:nvPr/>
        </p:nvSpPr>
        <p:spPr>
          <a:xfrm>
            <a:off x="3794760" y="2240280"/>
            <a:ext cx="2057400" cy="36576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AI컨설팅 수행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21건</a:t>
            </a:r>
            <a:endParaRPr lang="en-US" sz="950" dirty="0"/>
          </a:p>
        </p:txBody>
      </p:sp>
      <p:sp>
        <p:nvSpPr>
          <p:cNvPr id="14" name="깔때기 후속 사업 연계"/>
          <p:cNvSpPr/>
          <p:nvPr/>
        </p:nvSpPr>
        <p:spPr>
          <a:xfrm>
            <a:off x="4000500" y="2752344"/>
            <a:ext cx="1645920" cy="36576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후속 사업 연계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6건 (29%)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794760" y="3118104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호텔·백화점·신분당선·KT&amp;G·공항철도·물산</a:t>
            </a:r>
            <a:endParaRPr lang="en-US" sz="750" dirty="0"/>
          </a:p>
        </p:txBody>
      </p:sp>
      <p:sp>
        <p:nvSpPr>
          <p:cNvPr id="16" name="깔때기 적용·수주 완료"/>
          <p:cNvSpPr/>
          <p:nvPr/>
        </p:nvSpPr>
        <p:spPr>
          <a:xfrm>
            <a:off x="4206240" y="3264408"/>
            <a:ext cx="1234440" cy="36576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적용·수주 완료</a:t>
            </a:r>
            <a:endParaRPr lang="en-US" sz="95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2건 (10%)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3794760" y="363016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chemeClr val="accent5"/>
                </a:solidFill>
              </a:rPr>
              <a:t>백화점 오픈, 신분당선 수주</a:t>
            </a:r>
            <a:endParaRPr lang="en-US" sz="750" dirty="0"/>
          </a:p>
        </p:txBody>
      </p:sp>
      <p:sp>
        <p:nvSpPr>
          <p:cNvPr id="18" name="활동 합계"/>
          <p:cNvSpPr txBox="1"/>
          <p:nvPr/>
        </p:nvSpPr>
        <p:spPr>
          <a:xfrm>
            <a:off x="502920" y="3822192"/>
            <a:ext cx="5349240" cy="237744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제안 10건  |  프로젝트 27건 (그룹사 22 · 대외 5)  |  AI과제 Pool 108건</a:t>
            </a:r>
            <a:endParaRPr lang="en-US" sz="1000" dirty="0"/>
          </a:p>
        </p:txBody>
      </p:sp>
      <p:sp>
        <p:nvSpPr>
          <p:cNvPr id="19" name="시사점 box"/>
          <p:cNvSpPr/>
          <p:nvPr/>
        </p:nvSpPr>
        <p:spPr>
          <a:xfrm>
            <a:off x="502920" y="4297680"/>
            <a:ext cx="5349240" cy="7315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시사점 label"/>
          <p:cNvSpPr/>
          <p:nvPr/>
        </p:nvSpPr>
        <p:spPr>
          <a:xfrm>
            <a:off x="594360" y="4178808"/>
            <a:ext cx="914400" cy="237744"/>
          </a:xfrm>
          <a:prstGeom prst="roundRect">
            <a:avLst>
              <a:gd name="adj" fmla="val 46154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시사점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4443984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25년 과제 77건 발굴 → 26년 실행·수주 전환 시작, 단 그룹사 적용 2건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chemeClr val="accent1"/>
                </a:solidFill>
              </a:rPr>
              <a:t>→ 컨설팅에서 구현·성과까지 책임지는 현장형 실행 구조(FDE) 필요</a:t>
            </a:r>
            <a:endParaRPr lang="en-US" sz="1050" dirty="0"/>
          </a:p>
        </p:txBody>
      </p:sp>
      <p:sp>
        <p:nvSpPr>
          <p:cNvPr id="22" name="bullet Lessons &amp; Learned"/>
          <p:cNvSpPr/>
          <p:nvPr/>
        </p:nvSpPr>
        <p:spPr>
          <a:xfrm>
            <a:off x="502920" y="520293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512064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Lessons &amp; Learned</a:t>
            </a:r>
            <a:endParaRPr lang="en-US" sz="1400" dirty="0"/>
          </a:p>
        </p:txBody>
      </p:sp>
      <p:sp>
        <p:nvSpPr>
          <p:cNvPr id="24" name="LL label 1"/>
          <p:cNvSpPr txBox="1"/>
          <p:nvPr/>
        </p:nvSpPr>
        <p:spPr>
          <a:xfrm>
            <a:off x="502920" y="54864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실 행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344168" y="54864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17개 그룹사 컨설팅 중 AI과제 적용 2건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문제정의부터 구현까지 책임지는 구조로 전환</a:t>
            </a:r>
            <a:endParaRPr lang="en-US" sz="950" dirty="0"/>
          </a:p>
        </p:txBody>
      </p:sp>
      <p:sp>
        <p:nvSpPr>
          <p:cNvPr id="26" name="LL label 2"/>
          <p:cNvSpPr txBox="1"/>
          <p:nvPr/>
        </p:nvSpPr>
        <p:spPr>
          <a:xfrm>
            <a:off x="502920" y="57150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영 업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344168" y="57150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신분당선 Pre컨설팅 → 차세대 129억 수주 (AI 12.5억)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구축 사업 표준 영업 경로 개발</a:t>
            </a:r>
            <a:endParaRPr lang="en-US" sz="950" dirty="0"/>
          </a:p>
        </p:txBody>
      </p:sp>
      <p:sp>
        <p:nvSpPr>
          <p:cNvPr id="28" name="LL label 3"/>
          <p:cNvSpPr txBox="1"/>
          <p:nvPr/>
        </p:nvSpPr>
        <p:spPr>
          <a:xfrm>
            <a:off x="502920" y="59436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  자 산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344168" y="59436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산업별 108개 과제, 성숙도·SPOT 진단 축적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컨설팅 산출물 자산화로 속도·차별성 확보</a:t>
            </a:r>
            <a:endParaRPr lang="en-US" sz="950" dirty="0"/>
          </a:p>
        </p:txBody>
      </p:sp>
      <p:sp>
        <p:nvSpPr>
          <p:cNvPr id="30" name="LL label 4"/>
          <p:cNvSpPr txBox="1"/>
          <p:nvPr/>
        </p:nvSpPr>
        <p:spPr>
          <a:xfrm>
            <a:off x="502920" y="6172200"/>
            <a:ext cx="777240" cy="20116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확 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344168" y="6172200"/>
            <a:ext cx="4507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Agent 실습을 통한 임직원 역량 향상 니즈 확인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  ▶ 개인 Agent 사례 → 조직 과제로 연계</a:t>
            </a:r>
            <a:endParaRPr lang="en-US" sz="950" dirty="0"/>
          </a:p>
        </p:txBody>
      </p:sp>
      <p:sp>
        <p:nvSpPr>
          <p:cNvPr id="32" name="bullet AI 사업 연계 성과 및 27년 인벤토리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사업 연계 성과 및 27년 인벤토리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497312" y="16276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(단위 : 억)</a:t>
            </a:r>
            <a:endParaRPr lang="en-US" sz="1000" dirty="0"/>
          </a:p>
        </p:txBody>
      </p:sp>
      <p:graphicFrame>
        <p:nvGraphicFramePr>
          <p:cNvPr id="35" name="AI 사업 연계 금액 차트" descr=""/>
          <p:cNvGraphicFramePr/>
          <p:nvPr/>
        </p:nvGraphicFramePr>
        <p:xfrm>
          <a:off x="6336792" y="1938528"/>
          <a:ext cx="53492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Text 32"/>
          <p:cNvSpPr txBox="1"/>
          <p:nvPr/>
        </p:nvSpPr>
        <p:spPr>
          <a:xfrm>
            <a:off x="6336792" y="3273552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계 21.1억</a:t>
            </a:r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  (수주 12.5억 + 27년 인벤토리 8.6억)  ※ 신분당선 총 사업규모 129억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336792" y="3529584"/>
            <a:ext cx="5349240" cy="237744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추가 제안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 KT&amp;G 차세대 PLM (AI컨설팅) · 유안타증권 ITO (AI컨설팅·교육)</a:t>
            </a:r>
            <a:endParaRPr lang="en-US" sz="1000" dirty="0"/>
          </a:p>
        </p:txBody>
      </p:sp>
      <p:sp>
        <p:nvSpPr>
          <p:cNvPr id="38" name="핵심 방향"/>
          <p:cNvSpPr txBox="1"/>
          <p:nvPr/>
        </p:nvSpPr>
        <p:spPr>
          <a:xfrm>
            <a:off x="6336792" y="38221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문제정의부터 구현·성과 확산까지 책임지는 AX실행 파트너</a:t>
            </a:r>
            <a:endParaRPr lang="en-US" sz="1350" dirty="0"/>
          </a:p>
        </p:txBody>
      </p:sp>
      <p:sp>
        <p:nvSpPr>
          <p:cNvPr id="39" name="핵심 방향 divider"/>
          <p:cNvSpPr/>
          <p:nvPr/>
        </p:nvSpPr>
        <p:spPr>
          <a:xfrm>
            <a:off x="6519672" y="4224528"/>
            <a:ext cx="49834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0" name="전략 번호 1"/>
          <p:cNvSpPr/>
          <p:nvPr/>
        </p:nvSpPr>
        <p:spPr>
          <a:xfrm>
            <a:off x="6336792" y="45262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36792" y="4526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42" name="전략 라벨 1"/>
          <p:cNvSpPr txBox="1"/>
          <p:nvPr/>
        </p:nvSpPr>
        <p:spPr>
          <a:xfrm>
            <a:off x="6748272" y="43708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 E2E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754112" y="43708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컨설팅·구축 분리 → FDE가 구현·성과검증까지 책임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PI 연계형(기간계 적용+MVP) / 고객사 요청형(8주)</a:t>
            </a:r>
            <a:endParaRPr lang="en-US" sz="1000" dirty="0"/>
          </a:p>
        </p:txBody>
      </p:sp>
      <p:sp>
        <p:nvSpPr>
          <p:cNvPr id="44" name="전략 번호 2"/>
          <p:cNvSpPr/>
          <p:nvPr/>
        </p:nvSpPr>
        <p:spPr>
          <a:xfrm>
            <a:off x="6336792" y="52120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336792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6" name="전략 라벨 2"/>
          <p:cNvSpPr txBox="1"/>
          <p:nvPr/>
        </p:nvSpPr>
        <p:spPr>
          <a:xfrm>
            <a:off x="6748272" y="50566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CAMP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7754112" y="50566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1회성 교육 → 실습 기반 과제 도출·FDE 연계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리터러시 · 리더 워크숍 · 4주 실습 CAMP · AX 챌린지</a:t>
            </a:r>
            <a:endParaRPr lang="en-US" sz="1000" dirty="0"/>
          </a:p>
        </p:txBody>
      </p:sp>
      <p:sp>
        <p:nvSpPr>
          <p:cNvPr id="48" name="전략 번호 3"/>
          <p:cNvSpPr/>
          <p:nvPr/>
        </p:nvSpPr>
        <p:spPr>
          <a:xfrm>
            <a:off x="6336792" y="589788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36792" y="5897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50" name="전략 라벨 3"/>
          <p:cNvSpPr txBox="1"/>
          <p:nvPr/>
        </p:nvSpPr>
        <p:spPr>
          <a:xfrm>
            <a:off x="6748272" y="5742432"/>
            <a:ext cx="914400" cy="621792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플랫폼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754112" y="57424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매번 처음부터 → 산출물 자산화로 속도 향상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chemeClr val="accent5"/>
                </a:solidFill>
              </a:rPr>
              <a:t>27 지식 RAG → 28 에이전트 → 30 Consulting 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27년 중점과제 _② 27~30 추진 로드맵</a:t>
            </a:r>
            <a:endParaRPr lang="en-US" sz="2600" dirty="0"/>
          </a:p>
        </p:txBody>
      </p:sp>
      <p:sp>
        <p:nvSpPr>
          <p:cNvPr id="3" name="panel 추진 방향"/>
          <p:cNvSpPr/>
          <p:nvPr/>
        </p:nvSpPr>
        <p:spPr>
          <a:xfrm>
            <a:off x="365760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4" name="panel header 추진 방향"/>
          <p:cNvSpPr txBox="1"/>
          <p:nvPr/>
        </p:nvSpPr>
        <p:spPr>
          <a:xfrm>
            <a:off x="365760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방향</a:t>
            </a:r>
            <a:endParaRPr lang="en-US" sz="1600" dirty="0"/>
          </a:p>
        </p:txBody>
      </p:sp>
      <p:sp>
        <p:nvSpPr>
          <p:cNvPr id="5" name="panel 추진 로드맵"/>
          <p:cNvSpPr/>
          <p:nvPr/>
        </p:nvSpPr>
        <p:spPr>
          <a:xfrm>
            <a:off x="6199632" y="1097280"/>
            <a:ext cx="5623560" cy="5321808"/>
          </a:xfrm>
          <a:prstGeom prst="rect">
            <a:avLst/>
          </a:prstGeom>
          <a:solidFill>
            <a:schemeClr val="bg1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6" name="panel header 추진 로드맵"/>
          <p:cNvSpPr txBox="1"/>
          <p:nvPr/>
        </p:nvSpPr>
        <p:spPr>
          <a:xfrm>
            <a:off x="6199632" y="1097280"/>
            <a:ext cx="5623560" cy="4114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추진 로드맵</a:t>
            </a:r>
            <a:endParaRPr lang="en-US" sz="1600" dirty="0"/>
          </a:p>
        </p:txBody>
      </p:sp>
      <p:sp>
        <p:nvSpPr>
          <p:cNvPr id="7" name="bullet As Is → To Be"/>
          <p:cNvSpPr/>
          <p:nvPr/>
        </p:nvSpPr>
        <p:spPr>
          <a:xfrm>
            <a:off x="502920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 Is → To Be</a:t>
            </a:r>
            <a:endParaRPr lang="en-US" sz="1400" dirty="0"/>
          </a:p>
        </p:txBody>
      </p:sp>
      <p:graphicFrame>
        <p:nvGraphicFramePr>
          <p:cNvPr id="3" name="As-Is To-Be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87452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 Is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 Be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컨설팅·교육이 1회성으로 종료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구현·성과 검증 경험 축적, 개인 사례를 조직 과제로 연계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과제목록과 로드맵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산출물과 측정 가능한 현업 성과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사업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컨설팅과 구축을 따로 진행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FDE가 문제정의부터 구현·성과 검증까지 책임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프로젝트마다 처음부터 시작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자산화를 통해 다음 과제 속도 향상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bullet MVP 수행 범위 (AI 개발자 부재 대응)"/>
          <p:cNvSpPr/>
          <p:nvPr/>
        </p:nvSpPr>
        <p:spPr>
          <a:xfrm>
            <a:off x="502920" y="415137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406908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MVP 수행 범위 (AI 개발자 부재 대응)</a:t>
            </a:r>
            <a:endParaRPr lang="en-US" sz="1400" dirty="0"/>
          </a:p>
        </p:txBody>
      </p:sp>
      <p:sp>
        <p:nvSpPr>
          <p:cNvPr id="12" name="MVP L1 프로토타입"/>
          <p:cNvSpPr/>
          <p:nvPr/>
        </p:nvSpPr>
        <p:spPr>
          <a:xfrm>
            <a:off x="50292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L1 프로토타입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목업 데이터 데모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직접 (노코드)</a:t>
            </a:r>
            <a:endParaRPr lang="en-US" sz="1150" dirty="0"/>
          </a:p>
        </p:txBody>
      </p:sp>
      <p:sp>
        <p:nvSpPr>
          <p:cNvPr id="14" name="MVP L2 실데이터 MVP"/>
          <p:cNvSpPr/>
          <p:nvPr/>
        </p:nvSpPr>
        <p:spPr>
          <a:xfrm>
            <a:off x="231648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1648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L2 실데이터 MVP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기간계 읽기 전용 연동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팀 + 경력 AI 엔지니어</a:t>
            </a:r>
            <a:endParaRPr lang="en-US" sz="1150" dirty="0"/>
          </a:p>
        </p:txBody>
      </p:sp>
      <p:sp>
        <p:nvSpPr>
          <p:cNvPr id="16" name="MVP L3 운영 적용"/>
          <p:cNvSpPr/>
          <p:nvPr/>
        </p:nvSpPr>
        <p:spPr>
          <a:xfrm>
            <a:off x="4130040" y="4462272"/>
            <a:ext cx="172212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30040" y="4462272"/>
            <a:ext cx="172212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L3 운영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쓰기 연동·보안·운영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IT 계열사·파트너 이관</a:t>
            </a:r>
            <a:endParaRPr lang="en-US" sz="1150" dirty="0"/>
          </a:p>
        </p:txBody>
      </p:sp>
      <p:sp>
        <p:nvSpPr>
          <p:cNvPr id="18" name="bullet 인력 운영 (12명 + 경력 채용)"/>
          <p:cNvSpPr/>
          <p:nvPr/>
        </p:nvSpPr>
        <p:spPr>
          <a:xfrm>
            <a:off x="502920" y="556869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" y="548640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인력 운영 (12명 + 경력 채용)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58155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FDE 트랙 A 4명 · 트랙 B 4명 · AX CAMP 2명 · AX 플랫폼 2명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chemeClr val="accent1"/>
                </a:solidFill>
              </a:rPr>
              <a:t>경력 AI 엔지니어 27년 2명, 28년 2명 채용 + 전원 AI 빌더 인증</a:t>
            </a:r>
            <a:endParaRPr lang="en-US" sz="1050" dirty="0"/>
          </a:p>
        </p:txBody>
      </p:sp>
      <p:sp>
        <p:nvSpPr>
          <p:cNvPr id="21" name="bullet 연도별 추진 로드맵"/>
          <p:cNvSpPr/>
          <p:nvPr/>
        </p:nvSpPr>
        <p:spPr>
          <a:xfrm>
            <a:off x="6336792" y="1709928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1627632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연도별 추진 로드맵</a:t>
            </a:r>
            <a:endParaRPr lang="en-US" sz="1400" dirty="0"/>
          </a:p>
        </p:txBody>
      </p:sp>
      <p:graphicFrame>
        <p:nvGraphicFramePr>
          <p:cNvPr id="5" name="로드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011680"/>
          <a:ext cx="5349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28016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 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 실행·검증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표준화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플랫폼화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확장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FDE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E2E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트랙 A·B 각 2~3건 (L1~L2), 8주 패키지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8~10건, 6주로 단축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AX 솔루션 팩 3~5종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확장, 일부 L3 직접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CAMP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커리큘럼 4종, 그룹사 파일럿 3기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직무별 트랙, 연 8~10기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멘토·과제 도출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외 판매, 인증제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AX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4E9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Lv1 지식 RAG·템플릿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Lv2 단계별 에이전트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Lv3 에이전트 카탈로그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Lv4 AX Consulting OS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인력·역량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2명, AI 빌더 인증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경력 +2명, FDE 리드 육성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 운영 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서비스 역량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bullet 핵심 KPI"/>
          <p:cNvSpPr/>
          <p:nvPr/>
        </p:nvSpPr>
        <p:spPr>
          <a:xfrm>
            <a:off x="6336792" y="4700016"/>
            <a:ext cx="155448" cy="155448"/>
          </a:xfrm>
          <a:prstGeom prst="ellipse">
            <a:avLst/>
          </a:prstGeom>
          <a:solidFill>
            <a:schemeClr val="bg1"/>
          </a:solidFill>
          <a:ln w="44450">
            <a:solidFill>
              <a:schemeClr val="accent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583680" y="4617720"/>
            <a:ext cx="5102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KPI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0497312" y="4617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27년 → 30년</a:t>
            </a:r>
            <a:endParaRPr lang="en-US" sz="1000" dirty="0"/>
          </a:p>
        </p:txBody>
      </p:sp>
      <p:sp>
        <p:nvSpPr>
          <p:cNvPr id="27" name="KPI FDE"/>
          <p:cNvSpPr/>
          <p:nvPr/>
        </p:nvSpPr>
        <p:spPr>
          <a:xfrm>
            <a:off x="633679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3679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FDE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MVP 5건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연 15건</a:t>
            </a:r>
            <a:endParaRPr lang="en-US" sz="1150" dirty="0"/>
          </a:p>
        </p:txBody>
      </p:sp>
      <p:sp>
        <p:nvSpPr>
          <p:cNvPr id="29" name="KPI AX CAMP"/>
          <p:cNvSpPr/>
          <p:nvPr/>
        </p:nvSpPr>
        <p:spPr>
          <a:xfrm>
            <a:off x="815035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15035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CAMP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수료 150명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누적 1,500명</a:t>
            </a:r>
            <a:endParaRPr lang="en-US" sz="1150" dirty="0"/>
          </a:p>
        </p:txBody>
      </p:sp>
      <p:sp>
        <p:nvSpPr>
          <p:cNvPr id="31" name="KPI AX 플랫폼"/>
          <p:cNvSpPr/>
          <p:nvPr/>
        </p:nvSpPr>
        <p:spPr>
          <a:xfrm>
            <a:off x="9963912" y="5010912"/>
            <a:ext cx="1722120" cy="128016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963912" y="5010912"/>
            <a:ext cx="1722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AX 플랫폼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작성시간 30%↓</a:t>
            </a:r>
            <a:endParaRPr lang="en-US" sz="115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▼</a:t>
            </a:r>
            <a:endParaRPr lang="en-US" sz="115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50%↓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2026-10-27T05:29:27Z</dcterms:created>
  <dcterms:modified xsi:type="dcterms:W3CDTF">2026-10-27T05:29:27Z</dcterms:modified>
</cp:coreProperties>
</file>