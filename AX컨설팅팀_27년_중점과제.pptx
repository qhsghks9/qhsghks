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 진단/과제발굴</c:v>
                </c:pt>
              </c:strCache>
            </c:strRef>
          </c:tx>
          <c:spPr>
            <a:solidFill>
              <a:srgbClr val="1F4E9A"/>
            </a:solidFill>
            <a:effectLst/>
          </c:spPr>
          <c:invertIfNegative val="0"/>
          <c:dLbls>
            <c:numFmt formatCode="0%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그룹사 (17건)</c:v>
                  </c:pt>
                  <c:pt idx="1">
                    <c:v>대외 (4건)</c:v>
                  </c:pt>
                  <c:pt idx="2">
                    <c:v>전체 (21건)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0.7058823529411765</c:v>
                </c:pt>
                <c:pt idx="1">
                  <c:v>0</c:v>
                </c:pt>
                <c:pt idx="2">
                  <c:v>0.5714285714285714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전략수립</c:v>
                </c:pt>
              </c:strCache>
            </c:strRef>
          </c:tx>
          <c:spPr>
            <a:solidFill>
              <a:srgbClr val="0F7B6C"/>
            </a:solidFill>
            <a:effectLst/>
          </c:spPr>
          <c:invertIfNegative val="0"/>
          <c:dLbls>
            <c:numFmt formatCode="0%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그룹사 (17건)</c:v>
                  </c:pt>
                  <c:pt idx="1">
                    <c:v>대외 (4건)</c:v>
                  </c:pt>
                  <c:pt idx="2">
                    <c:v>전체 (21건)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0.17647058823529413</c:v>
                </c:pt>
                <c:pt idx="1">
                  <c:v>0.25</c:v>
                </c:pt>
                <c:pt idx="2">
                  <c:v>0.19047619047619047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전문 컨설팅</c:v>
                </c:pt>
              </c:strCache>
            </c:strRef>
          </c:tx>
          <c:spPr>
            <a:solidFill>
              <a:srgbClr val="7FA1D6"/>
            </a:solidFill>
            <a:effectLst/>
          </c:spPr>
          <c:invertIfNegative val="0"/>
          <c:dLbls>
            <c:numFmt formatCode="0%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그룹사 (17건)</c:v>
                  </c:pt>
                  <c:pt idx="1">
                    <c:v>대외 (4건)</c:v>
                  </c:pt>
                  <c:pt idx="2">
                    <c:v>전체 (21건)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0.11764705882352941</c:v>
                </c:pt>
                <c:pt idx="1">
                  <c:v>0</c:v>
                </c:pt>
                <c:pt idx="2">
                  <c:v>0.09523809523809523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Pre 컨설팅</c:v>
                </c:pt>
              </c:strCache>
            </c:strRef>
          </c:tx>
          <c:spPr>
            <a:solidFill>
              <a:srgbClr val="D0342C"/>
            </a:solidFill>
            <a:effectLst/>
          </c:spPr>
          <c:invertIfNegative val="0"/>
          <c:dLbls>
            <c:numFmt formatCode="0%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그룹사 (17건)</c:v>
                  </c:pt>
                  <c:pt idx="1">
                    <c:v>대외 (4건)</c:v>
                  </c:pt>
                  <c:pt idx="2">
                    <c:v>전체 (21건)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</c:v>
                </c:pt>
                <c:pt idx="1">
                  <c:v>0.75</c:v>
                </c:pt>
                <c:pt idx="2">
                  <c:v>0.14285714285714285</c:v>
                </c:pt>
              </c:numCache>
            </c:numRef>
          </c:val>
        </c:ser>
        <c:dLbls>
          <c:numFmt formatCode="0%;;" sourceLinked="0"/>
          <c:txPr>
            <a:bodyPr/>
            <a:lstStyle/>
            <a:p>
              <a:pPr>
                <a:defRPr b="1" i="0" strike="noStrike" sz="10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32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F2329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26년 수주 (AI사업분)</c:v>
                </c:pt>
              </c:strCache>
            </c:strRef>
          </c:tx>
          <c:spPr>
            <a:solidFill>
              <a:srgbClr val="1F4E9A"/>
            </a:solidFill>
            <a:effectLst/>
          </c:spPr>
          <c:invertIfNegative val="0"/>
          <c:dLbls>
            <c:numFmt formatCode="0.0#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신분당선</c:v>
                  </c:pt>
                  <c:pt idx="1">
                    <c:v>공항철도</c:v>
                  </c:pt>
                  <c:pt idx="2">
                    <c:v>물산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12.5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27년 수주 인벤토리</c:v>
                </c:pt>
              </c:strCache>
            </c:strRef>
          </c:tx>
          <c:spPr>
            <a:solidFill>
              <a:srgbClr val="7FA1D6"/>
            </a:solidFill>
            <a:effectLst/>
          </c:spPr>
          <c:invertIfNegative val="0"/>
          <c:dLbls>
            <c:numFmt formatCode="0.0#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신분당선</c:v>
                  </c:pt>
                  <c:pt idx="1">
                    <c:v>공항철도</c:v>
                  </c:pt>
                  <c:pt idx="2">
                    <c:v>물산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5.71</c:v>
                </c:pt>
                <c:pt idx="2">
                  <c:v>2.89</c:v>
                </c:pt>
              </c:numCache>
            </c:numRef>
          </c:val>
        </c:ser>
        <c:dLbls>
          <c:numFmt formatCode="0.0#;;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32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1F2329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25~26 활동 성과(제안 10, 프로젝트 27, 과제 Pool 108)와 Lessons Learned를 근거로, 27년 FDE·AX CAMP·AX 플랫폼 3대 중점과제로 AX 실행 파트너 전환을 제안.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As-Is/To-Be 방향과 27~30 연도별 로드맵, 인력 운영, 핵심 KPI.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25~26 수행 프로젝트(컨설팅 21, 교육 6)를 산업별로 묶고, 서비스 영역별 수행 여부를 표시. 고객사 20개(그룹사 15, 대외 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2PANEL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914400"/>
            <a:ext cx="11457432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9966960" y="65105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AX컨설팅팀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27년 중점과제 _① AX 실행 파트너로의 전환</a:t>
            </a:r>
            <a:endParaRPr lang="en-US" sz="2600" dirty="0"/>
          </a:p>
        </p:txBody>
      </p:sp>
      <p:sp>
        <p:nvSpPr>
          <p:cNvPr id="3" name="panel 추진 개요"/>
          <p:cNvSpPr/>
          <p:nvPr/>
        </p:nvSpPr>
        <p:spPr>
          <a:xfrm>
            <a:off x="365760" y="1097280"/>
            <a:ext cx="5623560" cy="5321808"/>
          </a:xfrm>
          <a:prstGeom prst="rect">
            <a:avLst/>
          </a:prstGeom>
          <a:solidFill>
            <a:schemeClr val="bg1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4" name="panel header 추진 개요"/>
          <p:cNvSpPr txBox="1"/>
          <p:nvPr/>
        </p:nvSpPr>
        <p:spPr>
          <a:xfrm>
            <a:off x="365760" y="1097280"/>
            <a:ext cx="5623560" cy="41148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추진 개요</a:t>
            </a:r>
            <a:endParaRPr lang="en-US" sz="1600" dirty="0"/>
          </a:p>
        </p:txBody>
      </p:sp>
      <p:sp>
        <p:nvSpPr>
          <p:cNvPr id="5" name="panel 추진 전략"/>
          <p:cNvSpPr/>
          <p:nvPr/>
        </p:nvSpPr>
        <p:spPr>
          <a:xfrm>
            <a:off x="6199632" y="1097280"/>
            <a:ext cx="5623560" cy="5321808"/>
          </a:xfrm>
          <a:prstGeom prst="rect">
            <a:avLst/>
          </a:prstGeom>
          <a:solidFill>
            <a:schemeClr val="bg1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6" name="panel header 추진 전략"/>
          <p:cNvSpPr txBox="1"/>
          <p:nvPr/>
        </p:nvSpPr>
        <p:spPr>
          <a:xfrm>
            <a:off x="6199632" y="1097280"/>
            <a:ext cx="5623560" cy="41148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추진 전략</a:t>
            </a:r>
            <a:endParaRPr lang="en-US" sz="1600" dirty="0"/>
          </a:p>
        </p:txBody>
      </p:sp>
      <p:sp>
        <p:nvSpPr>
          <p:cNvPr id="7" name="bullet 25~26 주요 활동 현황"/>
          <p:cNvSpPr/>
          <p:nvPr/>
        </p:nvSpPr>
        <p:spPr>
          <a:xfrm>
            <a:off x="502920" y="1709928"/>
            <a:ext cx="155448" cy="155448"/>
          </a:xfrm>
          <a:prstGeom prst="ellipse">
            <a:avLst/>
          </a:prstGeom>
          <a:solidFill>
            <a:schemeClr val="bg1"/>
          </a:solidFill>
          <a:ln w="4445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627632"/>
            <a:ext cx="5102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25~26 주요 활동 현황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162763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(단위 : 건)</a:t>
            </a:r>
            <a:endParaRPr lang="en-US" sz="1000" dirty="0"/>
          </a:p>
        </p:txBody>
      </p:sp>
      <p:sp>
        <p:nvSpPr>
          <p:cNvPr id="10" name="stat 제안"/>
          <p:cNvSpPr/>
          <p:nvPr/>
        </p:nvSpPr>
        <p:spPr>
          <a:xfrm>
            <a:off x="502920" y="2011680"/>
            <a:ext cx="1722120" cy="566928"/>
          </a:xfrm>
          <a:prstGeom prst="roundRect">
            <a:avLst>
              <a:gd name="adj" fmla="val 967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2011680"/>
            <a:ext cx="1722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제안</a:t>
            </a:r>
            <a:endParaRPr lang="en-US" sz="1050" dirty="0"/>
          </a:p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10</a:t>
            </a:r>
            <a:endParaRPr lang="en-US" sz="1050" dirty="0"/>
          </a:p>
        </p:txBody>
      </p:sp>
      <p:sp>
        <p:nvSpPr>
          <p:cNvPr id="12" name="stat 프로젝트 수행"/>
          <p:cNvSpPr/>
          <p:nvPr/>
        </p:nvSpPr>
        <p:spPr>
          <a:xfrm>
            <a:off x="2316480" y="2011680"/>
            <a:ext cx="1722120" cy="566928"/>
          </a:xfrm>
          <a:prstGeom prst="roundRect">
            <a:avLst>
              <a:gd name="adj" fmla="val 967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316480" y="2011680"/>
            <a:ext cx="1722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프로젝트 수행</a:t>
            </a:r>
            <a:endParaRPr lang="en-US" sz="1050" dirty="0"/>
          </a:p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27</a:t>
            </a:r>
            <a:pPr algn="ctr"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  (그룹사 22 · 대외 5)</a:t>
            </a:r>
            <a:endParaRPr lang="en-US" sz="1050" dirty="0"/>
          </a:p>
        </p:txBody>
      </p:sp>
      <p:sp>
        <p:nvSpPr>
          <p:cNvPr id="14" name="stat AI과제 Pool"/>
          <p:cNvSpPr/>
          <p:nvPr/>
        </p:nvSpPr>
        <p:spPr>
          <a:xfrm>
            <a:off x="4130040" y="2011680"/>
            <a:ext cx="1722120" cy="566928"/>
          </a:xfrm>
          <a:prstGeom prst="roundRect">
            <a:avLst>
              <a:gd name="adj" fmla="val 967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30040" y="2011680"/>
            <a:ext cx="1722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AI과제 Pool</a:t>
            </a:r>
            <a:endParaRPr lang="en-US" sz="1050" dirty="0"/>
          </a:p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108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2670048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AI컨설팅 유형별 수행 비중 (그룹사 17건 · 대외 4건)</a:t>
            </a:r>
            <a:endParaRPr lang="en-US" sz="1050" dirty="0"/>
          </a:p>
        </p:txBody>
      </p:sp>
      <p:graphicFrame>
        <p:nvGraphicFramePr>
          <p:cNvPr id="17" name="그룹사 대외 유형별 비중 차트" descr=""/>
          <p:cNvGraphicFramePr/>
          <p:nvPr/>
        </p:nvGraphicFramePr>
        <p:xfrm>
          <a:off x="502920" y="2880360"/>
          <a:ext cx="5349240" cy="1188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시사점 box"/>
          <p:cNvSpPr/>
          <p:nvPr/>
        </p:nvSpPr>
        <p:spPr>
          <a:xfrm>
            <a:off x="502920" y="4297680"/>
            <a:ext cx="5349240" cy="7315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시사점 label"/>
          <p:cNvSpPr/>
          <p:nvPr/>
        </p:nvSpPr>
        <p:spPr>
          <a:xfrm>
            <a:off x="594360" y="4178808"/>
            <a:ext cx="914400" cy="237744"/>
          </a:xfrm>
          <a:prstGeom prst="roundRect">
            <a:avLst>
              <a:gd name="adj" fmla="val 46154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시사점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94360" y="4443984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그룹사는 진단/과제발굴(71%) 중심, 대외는 Pre컨설팅(75%)이 수주로 연계 → 그룹사 적용은 2건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chemeClr val="accent1"/>
                </a:solidFill>
              </a:rPr>
              <a:t>→ 컨설팅에서 구현·성과까지 책임지는 현장형 실행 구조(FDE) 필요</a:t>
            </a:r>
            <a:endParaRPr lang="en-US" sz="1050" dirty="0"/>
          </a:p>
        </p:txBody>
      </p:sp>
      <p:sp>
        <p:nvSpPr>
          <p:cNvPr id="21" name="bullet Lessons &amp; Learned"/>
          <p:cNvSpPr/>
          <p:nvPr/>
        </p:nvSpPr>
        <p:spPr>
          <a:xfrm>
            <a:off x="502920" y="5202936"/>
            <a:ext cx="155448" cy="155448"/>
          </a:xfrm>
          <a:prstGeom prst="ellipse">
            <a:avLst/>
          </a:prstGeom>
          <a:solidFill>
            <a:schemeClr val="bg1"/>
          </a:solidFill>
          <a:ln w="44450">
            <a:solidFill>
              <a:schemeClr val="accent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49808" y="5120640"/>
            <a:ext cx="5102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Lessons &amp; Learned</a:t>
            </a:r>
            <a:endParaRPr lang="en-US" sz="1400" dirty="0"/>
          </a:p>
        </p:txBody>
      </p:sp>
      <p:sp>
        <p:nvSpPr>
          <p:cNvPr id="23" name="LL label 1"/>
          <p:cNvSpPr txBox="1"/>
          <p:nvPr/>
        </p:nvSpPr>
        <p:spPr>
          <a:xfrm>
            <a:off x="502920" y="5486400"/>
            <a:ext cx="777240" cy="201168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1  실 행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1344168" y="5486400"/>
            <a:ext cx="4507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17개 그룹사 컨설팅 중 AI과제 적용 2건</a:t>
            </a:r>
            <a:pPr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  ▶ 문제정의부터 구현까지 책임지는 구조로 전환</a:t>
            </a:r>
            <a:endParaRPr lang="en-US" sz="950" dirty="0"/>
          </a:p>
        </p:txBody>
      </p:sp>
      <p:sp>
        <p:nvSpPr>
          <p:cNvPr id="25" name="LL label 2"/>
          <p:cNvSpPr txBox="1"/>
          <p:nvPr/>
        </p:nvSpPr>
        <p:spPr>
          <a:xfrm>
            <a:off x="502920" y="5715000"/>
            <a:ext cx="777240" cy="201168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2  영 업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344168" y="5715000"/>
            <a:ext cx="4507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신분당선 Pre컨설팅 → 차세대 129억 수주 (AI 12.5억)</a:t>
            </a:r>
            <a:pPr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  ▶ 구축 사업 표준 영업 경로 개발</a:t>
            </a:r>
            <a:endParaRPr lang="en-US" sz="950" dirty="0"/>
          </a:p>
        </p:txBody>
      </p:sp>
      <p:sp>
        <p:nvSpPr>
          <p:cNvPr id="27" name="LL label 3"/>
          <p:cNvSpPr txBox="1"/>
          <p:nvPr/>
        </p:nvSpPr>
        <p:spPr>
          <a:xfrm>
            <a:off x="502920" y="5943600"/>
            <a:ext cx="777240" cy="201168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3  자 산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344168" y="5943600"/>
            <a:ext cx="4507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산업별 108개 과제, 성숙도·SPOT 진단 축적</a:t>
            </a:r>
            <a:pPr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  ▶ 컨설팅 산출물 자산화로 속도·차별성 확보</a:t>
            </a:r>
            <a:endParaRPr lang="en-US" sz="950" dirty="0"/>
          </a:p>
        </p:txBody>
      </p:sp>
      <p:sp>
        <p:nvSpPr>
          <p:cNvPr id="29" name="LL label 4"/>
          <p:cNvSpPr txBox="1"/>
          <p:nvPr/>
        </p:nvSpPr>
        <p:spPr>
          <a:xfrm>
            <a:off x="502920" y="6172200"/>
            <a:ext cx="777240" cy="201168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4  확 산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1344168" y="6172200"/>
            <a:ext cx="4507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Agent 실습을 통한 임직원 역량 향상 니즈 확인</a:t>
            </a:r>
            <a:pPr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  ▶ 개인 Agent 사례 → 조직 과제로 연계</a:t>
            </a:r>
            <a:endParaRPr lang="en-US" sz="950" dirty="0"/>
          </a:p>
        </p:txBody>
      </p:sp>
      <p:sp>
        <p:nvSpPr>
          <p:cNvPr id="31" name="bullet AI 사업 연계 성과 및 27년 인벤토리"/>
          <p:cNvSpPr/>
          <p:nvPr/>
        </p:nvSpPr>
        <p:spPr>
          <a:xfrm>
            <a:off x="6336792" y="1709928"/>
            <a:ext cx="155448" cy="155448"/>
          </a:xfrm>
          <a:prstGeom prst="ellipse">
            <a:avLst/>
          </a:prstGeom>
          <a:solidFill>
            <a:schemeClr val="bg1"/>
          </a:solidFill>
          <a:ln w="44450">
            <a:solidFill>
              <a:schemeClr val="accent2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583680" y="1627632"/>
            <a:ext cx="5102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AI 사업 연계 성과 및 27년 인벤토리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10497312" y="162763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(단위 : 억)</a:t>
            </a:r>
            <a:endParaRPr lang="en-US" sz="1000" dirty="0"/>
          </a:p>
        </p:txBody>
      </p:sp>
      <p:graphicFrame>
        <p:nvGraphicFramePr>
          <p:cNvPr id="34" name="AI 사업 연계 금액 차트" descr=""/>
          <p:cNvGraphicFramePr/>
          <p:nvPr/>
        </p:nvGraphicFramePr>
        <p:xfrm>
          <a:off x="6336792" y="1938528"/>
          <a:ext cx="5349240" cy="1325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5" name="Text 31"/>
          <p:cNvSpPr txBox="1"/>
          <p:nvPr/>
        </p:nvSpPr>
        <p:spPr>
          <a:xfrm>
            <a:off x="6336792" y="3273552"/>
            <a:ext cx="5349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계 21.1억</a:t>
            </a:r>
            <a:pPr algn="r"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  (수주 12.5억 + 27년 인벤토리 8.6억)  ※ 신분당선 총 사업규모 129억</a:t>
            </a:r>
            <a:endParaRPr lang="en-US" sz="950" dirty="0"/>
          </a:p>
        </p:txBody>
      </p:sp>
      <p:sp>
        <p:nvSpPr>
          <p:cNvPr id="36" name="Text 32"/>
          <p:cNvSpPr txBox="1"/>
          <p:nvPr/>
        </p:nvSpPr>
        <p:spPr>
          <a:xfrm>
            <a:off x="6336792" y="3529584"/>
            <a:ext cx="5349240" cy="237744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추가 제안</a:t>
            </a:r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 KT&amp;G 차세대 PLM (AI컨설팅) · 유안타증권 ITO (AI컨설팅·교육)</a:t>
            </a:r>
            <a:endParaRPr lang="en-US" sz="1000" dirty="0"/>
          </a:p>
        </p:txBody>
      </p:sp>
      <p:sp>
        <p:nvSpPr>
          <p:cNvPr id="37" name="핵심 방향"/>
          <p:cNvSpPr txBox="1"/>
          <p:nvPr/>
        </p:nvSpPr>
        <p:spPr>
          <a:xfrm>
            <a:off x="6336792" y="382219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문제정의부터 구현·성과 확산까지 책임지는 AX실행 파트너</a:t>
            </a:r>
            <a:endParaRPr lang="en-US" sz="1350" dirty="0"/>
          </a:p>
        </p:txBody>
      </p:sp>
      <p:sp>
        <p:nvSpPr>
          <p:cNvPr id="38" name="핵심 방향 divider"/>
          <p:cNvSpPr/>
          <p:nvPr/>
        </p:nvSpPr>
        <p:spPr>
          <a:xfrm>
            <a:off x="6519672" y="4224528"/>
            <a:ext cx="498348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39" name="전략 번호 1"/>
          <p:cNvSpPr/>
          <p:nvPr/>
        </p:nvSpPr>
        <p:spPr>
          <a:xfrm>
            <a:off x="6336792" y="4526280"/>
            <a:ext cx="329184" cy="32918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6336792" y="4526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41" name="전략 라벨 1"/>
          <p:cNvSpPr txBox="1"/>
          <p:nvPr/>
        </p:nvSpPr>
        <p:spPr>
          <a:xfrm>
            <a:off x="6748272" y="4370832"/>
            <a:ext cx="914400" cy="621792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FDE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AX E2E</a:t>
            </a:r>
            <a:endParaRPr lang="en-US" sz="1200" dirty="0"/>
          </a:p>
        </p:txBody>
      </p:sp>
      <p:sp>
        <p:nvSpPr>
          <p:cNvPr id="42" name="Text 38"/>
          <p:cNvSpPr txBox="1"/>
          <p:nvPr/>
        </p:nvSpPr>
        <p:spPr>
          <a:xfrm>
            <a:off x="7754112" y="4370832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컨설팅·구축 분리 → FDE가 구현·성과검증까지 책임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accent5"/>
                </a:solidFill>
              </a:rPr>
              <a:t>PI 연계형(기간계 적용+MVP) / 고객사 요청형(8주)</a:t>
            </a:r>
            <a:endParaRPr lang="en-US" sz="1000" dirty="0"/>
          </a:p>
        </p:txBody>
      </p:sp>
      <p:sp>
        <p:nvSpPr>
          <p:cNvPr id="43" name="전략 번호 2"/>
          <p:cNvSpPr/>
          <p:nvPr/>
        </p:nvSpPr>
        <p:spPr>
          <a:xfrm>
            <a:off x="6336792" y="5212080"/>
            <a:ext cx="329184" cy="32918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6336792" y="5212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45" name="전략 라벨 2"/>
          <p:cNvSpPr txBox="1"/>
          <p:nvPr/>
        </p:nvSpPr>
        <p:spPr>
          <a:xfrm>
            <a:off x="6748272" y="5056632"/>
            <a:ext cx="914400" cy="621792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AX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CAMP</a:t>
            </a:r>
            <a:endParaRPr lang="en-US" sz="1200" dirty="0"/>
          </a:p>
        </p:txBody>
      </p:sp>
      <p:sp>
        <p:nvSpPr>
          <p:cNvPr id="46" name="Text 42"/>
          <p:cNvSpPr txBox="1"/>
          <p:nvPr/>
        </p:nvSpPr>
        <p:spPr>
          <a:xfrm>
            <a:off x="7754112" y="5056632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1회성 교육 → 실습 기반 과제 도출·FDE 연계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accent5"/>
                </a:solidFill>
              </a:rPr>
              <a:t>리터러시 · 리더 워크숍 · 4주 실습 CAMP · AX 챌린지</a:t>
            </a:r>
            <a:endParaRPr lang="en-US" sz="1000" dirty="0"/>
          </a:p>
        </p:txBody>
      </p:sp>
      <p:sp>
        <p:nvSpPr>
          <p:cNvPr id="47" name="전략 번호 3"/>
          <p:cNvSpPr/>
          <p:nvPr/>
        </p:nvSpPr>
        <p:spPr>
          <a:xfrm>
            <a:off x="6336792" y="5897880"/>
            <a:ext cx="329184" cy="32918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6336792" y="5897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49" name="전략 라벨 3"/>
          <p:cNvSpPr txBox="1"/>
          <p:nvPr/>
        </p:nvSpPr>
        <p:spPr>
          <a:xfrm>
            <a:off x="6748272" y="5742432"/>
            <a:ext cx="914400" cy="621792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AX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플랫폼</a:t>
            </a:r>
            <a:endParaRPr lang="en-US" sz="1200" dirty="0"/>
          </a:p>
        </p:txBody>
      </p:sp>
      <p:sp>
        <p:nvSpPr>
          <p:cNvPr id="50" name="Text 46"/>
          <p:cNvSpPr txBox="1"/>
          <p:nvPr/>
        </p:nvSpPr>
        <p:spPr>
          <a:xfrm>
            <a:off x="7754112" y="5742432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매번 처음부터 → 산출물 자산화로 속도 향상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accent5"/>
                </a:solidFill>
              </a:rPr>
              <a:t>27 지식 RAG → 28 에이전트 → 30 Consulting OS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27년 중점과제 _② 27~30 추진 로드맵</a:t>
            </a:r>
            <a:endParaRPr lang="en-US" sz="2600" dirty="0"/>
          </a:p>
        </p:txBody>
      </p:sp>
      <p:sp>
        <p:nvSpPr>
          <p:cNvPr id="3" name="panel 추진 방향"/>
          <p:cNvSpPr/>
          <p:nvPr/>
        </p:nvSpPr>
        <p:spPr>
          <a:xfrm>
            <a:off x="365760" y="1097280"/>
            <a:ext cx="5623560" cy="5321808"/>
          </a:xfrm>
          <a:prstGeom prst="rect">
            <a:avLst/>
          </a:prstGeom>
          <a:solidFill>
            <a:schemeClr val="bg1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4" name="panel header 추진 방향"/>
          <p:cNvSpPr txBox="1"/>
          <p:nvPr/>
        </p:nvSpPr>
        <p:spPr>
          <a:xfrm>
            <a:off x="365760" y="1097280"/>
            <a:ext cx="5623560" cy="41148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추진 방향</a:t>
            </a:r>
            <a:endParaRPr lang="en-US" sz="1600" dirty="0"/>
          </a:p>
        </p:txBody>
      </p:sp>
      <p:sp>
        <p:nvSpPr>
          <p:cNvPr id="5" name="panel 추진 로드맵"/>
          <p:cNvSpPr/>
          <p:nvPr/>
        </p:nvSpPr>
        <p:spPr>
          <a:xfrm>
            <a:off x="6199632" y="1097280"/>
            <a:ext cx="5623560" cy="5321808"/>
          </a:xfrm>
          <a:prstGeom prst="rect">
            <a:avLst/>
          </a:prstGeom>
          <a:solidFill>
            <a:schemeClr val="bg1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6" name="panel header 추진 로드맵"/>
          <p:cNvSpPr txBox="1"/>
          <p:nvPr/>
        </p:nvSpPr>
        <p:spPr>
          <a:xfrm>
            <a:off x="6199632" y="1097280"/>
            <a:ext cx="5623560" cy="41148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추진 로드맵</a:t>
            </a:r>
            <a:endParaRPr lang="en-US" sz="1600" dirty="0"/>
          </a:p>
        </p:txBody>
      </p:sp>
      <p:sp>
        <p:nvSpPr>
          <p:cNvPr id="7" name="bullet As Is → To Be"/>
          <p:cNvSpPr/>
          <p:nvPr/>
        </p:nvSpPr>
        <p:spPr>
          <a:xfrm>
            <a:off x="502920" y="1709928"/>
            <a:ext cx="155448" cy="155448"/>
          </a:xfrm>
          <a:prstGeom prst="ellipse">
            <a:avLst/>
          </a:prstGeom>
          <a:solidFill>
            <a:schemeClr val="bg1"/>
          </a:solidFill>
          <a:ln w="4445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627632"/>
            <a:ext cx="5102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As Is → To Be</a:t>
            </a:r>
            <a:endParaRPr lang="en-US" sz="1400" dirty="0"/>
          </a:p>
        </p:txBody>
      </p:sp>
      <p:graphicFrame>
        <p:nvGraphicFramePr>
          <p:cNvPr id="3" name="As-Is To-Be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011680"/>
          <a:ext cx="534924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874520"/>
                <a:gridCol w="26060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 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As Is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4E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To Be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고객사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컨설팅·교육이 1회성으로 종료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구현·성과 검증 경험 축적, 개인 사례를 조직 과제로 연계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산출물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과제목록과 로드맵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산출물과 측정 가능한 현업 성과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사업 방식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컨설팅과 구축을 따로 진행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FDE가 문제정의부터 구현·성과 검증까지 책임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수행 방식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프로젝트마다 처음부터 시작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자산화를 통해 다음 과제 속도 향상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bullet MVP 수행 범위 (AI 개발자 부재 대응)"/>
          <p:cNvSpPr/>
          <p:nvPr/>
        </p:nvSpPr>
        <p:spPr>
          <a:xfrm>
            <a:off x="502920" y="4151376"/>
            <a:ext cx="155448" cy="155448"/>
          </a:xfrm>
          <a:prstGeom prst="ellipse">
            <a:avLst/>
          </a:prstGeom>
          <a:solidFill>
            <a:schemeClr val="bg1"/>
          </a:solidFill>
          <a:ln w="4445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4069080"/>
            <a:ext cx="5102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MVP 수행 범위 (AI 개발자 부재 대응)</a:t>
            </a:r>
            <a:endParaRPr lang="en-US" sz="1400" dirty="0"/>
          </a:p>
        </p:txBody>
      </p:sp>
      <p:sp>
        <p:nvSpPr>
          <p:cNvPr id="12" name="MVP L1 프로토타입"/>
          <p:cNvSpPr/>
          <p:nvPr/>
        </p:nvSpPr>
        <p:spPr>
          <a:xfrm>
            <a:off x="502920" y="4462272"/>
            <a:ext cx="1722120" cy="868680"/>
          </a:xfrm>
          <a:prstGeom prst="roundRect">
            <a:avLst>
              <a:gd name="adj" fmla="val 631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2920" y="4462272"/>
            <a:ext cx="172212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L1 프로토타입</a:t>
            </a:r>
            <a:endParaRPr lang="en-US" sz="115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목업 데이터 데모</a:t>
            </a:r>
            <a:endParaRPr lang="en-US" sz="115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팀 직접 (노코드)</a:t>
            </a:r>
            <a:endParaRPr lang="en-US" sz="1150" dirty="0"/>
          </a:p>
        </p:txBody>
      </p:sp>
      <p:sp>
        <p:nvSpPr>
          <p:cNvPr id="14" name="MVP L2 실데이터 MVP"/>
          <p:cNvSpPr/>
          <p:nvPr/>
        </p:nvSpPr>
        <p:spPr>
          <a:xfrm>
            <a:off x="2316480" y="4462272"/>
            <a:ext cx="1722120" cy="868680"/>
          </a:xfrm>
          <a:prstGeom prst="roundRect">
            <a:avLst>
              <a:gd name="adj" fmla="val 631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316480" y="4462272"/>
            <a:ext cx="172212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L2 실데이터 MVP</a:t>
            </a:r>
            <a:endParaRPr lang="en-US" sz="115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기간계 읽기 전용 연동</a:t>
            </a:r>
            <a:endParaRPr lang="en-US" sz="115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팀 + 경력 AI 엔지니어</a:t>
            </a:r>
            <a:endParaRPr lang="en-US" sz="1150" dirty="0"/>
          </a:p>
        </p:txBody>
      </p:sp>
      <p:sp>
        <p:nvSpPr>
          <p:cNvPr id="16" name="MVP L3 운영 적용"/>
          <p:cNvSpPr/>
          <p:nvPr/>
        </p:nvSpPr>
        <p:spPr>
          <a:xfrm>
            <a:off x="4130040" y="4462272"/>
            <a:ext cx="1722120" cy="86868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130040" y="4462272"/>
            <a:ext cx="172212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L3 운영 적용</a:t>
            </a:r>
            <a:endParaRPr lang="en-US" sz="115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쓰기 연동·보안·운영</a:t>
            </a:r>
            <a:endParaRPr lang="en-US" sz="115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IT 계열사·파트너 이관</a:t>
            </a:r>
            <a:endParaRPr lang="en-US" sz="1150" dirty="0"/>
          </a:p>
        </p:txBody>
      </p:sp>
      <p:sp>
        <p:nvSpPr>
          <p:cNvPr id="18" name="bullet 인력 운영 (12명 + 경력 채용)"/>
          <p:cNvSpPr/>
          <p:nvPr/>
        </p:nvSpPr>
        <p:spPr>
          <a:xfrm>
            <a:off x="502920" y="5568696"/>
            <a:ext cx="155448" cy="155448"/>
          </a:xfrm>
          <a:prstGeom prst="ellipse">
            <a:avLst/>
          </a:prstGeom>
          <a:solidFill>
            <a:schemeClr val="bg1"/>
          </a:solidFill>
          <a:ln w="44450">
            <a:solidFill>
              <a:schemeClr val="accent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49808" y="5486400"/>
            <a:ext cx="5102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인력 운영 (12명 + 경력 채용)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594360" y="58155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FDE 트랙 A 4명 · 트랙 B 4명 · AX CAMP 2명 · AX 플랫폼 2명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chemeClr val="accent1"/>
                </a:solidFill>
              </a:rPr>
              <a:t>경력 AI 엔지니어 27년 2명, 28년 2명 채용 + 전원 AI 빌더 인증</a:t>
            </a:r>
            <a:endParaRPr lang="en-US" sz="1050" dirty="0"/>
          </a:p>
        </p:txBody>
      </p:sp>
      <p:sp>
        <p:nvSpPr>
          <p:cNvPr id="21" name="bullet 연도별 추진 로드맵"/>
          <p:cNvSpPr/>
          <p:nvPr/>
        </p:nvSpPr>
        <p:spPr>
          <a:xfrm>
            <a:off x="6336792" y="1709928"/>
            <a:ext cx="155448" cy="155448"/>
          </a:xfrm>
          <a:prstGeom prst="ellipse">
            <a:avLst/>
          </a:prstGeom>
          <a:solidFill>
            <a:schemeClr val="bg1"/>
          </a:solidFill>
          <a:ln w="44450">
            <a:solidFill>
              <a:schemeClr val="accent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0" y="1627632"/>
            <a:ext cx="5102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연도별 추진 로드맵</a:t>
            </a:r>
            <a:endParaRPr lang="en-US" sz="1400" dirty="0"/>
          </a:p>
        </p:txBody>
      </p:sp>
      <p:graphicFrame>
        <p:nvGraphicFramePr>
          <p:cNvPr id="5" name="로드맵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36792" y="2011680"/>
          <a:ext cx="534924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280160"/>
                <a:gridCol w="1097280"/>
                <a:gridCol w="109728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 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27 실행·검증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28 표준화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29 플랫폼화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 확장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4E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 FDE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4E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AX E2E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트랙 A·B 각 2~3건 (L1~L2), 8주 패키지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 8~10건, 6주로 단축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AX 솔루션 팩 3~5종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외부 확장, 일부 L3 직접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4E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 AX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4E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CAMP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커리큘럼 4종, 그룹사 파일럿 3기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직무별 트랙, 연 8~10기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멘토·과제 도출 에이전트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그룹 외 판매, 인증제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4E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 AX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4E9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플랫폼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Lv1 지식 RAG·템플릿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Lv2 단계별 에이전트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Lv3 에이전트 카탈로그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Lv4 AX Consulting OS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인력·역량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경력 2명, AI 빌더 인증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경력 +2명, FDE 리드 육성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플랫폼 운영 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외부 서비스 역량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" name="bullet 핵심 KPI"/>
          <p:cNvSpPr/>
          <p:nvPr/>
        </p:nvSpPr>
        <p:spPr>
          <a:xfrm>
            <a:off x="6336792" y="4700016"/>
            <a:ext cx="155448" cy="155448"/>
          </a:xfrm>
          <a:prstGeom prst="ellipse">
            <a:avLst/>
          </a:prstGeom>
          <a:solidFill>
            <a:schemeClr val="bg1"/>
          </a:solidFill>
          <a:ln w="44450">
            <a:solidFill>
              <a:schemeClr val="accent2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583680" y="4617720"/>
            <a:ext cx="5102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핵심 KPI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10497312" y="4617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27년 → 30년</a:t>
            </a:r>
            <a:endParaRPr lang="en-US" sz="1000" dirty="0"/>
          </a:p>
        </p:txBody>
      </p:sp>
      <p:sp>
        <p:nvSpPr>
          <p:cNvPr id="27" name="KPI FDE"/>
          <p:cNvSpPr/>
          <p:nvPr/>
        </p:nvSpPr>
        <p:spPr>
          <a:xfrm>
            <a:off x="6336792" y="5010912"/>
            <a:ext cx="1722120" cy="12801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336792" y="5010912"/>
            <a:ext cx="1722120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FDE</a:t>
            </a:r>
            <a:endParaRPr lang="en-US" sz="11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MVP 5건</a:t>
            </a:r>
            <a:endParaRPr lang="en-US" sz="1150" dirty="0"/>
          </a:p>
          <a:p>
            <a:pPr algn="ctr" indent="0" marL="0">
              <a:buNone/>
            </a:pPr>
            <a:r>
              <a:rPr lang="en-US" sz="800" dirty="0">
                <a:solidFill>
                  <a:schemeClr val="accent3"/>
                </a:solidFill>
              </a:rPr>
              <a:t>▼</a:t>
            </a:r>
            <a:endParaRPr lang="en-US" sz="115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연 15건</a:t>
            </a:r>
            <a:endParaRPr lang="en-US" sz="1150" dirty="0"/>
          </a:p>
        </p:txBody>
      </p:sp>
      <p:sp>
        <p:nvSpPr>
          <p:cNvPr id="29" name="KPI AX CAMP"/>
          <p:cNvSpPr/>
          <p:nvPr/>
        </p:nvSpPr>
        <p:spPr>
          <a:xfrm>
            <a:off x="8150352" y="5010912"/>
            <a:ext cx="1722120" cy="12801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8150352" y="5010912"/>
            <a:ext cx="1722120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AX CAMP</a:t>
            </a:r>
            <a:endParaRPr lang="en-US" sz="11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수료 150명</a:t>
            </a:r>
            <a:endParaRPr lang="en-US" sz="1150" dirty="0"/>
          </a:p>
          <a:p>
            <a:pPr algn="ctr" indent="0" marL="0">
              <a:buNone/>
            </a:pPr>
            <a:r>
              <a:rPr lang="en-US" sz="800" dirty="0">
                <a:solidFill>
                  <a:schemeClr val="accent3"/>
                </a:solidFill>
              </a:rPr>
              <a:t>▼</a:t>
            </a:r>
            <a:endParaRPr lang="en-US" sz="115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누적 1,500명</a:t>
            </a:r>
            <a:endParaRPr lang="en-US" sz="1150" dirty="0"/>
          </a:p>
        </p:txBody>
      </p:sp>
      <p:sp>
        <p:nvSpPr>
          <p:cNvPr id="31" name="KPI AX 플랫폼"/>
          <p:cNvSpPr/>
          <p:nvPr/>
        </p:nvSpPr>
        <p:spPr>
          <a:xfrm>
            <a:off x="9963912" y="5010912"/>
            <a:ext cx="1722120" cy="12801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9963912" y="5010912"/>
            <a:ext cx="1722120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AX 플랫폼</a:t>
            </a:r>
            <a:endParaRPr lang="en-US" sz="11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작성시간 30%↓</a:t>
            </a:r>
            <a:endParaRPr lang="en-US" sz="1150" dirty="0"/>
          </a:p>
          <a:p>
            <a:pPr algn="ctr" indent="0" marL="0">
              <a:buNone/>
            </a:pPr>
            <a:r>
              <a:rPr lang="en-US" sz="800" dirty="0">
                <a:solidFill>
                  <a:schemeClr val="accent3"/>
                </a:solidFill>
              </a:rPr>
              <a:t>▼</a:t>
            </a:r>
            <a:endParaRPr lang="en-US" sz="115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50%↓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AX컨설팅팀 수행 실적 ('25~'26)</a:t>
            </a:r>
            <a:endParaRPr lang="en-US" sz="2600" dirty="0"/>
          </a:p>
        </p:txBody>
      </p:sp>
      <p:sp>
        <p:nvSpPr>
          <p:cNvPr id="3" name="헤드 메시지"/>
          <p:cNvSpPr txBox="1"/>
          <p:nvPr/>
        </p:nvSpPr>
        <p:spPr>
          <a:xfrm>
            <a:off x="365760" y="1005840"/>
            <a:ext cx="11457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AX컨설팅팀은 지난 2년간 그룹사 15개사·대외 5개사의 AX 파트너로서 AI 전략·과제 도출부터 실습교육, 구현 Pilot, 구축 사업 연계까지 27건의 프로젝트를 수행하며 AI과제 108건을 발굴함</a:t>
            </a:r>
            <a:endParaRPr lang="en-US" sz="1400" dirty="0"/>
          </a:p>
        </p:txBody>
      </p:sp>
      <p:sp>
        <p:nvSpPr>
          <p:cNvPr id="4" name="열 AI 전략· 과제 도출"/>
          <p:cNvSpPr/>
          <p:nvPr/>
        </p:nvSpPr>
        <p:spPr>
          <a:xfrm>
            <a:off x="7680960" y="1719072"/>
            <a:ext cx="749808" cy="4663440"/>
          </a:xfrm>
          <a:prstGeom prst="roundRect">
            <a:avLst>
              <a:gd name="adj" fmla="val 7317"/>
            </a:avLst>
          </a:prstGeom>
          <a:solidFill>
            <a:srgbClr val="D9DDE3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0" y="1719072"/>
            <a:ext cx="749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AI 전략·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과제 도출</a:t>
            </a:r>
            <a:endParaRPr lang="en-US" sz="1100" dirty="0"/>
          </a:p>
        </p:txBody>
      </p:sp>
      <p:sp>
        <p:nvSpPr>
          <p:cNvPr id="6" name="열 AX 진단· Blueprint"/>
          <p:cNvSpPr/>
          <p:nvPr/>
        </p:nvSpPr>
        <p:spPr>
          <a:xfrm>
            <a:off x="8522208" y="1719072"/>
            <a:ext cx="749808" cy="4663440"/>
          </a:xfrm>
          <a:prstGeom prst="roundRect">
            <a:avLst>
              <a:gd name="adj" fmla="val 7317"/>
            </a:avLst>
          </a:prstGeom>
          <a:solidFill>
            <a:srgbClr val="D9DDE3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22208" y="1719072"/>
            <a:ext cx="749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AX 진단·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Blueprint</a:t>
            </a:r>
            <a:endParaRPr lang="en-US" sz="1100" dirty="0"/>
          </a:p>
        </p:txBody>
      </p:sp>
      <p:sp>
        <p:nvSpPr>
          <p:cNvPr id="8" name="열 구현방안· Pilot"/>
          <p:cNvSpPr/>
          <p:nvPr/>
        </p:nvSpPr>
        <p:spPr>
          <a:xfrm>
            <a:off x="9363456" y="1719072"/>
            <a:ext cx="749808" cy="4663440"/>
          </a:xfrm>
          <a:prstGeom prst="roundRect">
            <a:avLst>
              <a:gd name="adj" fmla="val 7317"/>
            </a:avLst>
          </a:prstGeom>
          <a:solidFill>
            <a:srgbClr val="D9DDE3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363456" y="1719072"/>
            <a:ext cx="749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구현방안·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Pilot</a:t>
            </a:r>
            <a:endParaRPr lang="en-US" sz="1100" dirty="0"/>
          </a:p>
        </p:txBody>
      </p:sp>
      <p:sp>
        <p:nvSpPr>
          <p:cNvPr id="10" name="열 AI 실습 교육"/>
          <p:cNvSpPr/>
          <p:nvPr/>
        </p:nvSpPr>
        <p:spPr>
          <a:xfrm>
            <a:off x="10204704" y="1719072"/>
            <a:ext cx="749808" cy="4663440"/>
          </a:xfrm>
          <a:prstGeom prst="roundRect">
            <a:avLst>
              <a:gd name="adj" fmla="val 7317"/>
            </a:avLst>
          </a:prstGeom>
          <a:solidFill>
            <a:srgbClr val="D9DDE3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04704" y="1719072"/>
            <a:ext cx="749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AI 실습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교육</a:t>
            </a:r>
            <a:endParaRPr lang="en-US" sz="1100" dirty="0"/>
          </a:p>
        </p:txBody>
      </p:sp>
      <p:sp>
        <p:nvSpPr>
          <p:cNvPr id="12" name="열 구축·수주 연계"/>
          <p:cNvSpPr/>
          <p:nvPr/>
        </p:nvSpPr>
        <p:spPr>
          <a:xfrm>
            <a:off x="11045952" y="1719072"/>
            <a:ext cx="749808" cy="4663440"/>
          </a:xfrm>
          <a:prstGeom prst="roundRect">
            <a:avLst>
              <a:gd name="adj" fmla="val 7317"/>
            </a:avLst>
          </a:prstGeom>
          <a:solidFill>
            <a:srgbClr val="D9DDE3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045952" y="1719072"/>
            <a:ext cx="749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구축·수주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연계</a:t>
            </a:r>
            <a:endParaRPr lang="en-US" sz="1100" dirty="0"/>
          </a:p>
        </p:txBody>
      </p:sp>
      <p:sp>
        <p:nvSpPr>
          <p:cNvPr id="14" name="행 구분 1"/>
          <p:cNvSpPr/>
          <p:nvPr/>
        </p:nvSpPr>
        <p:spPr>
          <a:xfrm>
            <a:off x="365760" y="2468880"/>
            <a:ext cx="11457432" cy="0"/>
          </a:xfrm>
          <a:prstGeom prst="line">
            <a:avLst/>
          </a:prstGeom>
          <a:noFill/>
          <a:ln w="12700">
            <a:solidFill>
              <a:srgbClr val="A6ADB8"/>
            </a:solidFill>
            <a:prstDash val="solid"/>
          </a:ln>
        </p:spPr>
      </p:sp>
      <p:sp>
        <p:nvSpPr>
          <p:cNvPr id="15" name="행 라벨 유통"/>
          <p:cNvSpPr txBox="1"/>
          <p:nvPr/>
        </p:nvSpPr>
        <p:spPr>
          <a:xfrm>
            <a:off x="365760" y="2505456"/>
            <a:ext cx="1417320" cy="485938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유통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(4개사)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874520" y="2487168"/>
            <a:ext cx="5715000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▶"/>
            </a:pPr>
            <a:r>
              <a:rPr lang="en-US" sz="1050" dirty="0">
                <a:solidFill>
                  <a:schemeClr val="tx1"/>
                </a:solidFill>
              </a:rPr>
              <a:t>하이마트·마트/슈퍼·코리아세븐·백화점: AI 추진과제 도출, 수익성 KPI 성과관리 로드맵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▶"/>
            </a:pPr>
            <a:r>
              <a:rPr lang="en-US" sz="1050" dirty="0">
                <a:solidFill>
                  <a:schemeClr val="tx1"/>
                </a:solidFill>
              </a:rPr>
              <a:t>AI 점포관리 개선·AX SPOT Blueprint, 이커머스 실무 AI 실습, 브랜드 AI포탈 구축 外</a:t>
            </a:r>
            <a:endParaRPr lang="en-US" sz="1050" dirty="0"/>
          </a:p>
        </p:txBody>
      </p:sp>
      <p:sp>
        <p:nvSpPr>
          <p:cNvPr id="17" name="표시 유통 1"/>
          <p:cNvSpPr/>
          <p:nvPr/>
        </p:nvSpPr>
        <p:spPr>
          <a:xfrm>
            <a:off x="7918704" y="2611265"/>
            <a:ext cx="274320" cy="274320"/>
          </a:xfrm>
          <a:prstGeom prst="ellipse">
            <a:avLst/>
          </a:prstGeom>
          <a:solidFill>
            <a:srgbClr val="1F4E9A"/>
          </a:solidFill>
          <a:ln w="15875">
            <a:solidFill>
              <a:srgbClr val="1F4E9A"/>
            </a:solidFill>
            <a:prstDash val="solid"/>
          </a:ln>
        </p:spPr>
      </p:sp>
      <p:sp>
        <p:nvSpPr>
          <p:cNvPr id="18" name="표시 유통 2"/>
          <p:cNvSpPr/>
          <p:nvPr/>
        </p:nvSpPr>
        <p:spPr>
          <a:xfrm>
            <a:off x="8759952" y="2611265"/>
            <a:ext cx="274320" cy="274320"/>
          </a:xfrm>
          <a:prstGeom prst="ellipse">
            <a:avLst/>
          </a:prstGeom>
          <a:solidFill>
            <a:srgbClr val="1F4E9A"/>
          </a:solidFill>
          <a:ln w="15875">
            <a:solidFill>
              <a:srgbClr val="1F4E9A"/>
            </a:solidFill>
            <a:prstDash val="solid"/>
          </a:ln>
        </p:spPr>
      </p:sp>
      <p:sp>
        <p:nvSpPr>
          <p:cNvPr id="19" name="표시 유통 3"/>
          <p:cNvSpPr/>
          <p:nvPr/>
        </p:nvSpPr>
        <p:spPr>
          <a:xfrm>
            <a:off x="9601200" y="2611265"/>
            <a:ext cx="274320" cy="274320"/>
          </a:xfrm>
          <a:prstGeom prst="ellipse">
            <a:avLst/>
          </a:prstGeom>
          <a:solidFill>
            <a:srgbClr val="1F4E9A"/>
          </a:solidFill>
          <a:ln w="15875">
            <a:solidFill>
              <a:srgbClr val="1F4E9A"/>
            </a:solidFill>
            <a:prstDash val="solid"/>
          </a:ln>
        </p:spPr>
      </p:sp>
      <p:sp>
        <p:nvSpPr>
          <p:cNvPr id="20" name="표시 유통 4"/>
          <p:cNvSpPr/>
          <p:nvPr/>
        </p:nvSpPr>
        <p:spPr>
          <a:xfrm>
            <a:off x="10442448" y="2611265"/>
            <a:ext cx="274320" cy="274320"/>
          </a:xfrm>
          <a:prstGeom prst="ellipse">
            <a:avLst/>
          </a:prstGeom>
          <a:solidFill>
            <a:srgbClr val="1F4E9A"/>
          </a:solidFill>
          <a:ln w="15875">
            <a:solidFill>
              <a:srgbClr val="1F4E9A"/>
            </a:solidFill>
            <a:prstDash val="solid"/>
          </a:ln>
        </p:spPr>
      </p:sp>
      <p:sp>
        <p:nvSpPr>
          <p:cNvPr id="21" name="표시 유통 5"/>
          <p:cNvSpPr/>
          <p:nvPr/>
        </p:nvSpPr>
        <p:spPr>
          <a:xfrm>
            <a:off x="11283696" y="2611265"/>
            <a:ext cx="274320" cy="274320"/>
          </a:xfrm>
          <a:prstGeom prst="ellipse">
            <a:avLst/>
          </a:prstGeom>
          <a:solidFill>
            <a:srgbClr val="1F4E9A"/>
          </a:solidFill>
          <a:ln w="15875">
            <a:solidFill>
              <a:srgbClr val="1F4E9A"/>
            </a:solidFill>
            <a:prstDash val="solid"/>
          </a:ln>
        </p:spPr>
      </p:sp>
      <p:sp>
        <p:nvSpPr>
          <p:cNvPr id="22" name="행 구분 2"/>
          <p:cNvSpPr/>
          <p:nvPr/>
        </p:nvSpPr>
        <p:spPr>
          <a:xfrm>
            <a:off x="365760" y="3027970"/>
            <a:ext cx="11457432" cy="0"/>
          </a:xfrm>
          <a:prstGeom prst="line">
            <a:avLst/>
          </a:prstGeom>
          <a:noFill/>
          <a:ln w="12700">
            <a:solidFill>
              <a:srgbClr val="A6ADB8"/>
            </a:solidFill>
            <a:prstDash val="solid"/>
          </a:ln>
        </p:spPr>
      </p:sp>
      <p:sp>
        <p:nvSpPr>
          <p:cNvPr id="23" name="행 라벨 식품·외식"/>
          <p:cNvSpPr txBox="1"/>
          <p:nvPr/>
        </p:nvSpPr>
        <p:spPr>
          <a:xfrm>
            <a:off x="365760" y="3064546"/>
            <a:ext cx="1417320" cy="485938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식품·외식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(3개사)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874520" y="3046258"/>
            <a:ext cx="5715000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▶"/>
            </a:pPr>
            <a:r>
              <a:rPr lang="en-US" sz="1050" dirty="0">
                <a:solidFill>
                  <a:schemeClr val="tx1"/>
                </a:solidFill>
              </a:rPr>
              <a:t>웰푸드·칠성·GRS: 그룹사 AI 컨설팅 ('24 과제점검 및 AI 추진과제 도출)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▶"/>
            </a:pPr>
            <a:r>
              <a:rPr lang="en-US" sz="1050" dirty="0">
                <a:solidFill>
                  <a:schemeClr val="tx1"/>
                </a:solidFill>
              </a:rPr>
              <a:t>GRS 임원 대상 AI 리터러시 및 실습 교육 外</a:t>
            </a:r>
            <a:endParaRPr lang="en-US" sz="1050" dirty="0"/>
          </a:p>
        </p:txBody>
      </p:sp>
      <p:sp>
        <p:nvSpPr>
          <p:cNvPr id="25" name="표시 식품·외식 1"/>
          <p:cNvSpPr/>
          <p:nvPr/>
        </p:nvSpPr>
        <p:spPr>
          <a:xfrm>
            <a:off x="7918704" y="3170355"/>
            <a:ext cx="274320" cy="274320"/>
          </a:xfrm>
          <a:prstGeom prst="ellipse">
            <a:avLst/>
          </a:prstGeom>
          <a:solidFill>
            <a:srgbClr val="1F4E9A"/>
          </a:solidFill>
          <a:ln w="15875">
            <a:solidFill>
              <a:srgbClr val="1F4E9A"/>
            </a:solidFill>
            <a:prstDash val="solid"/>
          </a:ln>
        </p:spPr>
      </p:sp>
      <p:sp>
        <p:nvSpPr>
          <p:cNvPr id="26" name="표시 식품·외식 2"/>
          <p:cNvSpPr/>
          <p:nvPr/>
        </p:nvSpPr>
        <p:spPr>
          <a:xfrm>
            <a:off x="8759952" y="3170355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A94A6"/>
            </a:solidFill>
            <a:prstDash val="solid"/>
          </a:ln>
        </p:spPr>
      </p:sp>
      <p:sp>
        <p:nvSpPr>
          <p:cNvPr id="27" name="표시 식품·외식 3"/>
          <p:cNvSpPr/>
          <p:nvPr/>
        </p:nvSpPr>
        <p:spPr>
          <a:xfrm>
            <a:off x="9601200" y="3170355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A94A6"/>
            </a:solidFill>
            <a:prstDash val="solid"/>
          </a:ln>
        </p:spPr>
      </p:sp>
      <p:sp>
        <p:nvSpPr>
          <p:cNvPr id="28" name="표시 식품·외식 4"/>
          <p:cNvSpPr/>
          <p:nvPr/>
        </p:nvSpPr>
        <p:spPr>
          <a:xfrm>
            <a:off x="10442448" y="3170355"/>
            <a:ext cx="274320" cy="274320"/>
          </a:xfrm>
          <a:prstGeom prst="ellipse">
            <a:avLst/>
          </a:prstGeom>
          <a:solidFill>
            <a:srgbClr val="1F4E9A"/>
          </a:solidFill>
          <a:ln w="15875">
            <a:solidFill>
              <a:srgbClr val="1F4E9A"/>
            </a:solidFill>
            <a:prstDash val="solid"/>
          </a:ln>
        </p:spPr>
      </p:sp>
      <p:sp>
        <p:nvSpPr>
          <p:cNvPr id="29" name="표시 식품·외식 5"/>
          <p:cNvSpPr/>
          <p:nvPr/>
        </p:nvSpPr>
        <p:spPr>
          <a:xfrm>
            <a:off x="11283696" y="3170355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A94A6"/>
            </a:solidFill>
            <a:prstDash val="solid"/>
          </a:ln>
        </p:spPr>
      </p:sp>
      <p:sp>
        <p:nvSpPr>
          <p:cNvPr id="30" name="행 구분 3"/>
          <p:cNvSpPr/>
          <p:nvPr/>
        </p:nvSpPr>
        <p:spPr>
          <a:xfrm>
            <a:off x="365760" y="3587061"/>
            <a:ext cx="11457432" cy="0"/>
          </a:xfrm>
          <a:prstGeom prst="line">
            <a:avLst/>
          </a:prstGeom>
          <a:noFill/>
          <a:ln w="12700">
            <a:solidFill>
              <a:srgbClr val="A6ADB8"/>
            </a:solidFill>
            <a:prstDash val="solid"/>
          </a:ln>
        </p:spPr>
      </p:sp>
      <p:sp>
        <p:nvSpPr>
          <p:cNvPr id="31" name="행 라벨 호텔·문화"/>
          <p:cNvSpPr txBox="1"/>
          <p:nvPr/>
        </p:nvSpPr>
        <p:spPr>
          <a:xfrm>
            <a:off x="365760" y="3623637"/>
            <a:ext cx="1417320" cy="485938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호텔·문화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(2개사)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874520" y="3605349"/>
            <a:ext cx="5715000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▶"/>
            </a:pPr>
            <a:r>
              <a:rPr lang="en-US" sz="1050" dirty="0">
                <a:solidFill>
                  <a:schemeClr val="tx1"/>
                </a:solidFill>
              </a:rPr>
              <a:t>호텔: AI 추진과제 도출 → AI기반 객실 요금 최적화 구현 방안 수립·Pilot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▶"/>
            </a:pPr>
            <a:r>
              <a:rPr lang="en-US" sz="1050" dirty="0">
                <a:solidFill>
                  <a:schemeClr val="tx1"/>
                </a:solidFill>
              </a:rPr>
              <a:t>호텔 객실요금최적화시스템 구축(대표이사 보고 中), 컬처웍스 AI 과제 도출 外</a:t>
            </a:r>
            <a:endParaRPr lang="en-US" sz="1050" dirty="0"/>
          </a:p>
        </p:txBody>
      </p:sp>
      <p:sp>
        <p:nvSpPr>
          <p:cNvPr id="33" name="표시 호텔·문화 1"/>
          <p:cNvSpPr/>
          <p:nvPr/>
        </p:nvSpPr>
        <p:spPr>
          <a:xfrm>
            <a:off x="7918704" y="3729446"/>
            <a:ext cx="274320" cy="274320"/>
          </a:xfrm>
          <a:prstGeom prst="ellipse">
            <a:avLst/>
          </a:prstGeom>
          <a:solidFill>
            <a:srgbClr val="1F4E9A"/>
          </a:solidFill>
          <a:ln w="15875">
            <a:solidFill>
              <a:srgbClr val="1F4E9A"/>
            </a:solidFill>
            <a:prstDash val="solid"/>
          </a:ln>
        </p:spPr>
      </p:sp>
      <p:sp>
        <p:nvSpPr>
          <p:cNvPr id="34" name="표시 호텔·문화 2"/>
          <p:cNvSpPr/>
          <p:nvPr/>
        </p:nvSpPr>
        <p:spPr>
          <a:xfrm>
            <a:off x="8759952" y="3729446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A94A6"/>
            </a:solidFill>
            <a:prstDash val="solid"/>
          </a:ln>
        </p:spPr>
      </p:sp>
      <p:sp>
        <p:nvSpPr>
          <p:cNvPr id="35" name="표시 호텔·문화 3"/>
          <p:cNvSpPr/>
          <p:nvPr/>
        </p:nvSpPr>
        <p:spPr>
          <a:xfrm>
            <a:off x="9601200" y="3729446"/>
            <a:ext cx="274320" cy="274320"/>
          </a:xfrm>
          <a:prstGeom prst="ellipse">
            <a:avLst/>
          </a:prstGeom>
          <a:solidFill>
            <a:srgbClr val="1F4E9A"/>
          </a:solidFill>
          <a:ln w="15875">
            <a:solidFill>
              <a:srgbClr val="1F4E9A"/>
            </a:solidFill>
            <a:prstDash val="solid"/>
          </a:ln>
        </p:spPr>
      </p:sp>
      <p:sp>
        <p:nvSpPr>
          <p:cNvPr id="36" name="표시 호텔·문화 4"/>
          <p:cNvSpPr/>
          <p:nvPr/>
        </p:nvSpPr>
        <p:spPr>
          <a:xfrm>
            <a:off x="10442448" y="3729446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A94A6"/>
            </a:solidFill>
            <a:prstDash val="solid"/>
          </a:ln>
        </p:spPr>
      </p:sp>
      <p:sp>
        <p:nvSpPr>
          <p:cNvPr id="37" name="표시 호텔·문화 5"/>
          <p:cNvSpPr/>
          <p:nvPr/>
        </p:nvSpPr>
        <p:spPr>
          <a:xfrm>
            <a:off x="11283696" y="3729446"/>
            <a:ext cx="274320" cy="274320"/>
          </a:xfrm>
          <a:prstGeom prst="ellipse">
            <a:avLst/>
          </a:prstGeom>
          <a:solidFill>
            <a:srgbClr val="1F4E9A"/>
          </a:solidFill>
          <a:ln w="15875">
            <a:solidFill>
              <a:srgbClr val="1F4E9A"/>
            </a:solidFill>
            <a:prstDash val="solid"/>
          </a:ln>
        </p:spPr>
      </p:sp>
      <p:sp>
        <p:nvSpPr>
          <p:cNvPr id="38" name="행 구분 4"/>
          <p:cNvSpPr/>
          <p:nvPr/>
        </p:nvSpPr>
        <p:spPr>
          <a:xfrm>
            <a:off x="365760" y="4146151"/>
            <a:ext cx="11457432" cy="0"/>
          </a:xfrm>
          <a:prstGeom prst="line">
            <a:avLst/>
          </a:prstGeom>
          <a:noFill/>
          <a:ln w="12700">
            <a:solidFill>
              <a:srgbClr val="A6ADB8"/>
            </a:solidFill>
            <a:prstDash val="solid"/>
          </a:ln>
        </p:spPr>
      </p:sp>
      <p:sp>
        <p:nvSpPr>
          <p:cNvPr id="39" name="행 라벨 화학·건설·물류"/>
          <p:cNvSpPr txBox="1"/>
          <p:nvPr/>
        </p:nvSpPr>
        <p:spPr>
          <a:xfrm>
            <a:off x="365760" y="4182727"/>
            <a:ext cx="1417320" cy="485938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화학·건설·물류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(5개사)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1874520" y="4164439"/>
            <a:ext cx="5715000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▶"/>
            </a:pPr>
            <a:r>
              <a:rPr lang="en-US" sz="1050" dirty="0">
                <a:solidFill>
                  <a:schemeClr val="tx1"/>
                </a:solidFill>
              </a:rPr>
              <a:t>건설: SAP S4HANA 구축 사전진단 및 AI 추진과제 도출, 케미칼·LGL 과제 도출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▶"/>
            </a:pPr>
            <a:r>
              <a:rPr lang="en-US" sz="1050" dirty="0">
                <a:solidFill>
                  <a:schemeClr val="tx1"/>
                </a:solidFill>
              </a:rPr>
              <a:t>물산: AI 전략·과제 도출 → AI 문서탐색 플랫폼('27), 알미늄 임원 AI 교육 外</a:t>
            </a:r>
            <a:endParaRPr lang="en-US" sz="1050" dirty="0"/>
          </a:p>
        </p:txBody>
      </p:sp>
      <p:sp>
        <p:nvSpPr>
          <p:cNvPr id="41" name="표시 화학·건설·물류 1"/>
          <p:cNvSpPr/>
          <p:nvPr/>
        </p:nvSpPr>
        <p:spPr>
          <a:xfrm>
            <a:off x="7918704" y="4288536"/>
            <a:ext cx="274320" cy="274320"/>
          </a:xfrm>
          <a:prstGeom prst="ellipse">
            <a:avLst/>
          </a:prstGeom>
          <a:solidFill>
            <a:srgbClr val="1F4E9A"/>
          </a:solidFill>
          <a:ln w="15875">
            <a:solidFill>
              <a:srgbClr val="1F4E9A"/>
            </a:solidFill>
            <a:prstDash val="solid"/>
          </a:ln>
        </p:spPr>
      </p:sp>
      <p:sp>
        <p:nvSpPr>
          <p:cNvPr id="42" name="표시 화학·건설·물류 2"/>
          <p:cNvSpPr/>
          <p:nvPr/>
        </p:nvSpPr>
        <p:spPr>
          <a:xfrm>
            <a:off x="8759952" y="4288536"/>
            <a:ext cx="274320" cy="274320"/>
          </a:xfrm>
          <a:prstGeom prst="ellipse">
            <a:avLst/>
          </a:prstGeom>
          <a:solidFill>
            <a:srgbClr val="1F4E9A"/>
          </a:solidFill>
          <a:ln w="15875">
            <a:solidFill>
              <a:srgbClr val="1F4E9A"/>
            </a:solidFill>
            <a:prstDash val="solid"/>
          </a:ln>
        </p:spPr>
      </p:sp>
      <p:sp>
        <p:nvSpPr>
          <p:cNvPr id="43" name="표시 화학·건설·물류 3"/>
          <p:cNvSpPr/>
          <p:nvPr/>
        </p:nvSpPr>
        <p:spPr>
          <a:xfrm>
            <a:off x="9601200" y="4288536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A94A6"/>
            </a:solidFill>
            <a:prstDash val="solid"/>
          </a:ln>
        </p:spPr>
      </p:sp>
      <p:sp>
        <p:nvSpPr>
          <p:cNvPr id="44" name="표시 화학·건설·물류 4"/>
          <p:cNvSpPr/>
          <p:nvPr/>
        </p:nvSpPr>
        <p:spPr>
          <a:xfrm>
            <a:off x="10442448" y="4288536"/>
            <a:ext cx="274320" cy="274320"/>
          </a:xfrm>
          <a:prstGeom prst="ellipse">
            <a:avLst/>
          </a:prstGeom>
          <a:solidFill>
            <a:srgbClr val="1F4E9A"/>
          </a:solidFill>
          <a:ln w="15875">
            <a:solidFill>
              <a:srgbClr val="1F4E9A"/>
            </a:solidFill>
            <a:prstDash val="solid"/>
          </a:ln>
        </p:spPr>
      </p:sp>
      <p:sp>
        <p:nvSpPr>
          <p:cNvPr id="45" name="표시 화학·건설·물류 5"/>
          <p:cNvSpPr/>
          <p:nvPr/>
        </p:nvSpPr>
        <p:spPr>
          <a:xfrm>
            <a:off x="11283696" y="4288536"/>
            <a:ext cx="274320" cy="274320"/>
          </a:xfrm>
          <a:prstGeom prst="ellipse">
            <a:avLst/>
          </a:prstGeom>
          <a:solidFill>
            <a:srgbClr val="1F4E9A"/>
          </a:solidFill>
          <a:ln w="15875">
            <a:solidFill>
              <a:srgbClr val="1F4E9A"/>
            </a:solidFill>
            <a:prstDash val="solid"/>
          </a:ln>
        </p:spPr>
      </p:sp>
      <p:sp>
        <p:nvSpPr>
          <p:cNvPr id="46" name="행 구분 5"/>
          <p:cNvSpPr/>
          <p:nvPr/>
        </p:nvSpPr>
        <p:spPr>
          <a:xfrm>
            <a:off x="365760" y="4705241"/>
            <a:ext cx="11457432" cy="0"/>
          </a:xfrm>
          <a:prstGeom prst="line">
            <a:avLst/>
          </a:prstGeom>
          <a:noFill/>
          <a:ln w="12700">
            <a:solidFill>
              <a:srgbClr val="A6ADB8"/>
            </a:solidFill>
            <a:prstDash val="solid"/>
          </a:ln>
        </p:spPr>
      </p:sp>
      <p:sp>
        <p:nvSpPr>
          <p:cNvPr id="47" name="행 라벨 금융"/>
          <p:cNvSpPr txBox="1"/>
          <p:nvPr/>
        </p:nvSpPr>
        <p:spPr>
          <a:xfrm>
            <a:off x="365760" y="4741817"/>
            <a:ext cx="1417320" cy="485938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금융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(2개사)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1874520" y="4723529"/>
            <a:ext cx="5715000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▶"/>
            </a:pPr>
            <a:r>
              <a:rPr lang="en-US" sz="1050" dirty="0">
                <a:solidFill>
                  <a:schemeClr val="tx1"/>
                </a:solidFill>
              </a:rPr>
              <a:t>캐피탈: 본원적 AI 과제 발굴 컨설팅, 임원 대상 AI 리터러시 및 실습 교육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▶"/>
            </a:pPr>
            <a:r>
              <a:rPr lang="en-US" sz="1050" dirty="0">
                <a:solidFill>
                  <a:schemeClr val="tx1"/>
                </a:solidFill>
              </a:rPr>
              <a:t>군인공제회(대외): 차세대 시스템 구축 AI 전략 수립 및 과제 도출 外</a:t>
            </a:r>
            <a:endParaRPr lang="en-US" sz="1050" dirty="0"/>
          </a:p>
        </p:txBody>
      </p:sp>
      <p:sp>
        <p:nvSpPr>
          <p:cNvPr id="49" name="표시 금융 1"/>
          <p:cNvSpPr/>
          <p:nvPr/>
        </p:nvSpPr>
        <p:spPr>
          <a:xfrm>
            <a:off x="7918704" y="4847626"/>
            <a:ext cx="274320" cy="274320"/>
          </a:xfrm>
          <a:prstGeom prst="ellipse">
            <a:avLst/>
          </a:prstGeom>
          <a:solidFill>
            <a:srgbClr val="1F4E9A"/>
          </a:solidFill>
          <a:ln w="15875">
            <a:solidFill>
              <a:srgbClr val="1F4E9A"/>
            </a:solidFill>
            <a:prstDash val="solid"/>
          </a:ln>
        </p:spPr>
      </p:sp>
      <p:sp>
        <p:nvSpPr>
          <p:cNvPr id="50" name="표시 금융 2"/>
          <p:cNvSpPr/>
          <p:nvPr/>
        </p:nvSpPr>
        <p:spPr>
          <a:xfrm>
            <a:off x="8759952" y="4847626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A94A6"/>
            </a:solidFill>
            <a:prstDash val="solid"/>
          </a:ln>
        </p:spPr>
      </p:sp>
      <p:sp>
        <p:nvSpPr>
          <p:cNvPr id="51" name="표시 금융 3"/>
          <p:cNvSpPr/>
          <p:nvPr/>
        </p:nvSpPr>
        <p:spPr>
          <a:xfrm>
            <a:off x="9601200" y="4847626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A94A6"/>
            </a:solidFill>
            <a:prstDash val="solid"/>
          </a:ln>
        </p:spPr>
      </p:sp>
      <p:sp>
        <p:nvSpPr>
          <p:cNvPr id="52" name="표시 금융 4"/>
          <p:cNvSpPr/>
          <p:nvPr/>
        </p:nvSpPr>
        <p:spPr>
          <a:xfrm>
            <a:off x="10442448" y="4847626"/>
            <a:ext cx="274320" cy="274320"/>
          </a:xfrm>
          <a:prstGeom prst="ellipse">
            <a:avLst/>
          </a:prstGeom>
          <a:solidFill>
            <a:srgbClr val="1F4E9A"/>
          </a:solidFill>
          <a:ln w="15875">
            <a:solidFill>
              <a:srgbClr val="1F4E9A"/>
            </a:solidFill>
            <a:prstDash val="solid"/>
          </a:ln>
        </p:spPr>
      </p:sp>
      <p:sp>
        <p:nvSpPr>
          <p:cNvPr id="53" name="표시 금융 5"/>
          <p:cNvSpPr/>
          <p:nvPr/>
        </p:nvSpPr>
        <p:spPr>
          <a:xfrm>
            <a:off x="11283696" y="4847626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A94A6"/>
            </a:solidFill>
            <a:prstDash val="solid"/>
          </a:ln>
        </p:spPr>
      </p:sp>
      <p:sp>
        <p:nvSpPr>
          <p:cNvPr id="54" name="행 구분 6"/>
          <p:cNvSpPr/>
          <p:nvPr/>
        </p:nvSpPr>
        <p:spPr>
          <a:xfrm>
            <a:off x="365760" y="5264331"/>
            <a:ext cx="11457432" cy="0"/>
          </a:xfrm>
          <a:prstGeom prst="line">
            <a:avLst/>
          </a:prstGeom>
          <a:noFill/>
          <a:ln w="12700">
            <a:solidFill>
              <a:srgbClr val="A6ADB8"/>
            </a:solidFill>
            <a:prstDash val="solid"/>
          </a:ln>
        </p:spPr>
      </p:sp>
      <p:sp>
        <p:nvSpPr>
          <p:cNvPr id="55" name="행 라벨 공공·교통"/>
          <p:cNvSpPr txBox="1"/>
          <p:nvPr/>
        </p:nvSpPr>
        <p:spPr>
          <a:xfrm>
            <a:off x="365760" y="5300907"/>
            <a:ext cx="1417320" cy="485938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공공·교통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(대외 2개사)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1874520" y="5282619"/>
            <a:ext cx="5715000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▶"/>
            </a:pPr>
            <a:r>
              <a:rPr lang="en-US" sz="1050" dirty="0">
                <a:solidFill>
                  <a:schemeClr val="tx1"/>
                </a:solidFill>
              </a:rPr>
              <a:t>공항철도: AI 전략수립 및 과제 도출 → AX과제 이행 프로젝트('27, 5.71억)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▶"/>
            </a:pPr>
            <a:r>
              <a:rPr lang="en-US" sz="1050" dirty="0">
                <a:solidFill>
                  <a:schemeClr val="tx1"/>
                </a:solidFill>
              </a:rPr>
              <a:t>신분당선: 차세대 Pre컨설팅 → 차세대통합정보시스템 수주(129억) 外</a:t>
            </a:r>
            <a:endParaRPr lang="en-US" sz="1050" dirty="0"/>
          </a:p>
        </p:txBody>
      </p:sp>
      <p:sp>
        <p:nvSpPr>
          <p:cNvPr id="57" name="표시 공공·교통 1"/>
          <p:cNvSpPr/>
          <p:nvPr/>
        </p:nvSpPr>
        <p:spPr>
          <a:xfrm>
            <a:off x="7918704" y="5406717"/>
            <a:ext cx="274320" cy="274320"/>
          </a:xfrm>
          <a:prstGeom prst="ellipse">
            <a:avLst/>
          </a:prstGeom>
          <a:solidFill>
            <a:srgbClr val="1F4E9A"/>
          </a:solidFill>
          <a:ln w="15875">
            <a:solidFill>
              <a:srgbClr val="1F4E9A"/>
            </a:solidFill>
            <a:prstDash val="solid"/>
          </a:ln>
        </p:spPr>
      </p:sp>
      <p:sp>
        <p:nvSpPr>
          <p:cNvPr id="58" name="표시 공공·교통 2"/>
          <p:cNvSpPr/>
          <p:nvPr/>
        </p:nvSpPr>
        <p:spPr>
          <a:xfrm>
            <a:off x="8759952" y="5406717"/>
            <a:ext cx="274320" cy="274320"/>
          </a:xfrm>
          <a:prstGeom prst="ellipse">
            <a:avLst/>
          </a:prstGeom>
          <a:solidFill>
            <a:srgbClr val="1F4E9A"/>
          </a:solidFill>
          <a:ln w="15875">
            <a:solidFill>
              <a:srgbClr val="1F4E9A"/>
            </a:solidFill>
            <a:prstDash val="solid"/>
          </a:ln>
        </p:spPr>
      </p:sp>
      <p:sp>
        <p:nvSpPr>
          <p:cNvPr id="59" name="표시 공공·교통 3"/>
          <p:cNvSpPr/>
          <p:nvPr/>
        </p:nvSpPr>
        <p:spPr>
          <a:xfrm>
            <a:off x="9601200" y="5406717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A94A6"/>
            </a:solidFill>
            <a:prstDash val="solid"/>
          </a:ln>
        </p:spPr>
      </p:sp>
      <p:sp>
        <p:nvSpPr>
          <p:cNvPr id="60" name="표시 공공·교통 4"/>
          <p:cNvSpPr/>
          <p:nvPr/>
        </p:nvSpPr>
        <p:spPr>
          <a:xfrm>
            <a:off x="10442448" y="5406717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A94A6"/>
            </a:solidFill>
            <a:prstDash val="solid"/>
          </a:ln>
        </p:spPr>
      </p:sp>
      <p:sp>
        <p:nvSpPr>
          <p:cNvPr id="61" name="표시 공공·교통 5"/>
          <p:cNvSpPr/>
          <p:nvPr/>
        </p:nvSpPr>
        <p:spPr>
          <a:xfrm>
            <a:off x="11283696" y="5406717"/>
            <a:ext cx="274320" cy="274320"/>
          </a:xfrm>
          <a:prstGeom prst="ellipse">
            <a:avLst/>
          </a:prstGeom>
          <a:solidFill>
            <a:srgbClr val="1F4E9A"/>
          </a:solidFill>
          <a:ln w="15875">
            <a:solidFill>
              <a:srgbClr val="1F4E9A"/>
            </a:solidFill>
            <a:prstDash val="solid"/>
          </a:ln>
        </p:spPr>
      </p:sp>
      <p:sp>
        <p:nvSpPr>
          <p:cNvPr id="62" name="행 구분 7"/>
          <p:cNvSpPr/>
          <p:nvPr/>
        </p:nvSpPr>
        <p:spPr>
          <a:xfrm>
            <a:off x="365760" y="5823422"/>
            <a:ext cx="11457432" cy="0"/>
          </a:xfrm>
          <a:prstGeom prst="line">
            <a:avLst/>
          </a:prstGeom>
          <a:noFill/>
          <a:ln w="12700">
            <a:solidFill>
              <a:srgbClr val="A6ADB8"/>
            </a:solidFill>
            <a:prstDash val="solid"/>
          </a:ln>
        </p:spPr>
      </p:sp>
      <p:sp>
        <p:nvSpPr>
          <p:cNvPr id="63" name="행 라벨 제조"/>
          <p:cNvSpPr txBox="1"/>
          <p:nvPr/>
        </p:nvSpPr>
        <p:spPr>
          <a:xfrm>
            <a:off x="365760" y="5859998"/>
            <a:ext cx="1417320" cy="485938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제조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(대외 2개사)</a:t>
            </a:r>
            <a:endParaRPr lang="en-US" sz="1300" dirty="0"/>
          </a:p>
        </p:txBody>
      </p:sp>
      <p:sp>
        <p:nvSpPr>
          <p:cNvPr id="64" name="Text 62"/>
          <p:cNvSpPr txBox="1"/>
          <p:nvPr/>
        </p:nvSpPr>
        <p:spPr>
          <a:xfrm>
            <a:off x="1874520" y="5841710"/>
            <a:ext cx="5715000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▶"/>
            </a:pPr>
            <a:r>
              <a:rPr lang="en-US" sz="1050" dirty="0">
                <a:solidFill>
                  <a:schemeClr val="tx1"/>
                </a:solidFill>
              </a:rPr>
              <a:t>KT&amp;G: 차세대 Pre컨설팅, AI 기반 PLM 고도화 방안 수립 → AI과제 실행('27)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▶"/>
            </a:pPr>
            <a:r>
              <a:rPr lang="en-US" sz="1050" dirty="0">
                <a:solidFill>
                  <a:schemeClr val="tx1"/>
                </a:solidFill>
              </a:rPr>
              <a:t>씨텍: 임원·실무자 대상 AI 리터러시·실습 및 과제 도출 교육 外</a:t>
            </a:r>
            <a:endParaRPr lang="en-US" sz="1050" dirty="0"/>
          </a:p>
        </p:txBody>
      </p:sp>
      <p:sp>
        <p:nvSpPr>
          <p:cNvPr id="65" name="표시 제조 1"/>
          <p:cNvSpPr/>
          <p:nvPr/>
        </p:nvSpPr>
        <p:spPr>
          <a:xfrm>
            <a:off x="7918704" y="5965807"/>
            <a:ext cx="274320" cy="274320"/>
          </a:xfrm>
          <a:prstGeom prst="ellipse">
            <a:avLst/>
          </a:prstGeom>
          <a:solidFill>
            <a:srgbClr val="1F4E9A"/>
          </a:solidFill>
          <a:ln w="15875">
            <a:solidFill>
              <a:srgbClr val="1F4E9A"/>
            </a:solidFill>
            <a:prstDash val="solid"/>
          </a:ln>
        </p:spPr>
      </p:sp>
      <p:sp>
        <p:nvSpPr>
          <p:cNvPr id="66" name="표시 제조 2"/>
          <p:cNvSpPr/>
          <p:nvPr/>
        </p:nvSpPr>
        <p:spPr>
          <a:xfrm>
            <a:off x="8759952" y="5965807"/>
            <a:ext cx="274320" cy="274320"/>
          </a:xfrm>
          <a:prstGeom prst="ellipse">
            <a:avLst/>
          </a:prstGeom>
          <a:solidFill>
            <a:srgbClr val="1F4E9A"/>
          </a:solidFill>
          <a:ln w="15875">
            <a:solidFill>
              <a:srgbClr val="1F4E9A"/>
            </a:solidFill>
            <a:prstDash val="solid"/>
          </a:ln>
        </p:spPr>
      </p:sp>
      <p:sp>
        <p:nvSpPr>
          <p:cNvPr id="67" name="표시 제조 3"/>
          <p:cNvSpPr/>
          <p:nvPr/>
        </p:nvSpPr>
        <p:spPr>
          <a:xfrm>
            <a:off x="9601200" y="5965807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A94A6"/>
            </a:solidFill>
            <a:prstDash val="solid"/>
          </a:ln>
        </p:spPr>
      </p:sp>
      <p:sp>
        <p:nvSpPr>
          <p:cNvPr id="68" name="표시 제조 4"/>
          <p:cNvSpPr/>
          <p:nvPr/>
        </p:nvSpPr>
        <p:spPr>
          <a:xfrm>
            <a:off x="10442448" y="5965807"/>
            <a:ext cx="274320" cy="274320"/>
          </a:xfrm>
          <a:prstGeom prst="ellipse">
            <a:avLst/>
          </a:prstGeom>
          <a:solidFill>
            <a:srgbClr val="1F4E9A"/>
          </a:solidFill>
          <a:ln w="15875">
            <a:solidFill>
              <a:srgbClr val="1F4E9A"/>
            </a:solidFill>
            <a:prstDash val="solid"/>
          </a:ln>
        </p:spPr>
      </p:sp>
      <p:sp>
        <p:nvSpPr>
          <p:cNvPr id="69" name="표시 제조 5"/>
          <p:cNvSpPr/>
          <p:nvPr/>
        </p:nvSpPr>
        <p:spPr>
          <a:xfrm>
            <a:off x="11283696" y="5965807"/>
            <a:ext cx="274320" cy="274320"/>
          </a:xfrm>
          <a:prstGeom prst="ellipse">
            <a:avLst/>
          </a:prstGeom>
          <a:solidFill>
            <a:srgbClr val="1F4E9A"/>
          </a:solidFill>
          <a:ln w="15875">
            <a:solidFill>
              <a:srgbClr val="1F4E9A"/>
            </a:solidFill>
            <a:prstDash val="solid"/>
          </a:ln>
        </p:spPr>
      </p:sp>
      <p:sp>
        <p:nvSpPr>
          <p:cNvPr id="70" name="행 구분 끝"/>
          <p:cNvSpPr/>
          <p:nvPr/>
        </p:nvSpPr>
        <p:spPr>
          <a:xfrm>
            <a:off x="365760" y="6382512"/>
            <a:ext cx="11457432" cy="0"/>
          </a:xfrm>
          <a:prstGeom prst="line">
            <a:avLst/>
          </a:prstGeom>
          <a:noFill/>
          <a:ln w="12700">
            <a:solidFill>
              <a:srgbClr val="A6ADB8"/>
            </a:solidFill>
            <a:prstDash val="solid"/>
          </a:ln>
        </p:spPr>
      </p:sp>
      <p:sp>
        <p:nvSpPr>
          <p:cNvPr id="71" name="실적 요약"/>
          <p:cNvSpPr txBox="1"/>
          <p:nvPr/>
        </p:nvSpPr>
        <p:spPr>
          <a:xfrm>
            <a:off x="365760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프로젝트 27건 (컨설팅 21 · 교육 6)</a:t>
            </a:r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   |   AI과제 발굴 108건   |   AI 사업 연계 21.1억</a:t>
            </a:r>
            <a:endParaRPr lang="en-US" sz="1050" dirty="0"/>
          </a:p>
        </p:txBody>
      </p:sp>
      <p:sp>
        <p:nvSpPr>
          <p:cNvPr id="72" name="범례 수행"/>
          <p:cNvSpPr/>
          <p:nvPr/>
        </p:nvSpPr>
        <p:spPr>
          <a:xfrm>
            <a:off x="7680960" y="6519672"/>
            <a:ext cx="146304" cy="146304"/>
          </a:xfrm>
          <a:prstGeom prst="ellipse">
            <a:avLst/>
          </a:prstGeom>
          <a:solidFill>
            <a:srgbClr val="1F4E9A"/>
          </a:solidFill>
          <a:ln w="12700">
            <a:solidFill>
              <a:srgbClr val="1F4E9A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786384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수행</a:t>
            </a:r>
            <a:endParaRPr lang="en-US" sz="950" dirty="0"/>
          </a:p>
        </p:txBody>
      </p:sp>
      <p:sp>
        <p:nvSpPr>
          <p:cNvPr id="74" name="범례 미수행"/>
          <p:cNvSpPr/>
          <p:nvPr/>
        </p:nvSpPr>
        <p:spPr>
          <a:xfrm>
            <a:off x="8366760" y="6519672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8549640" y="64556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해당 없음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X Consulting">
  <a:themeElements>
    <a:clrScheme name="AX Consulting">
      <a:dk1>
        <a:srgbClr val="1F2329"/>
      </a:dk1>
      <a:lt1>
        <a:srgbClr val="FFFFFF"/>
      </a:lt1>
      <a:dk2>
        <a:srgbClr val="2F3E55"/>
      </a:dk2>
      <a:lt2>
        <a:srgbClr val="F2F4F7"/>
      </a:lt2>
      <a:accent1>
        <a:srgbClr val="1F4E9A"/>
      </a:accent1>
      <a:accent2>
        <a:srgbClr val="D0342C"/>
      </a:accent2>
      <a:accent3>
        <a:srgbClr val="8A94A6"/>
      </a:accent3>
      <a:accent4>
        <a:srgbClr val="E3EAF5"/>
      </a:accent4>
      <a:accent5>
        <a:srgbClr val="5B6B82"/>
      </a:accent5>
      <a:accent6>
        <a:srgbClr val="0F7B6C"/>
      </a:accent6>
      <a:hlink>
        <a:srgbClr val="1F4E9A"/>
      </a:hlink>
      <a:folHlink>
        <a:srgbClr val="5B6B82"/>
      </a:folHlink>
    </a:clrScheme>
    <a:fontScheme name="AX Consulting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2026-10-27T06:56:01Z</dcterms:created>
  <dcterms:modified xsi:type="dcterms:W3CDTF">2026-10-27T06:56:01Z</dcterms:modified>
</cp:coreProperties>
</file>