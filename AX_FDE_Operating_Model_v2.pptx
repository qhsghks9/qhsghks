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X 전환 성공 조건" id="{08767a7c-375e-f54b-1cac-6066905bce8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[도입배경] PoC 이후 확산 실패: 파일럿이 운영 전환·성과로 이어지지 못하는 'PoC의 늪' 반복 / 전략–실행 단절: 전략·자문은 있으나 현업 프로세스·데이터·시스템에 연결해 구현할 역량 부족 / 극단적인 인력 운영: 소수 AI 인력 집중 또는 대규모 외주 의존으로 융합형 인력 부재 / 유지보수 비용 지속 지출: 현장 적합성 부족으로 구축 후 수정·SM 비용 지속, 성과 측정 미흡.
[엑센츄어] 고객별 소규모·상시·성과책임형 Pod가 문제 정의→현장 공동설계→신속 프로토타입→운영환경 배포→성과 측정→표준화 확산을 수행. 수개월 로드맵 대신 짧은 주기 반복, 코드·플레이북·AI 에이전트 스킬 자산화.
[삼성SDS] FDE One Pod(Biz·프로세스·IT·AI·Data·고객)가 짧은 Sprint로 Discovery(개선기회·과제 선정)→Re-Design(프로세스·Infra/Data/보안 설계)→Activate(개발 Agent 협업·대시보드 모니터링)→Scale(성과 측정·운영체계 수립) 수행. '26년 내 FDE 200명 양성·현장 배치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2. AX 전환 성공 조건 &gt; 사례 3. 엑센츄어, 삼성 SDS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성공의 관건은 기술이 아닌 '현장 실행력'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현장 투입형 FDE 운영 모델 도입 필요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258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도입 배경 및 수행 방안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73352"/>
            <a:ext cx="61722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0" y="1325880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673352"/>
            <a:ext cx="505663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01368"/>
            <a:ext cx="502920" cy="1463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801368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</a:t>
            </a:r>
            <a:endParaRPr lang="en-US" sz="1400" dirty="0"/>
          </a:p>
        </p:txBody>
      </p:sp>
      <p:sp>
        <p:nvSpPr>
          <p:cNvPr id="10" name="bg-1"/>
          <p:cNvSpPr/>
          <p:nvPr/>
        </p:nvSpPr>
        <p:spPr>
          <a:xfrm>
            <a:off x="941832" y="1801368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180136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이후 확산 실패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파일럿에 그치고 운영 전환 미흡</a:t>
            </a:r>
            <a:endParaRPr lang="en-US" sz="1500" dirty="0"/>
          </a:p>
        </p:txBody>
      </p:sp>
      <p:sp>
        <p:nvSpPr>
          <p:cNvPr id="12" name="bg-2"/>
          <p:cNvSpPr/>
          <p:nvPr/>
        </p:nvSpPr>
        <p:spPr>
          <a:xfrm>
            <a:off x="3776472" y="1801368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76472" y="1801368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전략–실행 단절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전략은 있으나 구현 역량 부재</a:t>
            </a:r>
            <a:endParaRPr lang="en-US" sz="1500" dirty="0"/>
          </a:p>
        </p:txBody>
      </p:sp>
      <p:sp>
        <p:nvSpPr>
          <p:cNvPr id="14" name="bg-3"/>
          <p:cNvSpPr/>
          <p:nvPr/>
        </p:nvSpPr>
        <p:spPr>
          <a:xfrm>
            <a:off x="941832" y="2569464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256946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극단적인 인력 운영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인력 편중 · 외주 의존</a:t>
            </a:r>
            <a:endParaRPr lang="en-US" sz="1500" dirty="0"/>
          </a:p>
        </p:txBody>
      </p:sp>
      <p:sp>
        <p:nvSpPr>
          <p:cNvPr id="16" name="bg-4"/>
          <p:cNvSpPr/>
          <p:nvPr/>
        </p:nvSpPr>
        <p:spPr>
          <a:xfrm>
            <a:off x="3776472" y="2569464"/>
            <a:ext cx="2761488" cy="69494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256946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 비용 지속 지출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후 비용↑ · 성과 측정↓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3319272"/>
            <a:ext cx="4526280" cy="640080"/>
          </a:xfrm>
          <a:prstGeom prst="flowChartMerg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37413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적용 중심의 FDE 운영 모델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502920" cy="199339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995928"/>
            <a:ext cx="5029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</a:t>
            </a:r>
            <a:endParaRPr lang="en-US" sz="1400" dirty="0"/>
          </a:p>
        </p:txBody>
      </p:sp>
      <p:sp>
        <p:nvSpPr>
          <p:cNvPr id="22" name="ex-title-1"/>
          <p:cNvSpPr/>
          <p:nvPr/>
        </p:nvSpPr>
        <p:spPr>
          <a:xfrm>
            <a:off x="941832" y="3995928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" y="3995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현장 밀착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45536" y="3995928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82696" y="3995928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상주, 실데이터·시스템 기반 개발</a:t>
            </a:r>
            <a:endParaRPr lang="en-US" sz="1250" dirty="0"/>
          </a:p>
        </p:txBody>
      </p:sp>
      <p:sp>
        <p:nvSpPr>
          <p:cNvPr id="26" name="ex-title-2"/>
          <p:cNvSpPr/>
          <p:nvPr/>
        </p:nvSpPr>
        <p:spPr>
          <a:xfrm>
            <a:off x="941832" y="4507992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" y="45079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전략–엔지니어링 통합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45536" y="4507992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82696" y="450799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전략을 시스템·프로세스로 즉시 구현</a:t>
            </a:r>
            <a:endParaRPr lang="en-US" sz="1250" dirty="0"/>
          </a:p>
        </p:txBody>
      </p:sp>
      <p:sp>
        <p:nvSpPr>
          <p:cNvPr id="30" name="ex-title-3"/>
          <p:cNvSpPr/>
          <p:nvPr/>
        </p:nvSpPr>
        <p:spPr>
          <a:xfrm>
            <a:off x="941832" y="5020056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" y="502005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산업·기능 전문성 결합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45536" y="5020056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82696" y="5020056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Biz·IT·AI·Data 융합 One Pod 운영</a:t>
            </a:r>
            <a:endParaRPr lang="en-US" sz="1250" dirty="0"/>
          </a:p>
        </p:txBody>
      </p:sp>
      <p:sp>
        <p:nvSpPr>
          <p:cNvPr id="34" name="ex-title-4"/>
          <p:cNvSpPr/>
          <p:nvPr/>
        </p:nvSpPr>
        <p:spPr>
          <a:xfrm>
            <a:off x="941832" y="5532120"/>
            <a:ext cx="2148840" cy="457200"/>
          </a:xfrm>
          <a:prstGeom prst="rect">
            <a:avLst/>
          </a:prstGeom>
          <a:solidFill>
            <a:srgbClr val="E8EC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5532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책임 · 자산화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145536" y="5532120"/>
            <a:ext cx="33924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82696" y="553212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KPI로 성과 측정, 자산화 후 전사 확산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766560" y="1801368"/>
            <a:ext cx="731520" cy="2103120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0" y="1801368"/>
            <a:ext cx="731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츄어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1847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accenture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635240" y="230428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파일럿을 고객 현장에 직접 투입 → 성과로 전환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635240" y="271576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35240" y="271576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63356" y="2944368"/>
            <a:ext cx="146304" cy="0"/>
          </a:xfrm>
          <a:prstGeom prst="line">
            <a:avLst/>
          </a:prstGeom>
          <a:noFill/>
          <a:ln w="158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27948" y="271576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27948" y="271576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공동설계·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프로토타입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56064" y="2944368"/>
            <a:ext cx="146304" cy="0"/>
          </a:xfrm>
          <a:prstGeom prst="line">
            <a:avLst/>
          </a:prstGeom>
          <a:noFill/>
          <a:ln w="158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820656" y="271576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20656" y="271576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748772" y="2944368"/>
            <a:ext cx="146304" cy="0"/>
          </a:xfrm>
          <a:prstGeom prst="line">
            <a:avLst/>
          </a:prstGeom>
          <a:noFill/>
          <a:ln w="158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913364" y="271576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913364" y="271576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635240" y="3355848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소규모·상시·성과책임형 Pod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766560" y="3995928"/>
            <a:ext cx="731520" cy="1993392"/>
          </a:xfrm>
          <a:prstGeom prst="rect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66560" y="3995928"/>
            <a:ext cx="73152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SDS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63524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SDS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7635240" y="449884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고객사 AX 방법론 수립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635240" y="491032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635240" y="491032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563356" y="5138928"/>
            <a:ext cx="146304" cy="0"/>
          </a:xfrm>
          <a:prstGeom prst="line">
            <a:avLst/>
          </a:prstGeom>
          <a:noFill/>
          <a:ln w="158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27948" y="491032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27948" y="491032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Re-Design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656064" y="5138928"/>
            <a:ext cx="146304" cy="0"/>
          </a:xfrm>
          <a:prstGeom prst="line">
            <a:avLst/>
          </a:prstGeom>
          <a:noFill/>
          <a:ln w="158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820656" y="491032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820656" y="491032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Activate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748772" y="5138928"/>
            <a:ext cx="146304" cy="0"/>
          </a:xfrm>
          <a:prstGeom prst="line">
            <a:avLst/>
          </a:prstGeom>
          <a:noFill/>
          <a:ln w="15875">
            <a:solidFill>
              <a:srgbClr val="2F5597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913364" y="4910328"/>
            <a:ext cx="909828" cy="457200"/>
          </a:xfrm>
          <a:prstGeom prst="roundRect">
            <a:avLst>
              <a:gd name="adj" fmla="val 12000"/>
            </a:avLst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913364" y="4910328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Scale</a:t>
            </a:r>
            <a:endParaRPr lang="en-US" sz="1100" dirty="0"/>
          </a:p>
        </p:txBody>
      </p:sp>
      <p:sp>
        <p:nvSpPr>
          <p:cNvPr id="69" name="sds-stat"/>
          <p:cNvSpPr txBox="1"/>
          <p:nvPr/>
        </p:nvSpPr>
        <p:spPr>
          <a:xfrm>
            <a:off x="7635240" y="550468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 </a:t>
            </a:r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'26년 내 </a:t>
            </a:r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200명</a:t>
            </a:r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현장 배치</a:t>
            </a:r>
            <a:endParaRPr lang="en-US" sz="1300" dirty="0"/>
          </a:p>
        </p:txBody>
      </p:sp>
      <p:sp>
        <p:nvSpPr>
          <p:cNvPr id="70" name="implication"/>
          <p:cNvSpPr/>
          <p:nvPr/>
        </p:nvSpPr>
        <p:spPr>
          <a:xfrm>
            <a:off x="365760" y="6117336"/>
            <a:ext cx="11457432" cy="457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48640" y="611733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투입형 융합 Pod로 </a:t>
            </a:r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'빠른 실행 → 성과 책임 → 확산'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구조 확보가 AX 성공의 관건</a:t>
            </a:r>
            <a:endParaRPr lang="en-US" sz="1500" dirty="0"/>
          </a:p>
        </p:txBody>
      </p:sp>
      <p:sp>
        <p:nvSpPr>
          <p:cNvPr id="72" name="Text 70"/>
          <p:cNvSpPr txBox="1"/>
          <p:nvPr/>
        </p:nvSpPr>
        <p:spPr>
          <a:xfrm>
            <a:off x="365760" y="6611112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FDE(Forward Deployed Engineer): 고객 현장에 상주하며 성과까지 책임지는 융합형 엔지니어   |   출처: Accenture 공개자료, Real Summit 2026 삼성SDS 대표이사 기조연설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A100FF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전환 성공 조건 - FDE 운영 모델 (임원 보고)</dc:title>
  <dc:subject>PptxGenJS Presentation</dc:subject>
  <dc:creator>PptxGenJS</dc:creator>
  <cp:lastModifiedBy>PptxGenJS</cp:lastModifiedBy>
  <cp:revision>1</cp:revision>
  <dcterms:created xsi:type="dcterms:W3CDTF">2026-10-19T01:26:19Z</dcterms:created>
  <dcterms:modified xsi:type="dcterms:W3CDTF">2026-10-19T01:26:19Z</dcterms:modified>
</cp:coreProperties>
</file>