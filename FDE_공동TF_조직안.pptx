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상단: 그룹사 Value Chain별 AI과제 Pool(108건)과 대표 과제. 하단: 엔지니어 협업(AI혁신센터·D&amp;AX부문) + Biz 그룹(AX·Biz컨설팅팀) 공동 TF가 그룹사에 AX 진단·과제 발굴, MVP 구축·검증, 구축·운영 이관 서비스를 제공.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③ FDE를 통한 대내 사업 확대</a:t>
            </a:r>
            <a:endParaRPr lang="en-US" sz="2600" dirty="0"/>
          </a:p>
        </p:txBody>
      </p:sp>
      <p:sp>
        <p:nvSpPr>
          <p:cNvPr id="3" name="머리표"/>
          <p:cNvSpPr/>
          <p:nvPr/>
        </p:nvSpPr>
        <p:spPr>
          <a:xfrm>
            <a:off x="393192" y="1097280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FDE 공동 TF 조직 (案)</a:t>
            </a:r>
            <a:endParaRPr lang="en-US" sz="1600" dirty="0"/>
          </a:p>
        </p:txBody>
      </p:sp>
      <p:sp>
        <p:nvSpPr>
          <p:cNvPr id="5" name="Value Chain 패널"/>
          <p:cNvSpPr/>
          <p:nvPr/>
        </p:nvSpPr>
        <p:spPr>
          <a:xfrm>
            <a:off x="365760" y="1463040"/>
            <a:ext cx="11457432" cy="1298448"/>
          </a:xfrm>
          <a:prstGeom prst="rect">
            <a:avLst/>
          </a:prstGeom>
          <a:solidFill>
            <a:srgbClr val="F7F8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36192"/>
            <a:ext cx="868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그룹사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Chain</a:t>
            </a:r>
            <a:endParaRPr lang="en-US" sz="1100" dirty="0"/>
          </a:p>
        </p:txBody>
      </p:sp>
      <p:sp>
        <p:nvSpPr>
          <p:cNvPr id="7" name="VC R&amp;D"/>
          <p:cNvSpPr/>
          <p:nvPr/>
        </p:nvSpPr>
        <p:spPr>
          <a:xfrm>
            <a:off x="1417320" y="1591056"/>
            <a:ext cx="1755648" cy="384048"/>
          </a:xfrm>
          <a:prstGeom prst="homePlate">
            <a:avLst/>
          </a:prstGeom>
          <a:solidFill>
            <a:srgbClr val="8A9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R&amp;D</a:t>
            </a:r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  11건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4825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PLM 고도화 (KT&amp;G)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연구·특허 문서 탐색</a:t>
            </a:r>
            <a:endParaRPr lang="en-US" sz="900" dirty="0"/>
          </a:p>
        </p:txBody>
      </p:sp>
      <p:sp>
        <p:nvSpPr>
          <p:cNvPr id="9" name="VC 구매"/>
          <p:cNvSpPr/>
          <p:nvPr/>
        </p:nvSpPr>
        <p:spPr>
          <a:xfrm>
            <a:off x="3118104" y="1591056"/>
            <a:ext cx="1755648" cy="384048"/>
          </a:xfrm>
          <a:prstGeom prst="chevron">
            <a:avLst/>
          </a:prstGeom>
          <a:solidFill>
            <a:srgbClr val="5B6B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구매</a:t>
            </a:r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  10건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204825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수요예측 기반 발주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공급사 리스크 관리</a:t>
            </a:r>
            <a:endParaRPr lang="en-US" sz="900" dirty="0"/>
          </a:p>
        </p:txBody>
      </p:sp>
      <p:sp>
        <p:nvSpPr>
          <p:cNvPr id="11" name="VC 생산"/>
          <p:cNvSpPr/>
          <p:nvPr/>
        </p:nvSpPr>
        <p:spPr>
          <a:xfrm>
            <a:off x="4818888" y="1591056"/>
            <a:ext cx="1755648" cy="384048"/>
          </a:xfrm>
          <a:prstGeom prst="chevron">
            <a:avLst/>
          </a:prstGeom>
          <a:solidFill>
            <a:srgbClr val="8A9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생산</a:t>
            </a:r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  9건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01768" y="204825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품질·불량 예측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설비 예지보전</a:t>
            </a:r>
            <a:endParaRPr lang="en-US" sz="900" dirty="0"/>
          </a:p>
        </p:txBody>
      </p:sp>
      <p:sp>
        <p:nvSpPr>
          <p:cNvPr id="13" name="VC 물류"/>
          <p:cNvSpPr/>
          <p:nvPr/>
        </p:nvSpPr>
        <p:spPr>
          <a:xfrm>
            <a:off x="6519672" y="1591056"/>
            <a:ext cx="1755648" cy="384048"/>
          </a:xfrm>
          <a:prstGeom prst="chevron">
            <a:avLst/>
          </a:prstGeom>
          <a:solidFill>
            <a:srgbClr val="5B6B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물류</a:t>
            </a:r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  13건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204825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물류 운영 최적화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센터 자동화 운영</a:t>
            </a:r>
            <a:endParaRPr lang="en-US" sz="900" dirty="0"/>
          </a:p>
        </p:txBody>
      </p:sp>
      <p:sp>
        <p:nvSpPr>
          <p:cNvPr id="15" name="VC 영업·마케팅"/>
          <p:cNvSpPr/>
          <p:nvPr/>
        </p:nvSpPr>
        <p:spPr>
          <a:xfrm>
            <a:off x="8220456" y="1591056"/>
            <a:ext cx="1755648" cy="384048"/>
          </a:xfrm>
          <a:prstGeom prst="chevron">
            <a:avLst/>
          </a:prstGeom>
          <a:solidFill>
            <a:srgbClr val="8A94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영업·마케팅</a:t>
            </a:r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  40건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204825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객실요금 최적화 (호텔)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브랜드 AI포탈 (백화점)</a:t>
            </a:r>
            <a:endParaRPr lang="en-US" sz="900" dirty="0"/>
          </a:p>
        </p:txBody>
      </p:sp>
      <p:sp>
        <p:nvSpPr>
          <p:cNvPr id="17" name="VC 경영관리"/>
          <p:cNvSpPr/>
          <p:nvPr/>
        </p:nvSpPr>
        <p:spPr>
          <a:xfrm>
            <a:off x="9921240" y="1591056"/>
            <a:ext cx="1755648" cy="384048"/>
          </a:xfrm>
          <a:prstGeom prst="chevron">
            <a:avLst/>
          </a:prstGeom>
          <a:solidFill>
            <a:srgbClr val="5B6B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경영관리</a:t>
            </a:r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  25건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104120" y="204825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AI 문서탐색 (물산)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· KPI 성과관리 (마트)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523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※ 숫자 : 영역별 AI과제 Pool (총 108건)</a:t>
            </a:r>
            <a:endParaRPr lang="en-US" sz="850" dirty="0"/>
          </a:p>
        </p:txBody>
      </p:sp>
      <p:sp>
        <p:nvSpPr>
          <p:cNvPr id="20" name="수행체계 패널"/>
          <p:cNvSpPr/>
          <p:nvPr/>
        </p:nvSpPr>
        <p:spPr>
          <a:xfrm>
            <a:off x="365760" y="2880360"/>
            <a:ext cx="11457432" cy="3520440"/>
          </a:xfrm>
          <a:prstGeom prst="rect">
            <a:avLst/>
          </a:prstGeom>
          <a:solidFill>
            <a:srgbClr val="F7F8FA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08960" y="2926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chemeClr val="tx1"/>
                </a:solidFill>
              </a:rPr>
              <a:t>FDE 수행 체계 및 그룹사 제공 서비스</a:t>
            </a:r>
            <a:endParaRPr lang="en-US" sz="1200" dirty="0"/>
          </a:p>
        </p:txBody>
      </p:sp>
      <p:sp>
        <p:nvSpPr>
          <p:cNvPr id="22" name="엔지니어 협업 박스"/>
          <p:cNvSpPr/>
          <p:nvPr/>
        </p:nvSpPr>
        <p:spPr>
          <a:xfrm>
            <a:off x="548640" y="3310128"/>
            <a:ext cx="1920240" cy="2944368"/>
          </a:xfrm>
          <a:prstGeom prst="rect">
            <a:avLst/>
          </a:prstGeom>
          <a:solidFill>
            <a:schemeClr val="bg1"/>
          </a:solidFill>
          <a:ln w="9525">
            <a:solidFill>
              <a:srgbClr val="BFC5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346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엔지니어 협업 (Tech)</a:t>
            </a:r>
            <a:endParaRPr lang="en-US" sz="1100" dirty="0"/>
          </a:p>
        </p:txBody>
      </p:sp>
      <p:sp>
        <p:nvSpPr>
          <p:cNvPr id="24" name="엔지니어 AI혁신센터"/>
          <p:cNvSpPr/>
          <p:nvPr/>
        </p:nvSpPr>
        <p:spPr>
          <a:xfrm>
            <a:off x="658368" y="3703320"/>
            <a:ext cx="1700784" cy="777240"/>
          </a:xfrm>
          <a:prstGeom prst="roundRect">
            <a:avLst>
              <a:gd name="adj" fmla="val 7059"/>
            </a:avLst>
          </a:prstGeom>
          <a:solidFill>
            <a:srgbClr val="6B7280"/>
          </a:solidFill>
          <a:ln/>
          <a:effectLst>
            <a:outerShdw sx="100000" sy="100000" kx="0" ky="0" algn="bl" rotWithShape="0" blurRad="25400" dist="1905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AI혁신센터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AI 모델 · Agent 개발</a:t>
            </a:r>
            <a:endParaRPr lang="en-US" sz="1300" dirty="0"/>
          </a:p>
        </p:txBody>
      </p:sp>
      <p:sp>
        <p:nvSpPr>
          <p:cNvPr id="25" name="엔지니어 D&amp;AX부문"/>
          <p:cNvSpPr/>
          <p:nvPr/>
        </p:nvSpPr>
        <p:spPr>
          <a:xfrm>
            <a:off x="658368" y="4572000"/>
            <a:ext cx="1700784" cy="777240"/>
          </a:xfrm>
          <a:prstGeom prst="roundRect">
            <a:avLst>
              <a:gd name="adj" fmla="val 7059"/>
            </a:avLst>
          </a:prstGeom>
          <a:solidFill>
            <a:srgbClr val="4A5260"/>
          </a:solidFill>
          <a:ln/>
          <a:effectLst>
            <a:outerShdw sx="100000" sy="100000" kx="0" ky="0" algn="bl" rotWithShape="0" blurRad="25400" dist="1905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D&amp;AX부문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데이터 · 플랫폼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기간계 연동</a:t>
            </a:r>
            <a:endParaRPr lang="en-US" sz="1300" dirty="0"/>
          </a:p>
        </p:txBody>
      </p:sp>
      <p:sp>
        <p:nvSpPr>
          <p:cNvPr id="26" name="Tech 역할"/>
          <p:cNvSpPr/>
          <p:nvPr/>
        </p:nvSpPr>
        <p:spPr>
          <a:xfrm>
            <a:off x="658368" y="5486400"/>
            <a:ext cx="1700784" cy="64008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MVP 구축 · 운영 이관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87168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+</a:t>
            </a:r>
            <a:endParaRPr lang="en-US" sz="3000" dirty="0"/>
          </a:p>
        </p:txBody>
      </p:sp>
      <p:sp>
        <p:nvSpPr>
          <p:cNvPr id="28" name="Biz 그룹 박스"/>
          <p:cNvSpPr/>
          <p:nvPr/>
        </p:nvSpPr>
        <p:spPr>
          <a:xfrm>
            <a:off x="3035808" y="3310128"/>
            <a:ext cx="5074920" cy="2944368"/>
          </a:xfrm>
          <a:prstGeom prst="roundRect">
            <a:avLst>
              <a:gd name="adj" fmla="val 1863"/>
            </a:avLst>
          </a:prstGeom>
          <a:solidFill>
            <a:schemeClr val="bg1"/>
          </a:solidFill>
          <a:ln w="9525">
            <a:solidFill>
              <a:srgbClr val="BFC5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35808" y="334670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Biz 그룹 (문제정의 · 적용설계)</a:t>
            </a:r>
            <a:endParaRPr lang="en-US" sz="1100" dirty="0"/>
          </a:p>
        </p:txBody>
      </p:sp>
      <p:sp>
        <p:nvSpPr>
          <p:cNvPr id="30" name="팀 AX컨설팅팀"/>
          <p:cNvSpPr txBox="1"/>
          <p:nvPr/>
        </p:nvSpPr>
        <p:spPr>
          <a:xfrm>
            <a:off x="3145536" y="3703320"/>
            <a:ext cx="2377440" cy="310896"/>
          </a:xfrm>
          <a:prstGeom prst="rect">
            <a:avLst/>
          </a:prstGeom>
          <a:solidFill>
            <a:srgbClr val="1F4E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AX컨설팅팀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145536" y="4069080"/>
            <a:ext cx="1161288" cy="301752"/>
          </a:xfrm>
          <a:prstGeom prst="rect">
            <a:avLst/>
          </a:prstGeom>
          <a:solidFill>
            <a:srgbClr val="6B7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진단/발굴 9건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361688" y="4069080"/>
            <a:ext cx="1161288" cy="301752"/>
          </a:xfrm>
          <a:prstGeom prst="rect">
            <a:avLst/>
          </a:prstGeom>
          <a:solidFill>
            <a:srgbClr val="6B7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전략수립 4건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145536" y="4407408"/>
            <a:ext cx="1161288" cy="301752"/>
          </a:xfrm>
          <a:prstGeom prst="rect">
            <a:avLst/>
          </a:prstGeom>
          <a:solidFill>
            <a:srgbClr val="6B7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특화영역 3건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361688" y="4407408"/>
            <a:ext cx="1161288" cy="301752"/>
          </a:xfrm>
          <a:prstGeom prst="rect">
            <a:avLst/>
          </a:prstGeom>
          <a:solidFill>
            <a:srgbClr val="6B7F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AX교육 6건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145536" y="4791456"/>
            <a:ext cx="2377440" cy="365760"/>
          </a:xfrm>
          <a:prstGeom prst="rect">
            <a:avLst/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그룹사 AI컨설팅 수행 경험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145536" y="5212080"/>
            <a:ext cx="2377440" cy="365760"/>
          </a:xfrm>
          <a:prstGeom prst="rect">
            <a:avLst/>
          </a:prstGeom>
          <a:solidFill>
            <a:srgbClr val="FFF9C4"/>
          </a:solidFill>
          <a:ln w="6350">
            <a:solidFill>
              <a:srgbClr val="D5D9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AI추진과제 Pool 108건</a:t>
            </a:r>
            <a:endParaRPr lang="en-US" sz="1000" dirty="0"/>
          </a:p>
        </p:txBody>
      </p:sp>
      <p:sp>
        <p:nvSpPr>
          <p:cNvPr id="37" name="팀 Biz컨설팅팀"/>
          <p:cNvSpPr txBox="1"/>
          <p:nvPr/>
        </p:nvSpPr>
        <p:spPr>
          <a:xfrm>
            <a:off x="5614416" y="3703320"/>
            <a:ext cx="2377440" cy="310896"/>
          </a:xfrm>
          <a:prstGeom prst="rect">
            <a:avLst/>
          </a:prstGeom>
          <a:solidFill>
            <a:srgbClr val="0F7B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Biz컨설팅팀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14416" y="4069080"/>
            <a:ext cx="1161288" cy="301752"/>
          </a:xfrm>
          <a:prstGeom prst="rect">
            <a:avLst/>
          </a:prstGeom>
          <a:solidFill>
            <a:srgbClr val="5E8C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식품/제조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830568" y="4069080"/>
            <a:ext cx="1161288" cy="301752"/>
          </a:xfrm>
          <a:prstGeom prst="rect">
            <a:avLst/>
          </a:prstGeom>
          <a:solidFill>
            <a:srgbClr val="5E8C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유통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614416" y="4407408"/>
            <a:ext cx="1161288" cy="301752"/>
          </a:xfrm>
          <a:prstGeom prst="rect">
            <a:avLst/>
          </a:prstGeom>
          <a:solidFill>
            <a:srgbClr val="5E8C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화학/건설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407408"/>
            <a:ext cx="1161288" cy="301752"/>
          </a:xfrm>
          <a:prstGeom prst="rect">
            <a:avLst/>
          </a:prstGeom>
          <a:solidFill>
            <a:srgbClr val="5E8C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호텔/서비스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614416" y="4791456"/>
            <a:ext cx="2377440" cy="365760"/>
          </a:xfrm>
          <a:prstGeom prst="rect">
            <a:avLst/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그룹사 차세대 PI/ISP 수행 경험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614416" y="5212080"/>
            <a:ext cx="2377440" cy="365760"/>
          </a:xfrm>
          <a:prstGeom prst="rect">
            <a:avLst/>
          </a:prstGeom>
          <a:solidFill>
            <a:srgbClr val="FFF9C4"/>
          </a:solidFill>
          <a:ln w="6350">
            <a:solidFill>
              <a:srgbClr val="D5D9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도메인 전문성</a:t>
            </a:r>
            <a:endParaRPr lang="en-US" sz="1000" dirty="0"/>
          </a:p>
        </p:txBody>
      </p:sp>
      <p:sp>
        <p:nvSpPr>
          <p:cNvPr id="44" name="공동 TF 역할"/>
          <p:cNvSpPr txBox="1"/>
          <p:nvPr/>
        </p:nvSpPr>
        <p:spPr>
          <a:xfrm>
            <a:off x="3145536" y="5687568"/>
            <a:ext cx="4855464" cy="4572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FDE 공동 TF : 과제 Target 선정 → 적용 설계 → 성과 관리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32520" y="3310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그룹사 제공 서비스</a:t>
            </a:r>
            <a:endParaRPr lang="en-US" sz="1100" dirty="0"/>
          </a:p>
        </p:txBody>
      </p:sp>
      <p:sp>
        <p:nvSpPr>
          <p:cNvPr id="46" name="서비스 1"/>
          <p:cNvSpPr/>
          <p:nvPr/>
        </p:nvSpPr>
        <p:spPr>
          <a:xfrm>
            <a:off x="8823960" y="3657600"/>
            <a:ext cx="2880360" cy="365760"/>
          </a:xfrm>
          <a:prstGeom prst="homePlate">
            <a:avLst/>
          </a:prstGeom>
          <a:solidFill>
            <a:srgbClr val="0F7B6C"/>
          </a:solidFill>
          <a:ln/>
          <a:effectLst>
            <a:outerShdw sx="100000" sy="100000" kx="0" ky="0" algn="bl" rotWithShape="0" blurRad="25400" dist="1905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AX 진단 · 과제 발굴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915400" y="40416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· Value Chain별 AI과제 진단·Target 선정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· AX CAMP 현업 실습·과제 도출</a:t>
            </a:r>
            <a:endParaRPr lang="en-US" sz="950" dirty="0"/>
          </a:p>
        </p:txBody>
      </p:sp>
      <p:sp>
        <p:nvSpPr>
          <p:cNvPr id="48" name="연결 1"/>
          <p:cNvSpPr/>
          <p:nvPr/>
        </p:nvSpPr>
        <p:spPr>
          <a:xfrm flipV="1">
            <a:off x="8110728" y="3840480"/>
            <a:ext cx="685800" cy="960120"/>
          </a:xfrm>
          <a:prstGeom prst="line">
            <a:avLst/>
          </a:prstGeom>
          <a:noFill/>
          <a:ln w="28575">
            <a:solidFill>
              <a:srgbClr val="0F7B6C"/>
            </a:solidFill>
            <a:prstDash val="solid"/>
            <a:tailEnd type="triangle"/>
          </a:ln>
        </p:spPr>
      </p:sp>
      <p:sp>
        <p:nvSpPr>
          <p:cNvPr id="49" name="서비스 2"/>
          <p:cNvSpPr/>
          <p:nvPr/>
        </p:nvSpPr>
        <p:spPr>
          <a:xfrm>
            <a:off x="8823960" y="4553712"/>
            <a:ext cx="2880360" cy="365760"/>
          </a:xfrm>
          <a:prstGeom prst="homePlate">
            <a:avLst/>
          </a:prstGeom>
          <a:solidFill>
            <a:srgbClr val="1F4E9A"/>
          </a:solidFill>
          <a:ln/>
          <a:effectLst>
            <a:outerShdw sx="100000" sy="100000" kx="0" ky="0" algn="bl" rotWithShape="0" blurRad="25400" dist="1905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MVP 구축 · 검증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915400" y="49377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· 기간계 적용방안 + 6~8주 MVP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· 현업 검증·성과 측정 (Go/No-go)</a:t>
            </a:r>
            <a:endParaRPr lang="en-US" sz="950" dirty="0"/>
          </a:p>
        </p:txBody>
      </p:sp>
      <p:sp>
        <p:nvSpPr>
          <p:cNvPr id="51" name="연결 2"/>
          <p:cNvSpPr/>
          <p:nvPr/>
        </p:nvSpPr>
        <p:spPr>
          <a:xfrm flipV="1">
            <a:off x="8110728" y="4736592"/>
            <a:ext cx="685800" cy="64008"/>
          </a:xfrm>
          <a:prstGeom prst="line">
            <a:avLst/>
          </a:prstGeom>
          <a:noFill/>
          <a:ln w="28575">
            <a:solidFill>
              <a:srgbClr val="1F4E9A"/>
            </a:solidFill>
            <a:prstDash val="solid"/>
            <a:tailEnd type="triangle"/>
          </a:ln>
        </p:spPr>
      </p:sp>
      <p:sp>
        <p:nvSpPr>
          <p:cNvPr id="52" name="서비스 3"/>
          <p:cNvSpPr/>
          <p:nvPr/>
        </p:nvSpPr>
        <p:spPr>
          <a:xfrm>
            <a:off x="8823960" y="5449824"/>
            <a:ext cx="2880360" cy="365760"/>
          </a:xfrm>
          <a:prstGeom prst="homePlate">
            <a:avLst/>
          </a:prstGeom>
          <a:solidFill>
            <a:srgbClr val="D0342C"/>
          </a:solidFill>
          <a:ln/>
          <a:effectLst>
            <a:outerShdw sx="100000" sy="100000" kx="0" ky="0" algn="bl" rotWithShape="0" blurRad="25400" dist="19050" dir="5400000">
              <a:srgbClr val="999999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구축 · 운영 이관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915400" y="58338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· 구축사업화 (엔지니어 협업)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· 운영 이관 · 그룹사 확산</a:t>
            </a:r>
            <a:endParaRPr lang="en-US" sz="950" dirty="0"/>
          </a:p>
        </p:txBody>
      </p:sp>
      <p:sp>
        <p:nvSpPr>
          <p:cNvPr id="54" name="연결 3"/>
          <p:cNvSpPr/>
          <p:nvPr/>
        </p:nvSpPr>
        <p:spPr>
          <a:xfrm>
            <a:off x="8110728" y="4800600"/>
            <a:ext cx="685800" cy="832104"/>
          </a:xfrm>
          <a:prstGeom prst="line">
            <a:avLst/>
          </a:prstGeom>
          <a:noFill/>
          <a:ln w="28575">
            <a:solidFill>
              <a:srgbClr val="D0342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2026-10-28T00:02:58Z</dcterms:created>
  <dcterms:modified xsi:type="dcterms:W3CDTF">2026-10-28T00:02:58Z</dcterms:modified>
</cp:coreProperties>
</file>