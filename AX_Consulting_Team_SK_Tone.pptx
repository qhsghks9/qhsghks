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ext INWAYIN" id="{7c2e8a49-90dd-99ca-0682-5d3e606486ea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 → 핵심어 축약. 축적 역량: AI컨설팅 PJT 21건 + 교육·Camp 6건, 산업별 밸류체인 AI과제 108개(경영관리25·R&amp;D11·구매10·생산9·물류13·영업17·마케팅23), 그룹사 현장 적용(호텔·백화점), 대외 차세대 사업 수주(129억)·AI 인벤토리 3건. Enabler: AX컨설팅 방법론·체계의 AI플랫폼화 / 산업별 AI활용 모델 및 적용사례 / FDE 전문 인력 확보·역량 내재화. 그룹사: AX실행전략 수립(AX지향점·우선추진영역, 실행체계·단계별 로드맵) → 현업 참여형 과제발굴(문제 정의, AI 실습교육 연계) → FDE 기반 현장 AI실행(업무목표 재설계·AI 구현·검증, 운영 전환·안착·자산화 후 확산). 대외사: 시스템 도입 시점 AI과제 접목 - 고객사 AI성숙도 진단·유형화 → 시스템 도입×AI 적용 통합 제안(개발·SaaS·클라우드 연계) → 표준 모델 자산화 및 고객·사업 간 확산. 시사점: ①그룹사 AX과제 전 주기 연계 강화 ②대외 사업 AX연계 및 수주 경쟁력 강화.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28016"/>
            <a:ext cx="11457432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28016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3. Next INWAYIN &gt; 현장 실행 기반 AX 가속화</a:t>
            </a:r>
            <a:endParaRPr lang="en-US" sz="2600" dirty="0"/>
          </a:p>
        </p:txBody>
      </p:sp>
      <p:sp>
        <p:nvSpPr>
          <p:cNvPr id="3" name="head-message"/>
          <p:cNvSpPr txBox="1"/>
          <p:nvPr/>
        </p:nvSpPr>
        <p:spPr>
          <a:xfrm>
            <a:off x="365760" y="713232"/>
            <a:ext cx="11457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 현장 실행 역량을 강화하고, 대외 Open Door로 AX 사업 확장 기반 확보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2344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6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AX컨설팅팀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축적 역량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011680" y="1234440"/>
            <a:ext cx="9811512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1408176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31720" y="1307592"/>
            <a:ext cx="9262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현장 </a:t>
            </a:r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컨설팅 21건</a:t>
            </a:r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및 </a:t>
            </a:r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교육·Camp 6건</a:t>
            </a:r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194560" y="1673352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31720" y="1572768"/>
            <a:ext cx="9262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 </a:t>
            </a:r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차세대 사업 수주(129억)</a:t>
            </a:r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AI 인벤토리 3건 발굴, 그룹사 현장 적용(호텔·백화점)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0025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산업별 AI 과제 도출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11680" y="2002536"/>
            <a:ext cx="1162431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11680" y="2002536"/>
            <a:ext cx="11624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경영관리  </a:t>
            </a:r>
            <a:pPr algn="ctr" indent="0" marL="0">
              <a:buNone/>
            </a:pPr>
            <a:r>
              <a:rPr lang="en-US" sz="115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47263" y="2002536"/>
            <a:ext cx="1162431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47263" y="2002536"/>
            <a:ext cx="11624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R&amp;D  </a:t>
            </a:r>
            <a:pPr algn="ctr" indent="0" marL="0">
              <a:buNone/>
            </a:pPr>
            <a:r>
              <a:rPr lang="en-US" sz="115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82846" y="2002536"/>
            <a:ext cx="1162431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2846" y="2002536"/>
            <a:ext cx="11624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  </a:t>
            </a:r>
            <a:pPr algn="ctr" indent="0" marL="0">
              <a:buNone/>
            </a:pPr>
            <a:r>
              <a:rPr lang="en-US" sz="115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18429" y="2002536"/>
            <a:ext cx="1162431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18429" y="2002536"/>
            <a:ext cx="11624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  </a:t>
            </a:r>
            <a:pPr algn="ctr" indent="0" marL="0">
              <a:buNone/>
            </a:pPr>
            <a:r>
              <a:rPr lang="en-US" sz="115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54012" y="2002536"/>
            <a:ext cx="1162431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54012" y="2002536"/>
            <a:ext cx="11624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 </a:t>
            </a:r>
            <a:pPr algn="ctr" indent="0" marL="0">
              <a:buNone/>
            </a:pPr>
            <a:r>
              <a:rPr lang="en-US" sz="115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89595" y="2002536"/>
            <a:ext cx="1162431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89595" y="2002536"/>
            <a:ext cx="11624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 </a:t>
            </a:r>
            <a:pPr algn="ctr" indent="0" marL="0">
              <a:buNone/>
            </a:pPr>
            <a:r>
              <a:rPr lang="en-US" sz="115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25178" y="2002536"/>
            <a:ext cx="1162431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25178" y="2002536"/>
            <a:ext cx="11624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 </a:t>
            </a:r>
            <a:pPr algn="ctr" indent="0" marL="0">
              <a:buNone/>
            </a:pPr>
            <a:r>
              <a:rPr lang="en-US" sz="115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660761" y="2002536"/>
            <a:ext cx="1162431" cy="347472"/>
          </a:xfrm>
          <a:prstGeom prst="roundRect">
            <a:avLst>
              <a:gd name="adj" fmla="val 15789"/>
            </a:avLst>
          </a:prstGeom>
          <a:solidFill>
            <a:srgbClr val="46506A"/>
          </a:solidFill>
          <a:ln w="9525">
            <a:solidFill>
              <a:srgbClr val="4650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660761" y="2002536"/>
            <a:ext cx="11624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  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108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65760" y="2478024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산업별 </a:t>
            </a:r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전문지식 및 실행 역량</a:t>
            </a:r>
            <a:pPr algn="ctr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축적 기반</a:t>
            </a:r>
            <a:endParaRPr lang="en-US" sz="1300" dirty="0"/>
          </a:p>
        </p:txBody>
      </p:sp>
      <p:sp>
        <p:nvSpPr>
          <p:cNvPr id="28" name="enabler-1"/>
          <p:cNvSpPr/>
          <p:nvPr/>
        </p:nvSpPr>
        <p:spPr>
          <a:xfrm>
            <a:off x="365760" y="2935224"/>
            <a:ext cx="3666744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0896" y="280720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10896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2935224"/>
            <a:ext cx="3483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AX컨설팅 AI 플랫폼화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방법론·체계를 AI 플랫폼으로 전환</a:t>
            </a:r>
            <a:endParaRPr lang="en-US" sz="1400" dirty="0"/>
          </a:p>
        </p:txBody>
      </p:sp>
      <p:sp>
        <p:nvSpPr>
          <p:cNvPr id="32" name="enabler-2"/>
          <p:cNvSpPr/>
          <p:nvPr/>
        </p:nvSpPr>
        <p:spPr>
          <a:xfrm>
            <a:off x="4261104" y="2935224"/>
            <a:ext cx="3666744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06240" y="280720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06240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352544" y="2935224"/>
            <a:ext cx="3483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산업별 AI 활용 모델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모델 및 적용 사례 확보</a:t>
            </a:r>
            <a:endParaRPr lang="en-US" sz="1400" dirty="0"/>
          </a:p>
        </p:txBody>
      </p:sp>
      <p:sp>
        <p:nvSpPr>
          <p:cNvPr id="36" name="enabler-3"/>
          <p:cNvSpPr/>
          <p:nvPr/>
        </p:nvSpPr>
        <p:spPr>
          <a:xfrm>
            <a:off x="8156448" y="2935224"/>
            <a:ext cx="3666744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01584" y="2807208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101584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247888" y="2935224"/>
            <a:ext cx="3483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전문 인력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인력 확보 및 역량 내재화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65760" y="3867912"/>
            <a:ext cx="11457432" cy="29260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65760" y="3867912"/>
            <a:ext cx="11457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 : AX 전략 → 현장 실행 </a:t>
            </a:r>
            <a:pPr algn="ctr" indent="0" marL="0">
              <a:buNone/>
            </a:pPr>
            <a:r>
              <a:rPr lang="en-US" sz="13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全주기 체계</a:t>
            </a:r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대외사 : 시스템 도입 시점 </a:t>
            </a:r>
            <a:pPr algn="ctr" indent="0" marL="0">
              <a:buNone/>
            </a:pPr>
            <a:r>
              <a:rPr lang="en-US" sz="13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과제 접목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65760" y="4251960"/>
            <a:ext cx="2926080" cy="365760"/>
          </a:xfrm>
          <a:prstGeom prst="homePlate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4360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실행전략 수립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3209544" y="4251960"/>
            <a:ext cx="2926080" cy="365760"/>
          </a:xfrm>
          <a:prstGeom prst="chevron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438144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참여형 과제발굴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6053328" y="4251960"/>
            <a:ext cx="2926080" cy="365760"/>
          </a:xfrm>
          <a:prstGeom prst="chevron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81928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기반 현장 AI 실행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8897112" y="4251960"/>
            <a:ext cx="2926080" cy="365760"/>
          </a:xfrm>
          <a:prstGeom prst="chevron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125712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 Open Door</a:t>
            </a:r>
            <a:endParaRPr lang="en-US" sz="1350" dirty="0"/>
          </a:p>
        </p:txBody>
      </p:sp>
      <p:sp>
        <p:nvSpPr>
          <p:cNvPr id="50" name="phase-box-1"/>
          <p:cNvSpPr/>
          <p:nvPr/>
        </p:nvSpPr>
        <p:spPr>
          <a:xfrm>
            <a:off x="365760" y="4709160"/>
            <a:ext cx="275463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57200" y="4782312"/>
            <a:ext cx="2571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Blue Print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94360" y="5509260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31520" y="5385816"/>
            <a:ext cx="22974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지향점·우선영역 정의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94360" y="5811012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31520" y="5687568"/>
            <a:ext cx="22974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로드맵 수립</a:t>
            </a:r>
            <a:endParaRPr lang="en-US" sz="1200" dirty="0"/>
          </a:p>
        </p:txBody>
      </p:sp>
      <p:sp>
        <p:nvSpPr>
          <p:cNvPr id="56" name="phase-box-2"/>
          <p:cNvSpPr/>
          <p:nvPr/>
        </p:nvSpPr>
        <p:spPr>
          <a:xfrm>
            <a:off x="3266694" y="4709160"/>
            <a:ext cx="275463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358134" y="4782312"/>
            <a:ext cx="2571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Inno Camp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3495294" y="5509260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632454" y="5385816"/>
            <a:ext cx="22974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참여 문제 정의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495294" y="5811012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632454" y="5687568"/>
            <a:ext cx="22974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실습교육 연계 과제 도출</a:t>
            </a:r>
            <a:endParaRPr lang="en-US" sz="1200" dirty="0"/>
          </a:p>
        </p:txBody>
      </p:sp>
      <p:sp>
        <p:nvSpPr>
          <p:cNvPr id="62" name="phase-box-3"/>
          <p:cNvSpPr/>
          <p:nvPr/>
        </p:nvSpPr>
        <p:spPr>
          <a:xfrm>
            <a:off x="6167628" y="4709160"/>
            <a:ext cx="2754630" cy="1600200"/>
          </a:xfrm>
          <a:prstGeom prst="rect">
            <a:avLst/>
          </a:prstGeom>
          <a:solidFill>
            <a:srgbClr val="FBE5E6"/>
          </a:solidFill>
          <a:ln w="12700">
            <a:solidFill>
              <a:srgbClr val="F4B6B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259068" y="4782312"/>
            <a:ext cx="2571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밀착형 실행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(FDE Pod)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6396228" y="5509260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533388" y="5385816"/>
            <a:ext cx="22974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업무목표 재설계 · AI 구현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396228" y="5811012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533388" y="5687568"/>
            <a:ext cx="22974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안착 후 자산화·확산</a:t>
            </a:r>
            <a:endParaRPr lang="en-US" sz="1200" dirty="0"/>
          </a:p>
        </p:txBody>
      </p:sp>
      <p:sp>
        <p:nvSpPr>
          <p:cNvPr id="68" name="phase-box-4"/>
          <p:cNvSpPr/>
          <p:nvPr/>
        </p:nvSpPr>
        <p:spPr>
          <a:xfrm>
            <a:off x="9068562" y="4709160"/>
            <a:ext cx="275463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160002" y="4782312"/>
            <a:ext cx="2571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+ AI 통합 제안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9297162" y="5509260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9434322" y="5385816"/>
            <a:ext cx="22974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성숙도 진단 · 유형화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9297162" y="5811012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434322" y="5687568"/>
            <a:ext cx="22974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 레퍼런스 기반 先제안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9297162" y="6112764"/>
            <a:ext cx="54864" cy="5486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434322" y="5989320"/>
            <a:ext cx="22974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모델 자산화 · 확산</a:t>
            </a:r>
            <a:endParaRPr lang="en-US" sz="1200" dirty="0"/>
          </a:p>
        </p:txBody>
      </p:sp>
      <p:sp>
        <p:nvSpPr>
          <p:cNvPr id="76" name="conclusion"/>
          <p:cNvSpPr txBox="1"/>
          <p:nvPr/>
        </p:nvSpPr>
        <p:spPr>
          <a:xfrm>
            <a:off x="365760" y="6373368"/>
            <a:ext cx="11457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발굴~운영 </a:t>
            </a:r>
            <a:pPr algn="ctr" indent="0" marL="0">
              <a:buNone/>
            </a:pPr>
            <a:r>
              <a:rPr lang="en-US" sz="1300" b="1" i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全주기 연계</a:t>
            </a:r>
            <a:pPr algn="ctr" indent="0" marL="0">
              <a:buNone/>
            </a:pPr>
            <a:r>
              <a:rPr lang="en-US" sz="1300" i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그룹사 성과 창출, 대외 사업 </a:t>
            </a:r>
            <a:pPr algn="ctr" indent="0" marL="0">
              <a:buNone/>
            </a:pPr>
            <a:r>
              <a:rPr lang="en-US" sz="1300" b="1" i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연계로 수주 경쟁력 강화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SK Tone">
  <a:themeElements>
    <a:clrScheme name="AX SK Tone">
      <a:dk1>
        <a:srgbClr val="000000"/>
      </a:dk1>
      <a:lt1>
        <a:srgbClr val="FFFFFF"/>
      </a:lt1>
      <a:dk2>
        <a:srgbClr val="46506A"/>
      </a:dk2>
      <a:lt2>
        <a:srgbClr val="F2F2F2"/>
      </a:lt2>
      <a:accent1>
        <a:srgbClr val="3B5B8C"/>
      </a:accent1>
      <a:accent2>
        <a:srgbClr val="46506A"/>
      </a:accent2>
      <a:accent3>
        <a:srgbClr val="595959"/>
      </a:accent3>
      <a:accent4>
        <a:srgbClr val="E8ECF4"/>
      </a:accent4>
      <a:accent5>
        <a:srgbClr val="FBE5E6"/>
      </a:accent5>
      <a:accent6>
        <a:srgbClr val="C00000"/>
      </a:accent6>
      <a:hlink>
        <a:srgbClr val="3B5B8C"/>
      </a:hlink>
      <a:folHlink>
        <a:srgbClr val="46506A"/>
      </a:folHlink>
    </a:clrScheme>
    <a:fontScheme name="AX SK Ton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현장 실행 기반 AX 가속화</dc:title>
  <dc:subject>PptxGenJS Presentation</dc:subject>
  <dc:creator>PptxGenJS</dc:creator>
  <cp:lastModifiedBy>PptxGenJS</cp:lastModifiedBy>
  <cp:revision>1</cp:revision>
  <dcterms:created xsi:type="dcterms:W3CDTF">2026-10-23T01:13:04Z</dcterms:created>
  <dcterms:modified xsi:type="dcterms:W3CDTF">2026-10-23T01:13:04Z</dcterms:modified>
</cp:coreProperties>
</file>