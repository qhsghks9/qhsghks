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28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04. 프로젝트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77240"/>
            <a:ext cx="11430000" cy="5486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500" b="1" i="0" u="none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4주간 'AI 과제 발굴 → 과제 구체화·프로토타입' 2단계로 추진하여, 현업 참여 기반의 AI 과제 Portfolio와 작동하는 프로토타입을 확보함</a:t>
            </a:r>
          </a:p>
        </p:txBody>
      </p:sp>
      <p:sp>
        <p:nvSpPr>
          <p:cNvPr id="4" name="Pentagon 3"/>
          <p:cNvSpPr/>
          <p:nvPr/>
        </p:nvSpPr>
        <p:spPr>
          <a:xfrm>
            <a:off x="365760" y="1417320"/>
            <a:ext cx="5669280" cy="548640"/>
          </a:xfrm>
          <a:prstGeom prst="homePlate">
            <a:avLst>
              <a:gd name="adj" fmla="val 25000"/>
            </a:avLst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800" b="1" i="0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과제 발굴 </a:t>
            </a:r>
            <a:r>
              <a:rPr sz="1400" b="1" i="0" u="none">
                <a:solidFill>
                  <a:srgbClr val="FFE600"/>
                </a:solidFill>
                <a:latin typeface="맑은 고딕"/>
                <a:ea typeface="맑은 고딕"/>
                <a:cs typeface="맑은 고딕"/>
              </a:rPr>
              <a:t>(Discovery)</a:t>
            </a:r>
          </a:p>
        </p:txBody>
      </p:sp>
      <p:sp>
        <p:nvSpPr>
          <p:cNvPr id="5" name="Chevron 4"/>
          <p:cNvSpPr/>
          <p:nvPr/>
        </p:nvSpPr>
        <p:spPr>
          <a:xfrm>
            <a:off x="5943600" y="1417320"/>
            <a:ext cx="5897880" cy="548640"/>
          </a:xfrm>
          <a:prstGeom prst="chevron">
            <a:avLst>
              <a:gd name="adj" fmla="val 25000"/>
            </a:avLst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800" b="1" i="0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과제 구체화 &amp; 프로토타입 </a:t>
            </a:r>
            <a:r>
              <a:rPr sz="1400" b="1" i="0" u="none">
                <a:solidFill>
                  <a:srgbClr val="FFE600"/>
                </a:solidFill>
                <a:latin typeface="맑은 고딕"/>
                <a:ea typeface="맑은 고딕"/>
                <a:cs typeface="맑은 고딕"/>
              </a:rPr>
              <a:t>(Prototype)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11480" y="2176272"/>
            <a:ext cx="5440680" cy="0"/>
          </a:xfrm>
          <a:prstGeom prst="line">
            <a:avLst/>
          </a:prstGeom>
          <a:ln w="15875">
            <a:solidFill>
              <a:srgbClr val="262626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2308860" y="2020824"/>
            <a:ext cx="1645920" cy="3108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4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W1 ~ W2  (2주)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080760" y="2176272"/>
            <a:ext cx="5715000" cy="0"/>
          </a:xfrm>
          <a:prstGeom prst="line">
            <a:avLst/>
          </a:prstGeom>
          <a:ln w="15875">
            <a:solidFill>
              <a:srgbClr val="262626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8115300" y="2020824"/>
            <a:ext cx="1645920" cy="3108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4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W3 ~ W4  (2주)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606040"/>
            <a:ext cx="2377440" cy="384048"/>
          </a:xfrm>
          <a:prstGeom prst="round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300" b="1" i="0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트렌드 분석 및 AI 진단</a:t>
            </a:r>
          </a:p>
        </p:txBody>
      </p:sp>
      <p:sp>
        <p:nvSpPr>
          <p:cNvPr id="11" name="Oval 10"/>
          <p:cNvSpPr/>
          <p:nvPr/>
        </p:nvSpPr>
        <p:spPr>
          <a:xfrm>
            <a:off x="438912" y="2496312"/>
            <a:ext cx="310896" cy="310896"/>
          </a:xfrm>
          <a:prstGeom prst="ellipse">
            <a:avLst/>
          </a:prstGeom>
          <a:solidFill>
            <a:srgbClr val="FFE60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2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2404872"/>
            <a:ext cx="45720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900" b="1" i="0" u="none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W1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044952"/>
            <a:ext cx="237744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11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AI 트렌드·테마파크 사례 리서치</a:t>
            </a:r>
          </a:p>
          <a:p>
            <a:pPr algn="l">
              <a:spcAft>
                <a:spcPts val="300"/>
              </a:spcAft>
            </a:pPr>
            <a:r>
              <a:rPr sz="11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11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AI 활용 수준 진단</a:t>
            </a:r>
          </a:p>
        </p:txBody>
      </p:sp>
      <p:pic>
        <p:nvPicPr>
          <p:cNvPr id="14" name="Picture 13" descr="th_di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3611880"/>
            <a:ext cx="1600200" cy="88696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94359" y="4517136"/>
            <a:ext cx="214884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5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&lt;AI 활용 수준 진단&gt;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937760"/>
            <a:ext cx="2377440" cy="384048"/>
          </a:xfrm>
          <a:prstGeom prst="round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300" b="1" i="0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Value Chain 분석/인터뷰</a:t>
            </a:r>
          </a:p>
        </p:txBody>
      </p:sp>
      <p:sp>
        <p:nvSpPr>
          <p:cNvPr id="17" name="Oval 16"/>
          <p:cNvSpPr/>
          <p:nvPr/>
        </p:nvSpPr>
        <p:spPr>
          <a:xfrm>
            <a:off x="438912" y="4828032"/>
            <a:ext cx="310896" cy="310896"/>
          </a:xfrm>
          <a:prstGeom prst="ellipse">
            <a:avLst/>
          </a:prstGeom>
          <a:solidFill>
            <a:srgbClr val="FFE60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2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4736592"/>
            <a:ext cx="45720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900" b="1" i="0" u="none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W1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376672"/>
            <a:ext cx="2377440" cy="7315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11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Value Chain·내부 자료 분석</a:t>
            </a:r>
          </a:p>
          <a:p>
            <a:pPr algn="l">
              <a:spcAft>
                <a:spcPts val="300"/>
              </a:spcAft>
            </a:pPr>
            <a:r>
              <a:rPr sz="11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11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경영진·실무자 인터뷰</a:t>
            </a:r>
          </a:p>
          <a:p>
            <a:pPr algn="l">
              <a:spcAft>
                <a:spcPts val="300"/>
              </a:spcAft>
            </a:pPr>
            <a:r>
              <a:rPr sz="11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11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핵심 업무 영역 3~4개 선정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29000" y="3246120"/>
            <a:ext cx="2331720" cy="384048"/>
          </a:xfrm>
          <a:prstGeom prst="round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300" b="1" i="0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과제 발굴</a:t>
            </a:r>
          </a:p>
        </p:txBody>
      </p:sp>
      <p:sp>
        <p:nvSpPr>
          <p:cNvPr id="21" name="Oval 20"/>
          <p:cNvSpPr/>
          <p:nvPr/>
        </p:nvSpPr>
        <p:spPr>
          <a:xfrm>
            <a:off x="3319272" y="3136391"/>
            <a:ext cx="310896" cy="310896"/>
          </a:xfrm>
          <a:prstGeom prst="ellipse">
            <a:avLst/>
          </a:prstGeom>
          <a:solidFill>
            <a:srgbClr val="FFE60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2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0" y="3044951"/>
            <a:ext cx="45720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900" b="1" i="0" u="none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W2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0" y="3685032"/>
            <a:ext cx="2286000" cy="7315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11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관점별 현업 워크샵 (2회)</a:t>
            </a:r>
          </a:p>
          <a:p>
            <a:pPr algn="l">
              <a:spcAft>
                <a:spcPts val="300"/>
              </a:spcAft>
            </a:pPr>
            <a:r>
              <a:rPr sz="11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11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Agent·신규 서비스 과제 도출</a:t>
            </a:r>
          </a:p>
          <a:p>
            <a:pPr algn="l">
              <a:spcAft>
                <a:spcPts val="300"/>
              </a:spcAft>
            </a:pPr>
            <a:r>
              <a:rPr sz="11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11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과제 Long-list (20~30개)</a:t>
            </a:r>
          </a:p>
        </p:txBody>
      </p:sp>
      <p:pic>
        <p:nvPicPr>
          <p:cNvPr id="24" name="Picture 23" descr="th_l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4760" y="4526280"/>
            <a:ext cx="1600200" cy="88696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3520440" y="5431536"/>
            <a:ext cx="214884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5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&lt;AI 과제 Long-list&gt;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926080" y="2798064"/>
            <a:ext cx="246888" cy="0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926080" y="5129784"/>
            <a:ext cx="246888" cy="0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3172968" y="2798064"/>
            <a:ext cx="0" cy="2331720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3172968" y="3438144"/>
            <a:ext cx="256032" cy="0"/>
          </a:xfrm>
          <a:prstGeom prst="line">
            <a:avLst/>
          </a:prstGeom>
          <a:ln w="19050">
            <a:solidFill>
              <a:srgbClr val="7F7F7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6080760" y="2468880"/>
            <a:ext cx="2834640" cy="3931920"/>
          </a:xfrm>
          <a:prstGeom prst="rect">
            <a:avLst/>
          </a:prstGeom>
          <a:noFill/>
          <a:ln w="12700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263640" y="2606040"/>
            <a:ext cx="2514600" cy="384048"/>
          </a:xfrm>
          <a:prstGeom prst="round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300" b="1" i="0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과제 우선순위화</a:t>
            </a:r>
          </a:p>
        </p:txBody>
      </p:sp>
      <p:sp>
        <p:nvSpPr>
          <p:cNvPr id="32" name="Oval 31"/>
          <p:cNvSpPr/>
          <p:nvPr/>
        </p:nvSpPr>
        <p:spPr>
          <a:xfrm>
            <a:off x="6153912" y="2496312"/>
            <a:ext cx="310896" cy="310896"/>
          </a:xfrm>
          <a:prstGeom prst="ellipse">
            <a:avLst/>
          </a:prstGeom>
          <a:solidFill>
            <a:srgbClr val="FFE60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2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2404872"/>
            <a:ext cx="45720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900" b="1" i="0" u="none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W3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3044952"/>
            <a:ext cx="2468880" cy="7315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11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임팩트·실현성·데이터 준비도 평가</a:t>
            </a:r>
          </a:p>
          <a:p>
            <a:pPr algn="l">
              <a:spcAft>
                <a:spcPts val="300"/>
              </a:spcAft>
            </a:pPr>
            <a:r>
              <a:rPr sz="11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11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Short-list 8~10개 선정</a:t>
            </a:r>
          </a:p>
          <a:p>
            <a:pPr algn="l">
              <a:spcAft>
                <a:spcPts val="300"/>
              </a:spcAft>
            </a:pPr>
            <a:r>
              <a:rPr sz="11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11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프로토타입 대상 선정</a:t>
            </a:r>
          </a:p>
        </p:txBody>
      </p:sp>
      <p:pic>
        <p:nvPicPr>
          <p:cNvPr id="35" name="Picture 34" descr="th_matri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3785615"/>
            <a:ext cx="1508760" cy="77724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492240" y="4581143"/>
            <a:ext cx="205740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5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&lt;우선순위 평가&gt;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63640" y="4937760"/>
            <a:ext cx="2514600" cy="384048"/>
          </a:xfrm>
          <a:prstGeom prst="round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300" b="1" i="0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To-Be 시나리오 설계</a:t>
            </a:r>
          </a:p>
        </p:txBody>
      </p:sp>
      <p:sp>
        <p:nvSpPr>
          <p:cNvPr id="38" name="Oval 37"/>
          <p:cNvSpPr/>
          <p:nvPr/>
        </p:nvSpPr>
        <p:spPr>
          <a:xfrm>
            <a:off x="6153912" y="4828032"/>
            <a:ext cx="310896" cy="310896"/>
          </a:xfrm>
          <a:prstGeom prst="ellipse">
            <a:avLst/>
          </a:prstGeom>
          <a:solidFill>
            <a:srgbClr val="FFE60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2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40" y="4736592"/>
            <a:ext cx="45720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900" b="1" i="0" u="none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W3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5376672"/>
            <a:ext cx="2468880" cy="7315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11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To-Be 업무 흐름 설계</a:t>
            </a:r>
          </a:p>
          <a:p>
            <a:pPr algn="l">
              <a:spcAft>
                <a:spcPts val="300"/>
              </a:spcAft>
            </a:pPr>
            <a:r>
              <a:rPr sz="11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11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서비스 시나리오·화면 설계</a:t>
            </a:r>
          </a:p>
          <a:p>
            <a:pPr algn="l">
              <a:spcAft>
                <a:spcPts val="300"/>
              </a:spcAft>
            </a:pPr>
            <a:r>
              <a:rPr sz="11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11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과제 정의서 작성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5760720" y="3438144"/>
            <a:ext cx="320040" cy="0"/>
          </a:xfrm>
          <a:prstGeom prst="line">
            <a:avLst/>
          </a:prstGeom>
          <a:ln w="19050">
            <a:solidFill>
              <a:srgbClr val="7F7F7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9281160" y="2606040"/>
            <a:ext cx="2468880" cy="384048"/>
          </a:xfrm>
          <a:prstGeom prst="round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300" b="1" i="0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프로토타입 구현</a:t>
            </a:r>
          </a:p>
        </p:txBody>
      </p:sp>
      <p:sp>
        <p:nvSpPr>
          <p:cNvPr id="43" name="Oval 42"/>
          <p:cNvSpPr/>
          <p:nvPr/>
        </p:nvSpPr>
        <p:spPr>
          <a:xfrm>
            <a:off x="9171432" y="2496312"/>
            <a:ext cx="310896" cy="310896"/>
          </a:xfrm>
          <a:prstGeom prst="ellipse">
            <a:avLst/>
          </a:prstGeom>
          <a:solidFill>
            <a:srgbClr val="FFE60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2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292840" y="2404872"/>
            <a:ext cx="45720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900" b="1" i="0" u="none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W4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18320" y="3044952"/>
            <a:ext cx="2423160" cy="7315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11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n8n 기반 Agent 워크플로우</a:t>
            </a:r>
          </a:p>
          <a:p>
            <a:pPr algn="l">
              <a:spcAft>
                <a:spcPts val="300"/>
              </a:spcAft>
            </a:pPr>
            <a:r>
              <a:rPr sz="11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11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바이브 코딩 서비스 화면</a:t>
            </a:r>
          </a:p>
          <a:p>
            <a:pPr algn="l">
              <a:spcAft>
                <a:spcPts val="300"/>
              </a:spcAft>
            </a:pPr>
            <a:r>
              <a:rPr sz="11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11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현업 시연 및 피드백 반영</a:t>
            </a:r>
          </a:p>
        </p:txBody>
      </p:sp>
      <p:pic>
        <p:nvPicPr>
          <p:cNvPr id="46" name="Picture 45" descr="th_prot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38360" y="3785615"/>
            <a:ext cx="1508760" cy="77724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9464040" y="4581143"/>
            <a:ext cx="205740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5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&lt;Agent 워크플로우·서비스 화면&gt;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8915400" y="2798064"/>
            <a:ext cx="365760" cy="0"/>
          </a:xfrm>
          <a:prstGeom prst="line">
            <a:avLst/>
          </a:prstGeom>
          <a:ln w="19050">
            <a:solidFill>
              <a:srgbClr val="7F7F7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0497312" y="4782312"/>
            <a:ext cx="0" cy="155448"/>
          </a:xfrm>
          <a:prstGeom prst="line">
            <a:avLst/>
          </a:prstGeom>
          <a:ln w="19050">
            <a:solidFill>
              <a:srgbClr val="7F7F7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9281160" y="4937760"/>
            <a:ext cx="2468880" cy="384048"/>
          </a:xfrm>
          <a:prstGeom prst="round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300" b="1" i="0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실행 로드맵 수립</a:t>
            </a:r>
          </a:p>
        </p:txBody>
      </p:sp>
      <p:sp>
        <p:nvSpPr>
          <p:cNvPr id="51" name="Oval 50"/>
          <p:cNvSpPr/>
          <p:nvPr/>
        </p:nvSpPr>
        <p:spPr>
          <a:xfrm>
            <a:off x="9171432" y="4828032"/>
            <a:ext cx="310896" cy="310896"/>
          </a:xfrm>
          <a:prstGeom prst="ellipse">
            <a:avLst/>
          </a:prstGeom>
          <a:solidFill>
            <a:srgbClr val="FFE60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2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292840" y="4736592"/>
            <a:ext cx="45720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900" b="1" i="0" u="none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W4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418320" y="5376672"/>
            <a:ext cx="2423160" cy="7315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11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과제 실행 로드맵</a:t>
            </a:r>
          </a:p>
          <a:p>
            <a:pPr algn="l">
              <a:spcAft>
                <a:spcPts val="300"/>
              </a:spcAft>
            </a:pPr>
            <a:r>
              <a:rPr sz="11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11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최종 과제 정의서</a:t>
            </a:r>
          </a:p>
          <a:p>
            <a:pPr algn="l">
              <a:spcAft>
                <a:spcPts val="300"/>
              </a:spcAft>
            </a:pPr>
            <a:r>
              <a:rPr sz="11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11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최종 보고 및 F/U 방향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5760" y="6510528"/>
            <a:ext cx="1143000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50" b="0" i="0" u="none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※ 주요 산출물: 현황 진단서 · 핵심 업무 영역 정의서 · AI 과제 Long-list · 과제 정의서 · 프로토타입(시연 영상 포함) · 실행 로드맵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