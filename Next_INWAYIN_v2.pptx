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Lst>
  <p:notesMasterIdLst>
    <p:notesMasterId r:id="rId3"/>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Next INWAYIN" id="{00d20bdc-52fe-002e-e6d4-cd657089c452}">
          <p14:sldIdLst>
            <p14:sldId id="256"/>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notesMaster" Target="notesMasters/notesMaster1.xml"/><Relationship Id="rId4" Type="http://schemas.openxmlformats.org/officeDocument/2006/relationships/presProps" Target="presProps.xml"/><Relationship Id="rId5" Type="http://schemas.openxmlformats.org/officeDocument/2006/relationships/viewProps" Target="viewProps.xml"/><Relationship Id="rId6" Type="http://schemas.openxmlformats.org/officeDocument/2006/relationships/theme" Target="theme/theme1.xml"/><Relationship Id="rId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왼쪽은 '2. 요약' 장표 표현과 정렬: 업무 재설계-도메인·AI 융합 인력, 거버넌스-실행 조직·R&amp;R / 성과관리 체계. 거버넌스 2건과 융합 인력 부재는 AX컨설팅팀 [대내](현장 밀착형 실행·자산화)로 연결. [대외 Open Door]는 롯데그룹 현황의 해소 대상이 아니라, 대내에서 축적한 산업별 AI과제·자산을 대외 고객사 시스템 도입 시점에 접목하는 확장 방향. Infra는 원안 유지(Silo 표현만 '단위 시스템별 데이터 분산'으로 요약 장표와 정렬). 데이터 관리 주체는 업무 Owner 관점으로 Biz 컨설팅팀 연결.</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_ONLY">
    <p:bg>
      <p:bgPr>
        <a:solidFill>
          <a:srgbClr val="FFFFFF"/>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365760" y="164592"/>
            <a:ext cx="11457432" cy="502920"/>
          </a:xfrm>
          <a:prstGeom prst="rect">
            <a:avLst/>
          </a:prstGeom>
          <a:noFill/>
          <a:ln/>
        </p:spPr>
        <p:txBody>
          <a:bodyPr wrap="square" rtlCol="0"/>
          <a:lstStyle>
            <a:lvl1pPr algn="l" indent="0" marL="0">
              <a:buNone/>
              <a:defRPr lang="en-US" sz="2600" b="1" dirty="0">
                <a:solidFill>
                  <a:srgbClr val="000000"/>
                </a:solidFill>
              </a:defRPr>
            </a:lvl1pPr>
          </a:lstStyle>
          <a:p>
            <a:pPr algn="l" indent="0" marL="0">
              <a:buNone/>
            </a:pPr>
            <a:endParaRPr lang="en-US" sz="26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title" hasCustomPrompt="1"/>
          </p:nvPr>
        </p:nvSpPr>
        <p:spPr>
          <a:xfrm>
            <a:off x="365760" y="164592"/>
            <a:ext cx="11457432" cy="502920"/>
          </a:xfrm>
          <a:prstGeom prst="rect">
            <a:avLst/>
          </a:prstGeom>
          <a:noFill/>
          <a:ln/>
        </p:spPr>
        <p:txBody>
          <a:bodyPr wrap="square" lIns="0" tIns="0" rIns="0" bIns="0" rtlCol="0" anchor="ctr"/>
          <a:lstStyle/>
          <a:p>
            <a:pPr algn="l" indent="0" marL="0">
              <a:buNone/>
            </a:pPr>
            <a:r>
              <a:rPr lang="en-US" sz="2600" b="1" dirty="0">
                <a:solidFill>
                  <a:srgbClr val="000000"/>
                </a:solidFill>
              </a:rPr>
              <a:t>3. Next INWAYIN</a:t>
            </a:r>
            <a:endParaRPr lang="en-US" sz="2600" dirty="0"/>
          </a:p>
        </p:txBody>
      </p:sp>
      <p:sp>
        <p:nvSpPr>
          <p:cNvPr id="3" name="head-message"/>
          <p:cNvSpPr txBox="1"/>
          <p:nvPr/>
        </p:nvSpPr>
        <p:spPr>
          <a:xfrm>
            <a:off x="365760" y="731520"/>
            <a:ext cx="11457432" cy="658368"/>
          </a:xfrm>
          <a:prstGeom prst="rect">
            <a:avLst/>
          </a:prstGeom>
          <a:noFill/>
          <a:ln/>
        </p:spPr>
        <p:txBody>
          <a:bodyPr wrap="square" lIns="0" tIns="0" rIns="0" bIns="0" rtlCol="0" anchor="ctr"/>
          <a:lstStyle/>
          <a:p>
            <a:pPr indent="0" marL="0">
              <a:buNone/>
            </a:pPr>
            <a:r>
              <a:rPr lang="en-US" sz="1700" b="1" dirty="0">
                <a:solidFill>
                  <a:srgbClr val="000000"/>
                </a:solidFill>
                <a:latin typeface="맑은 고딕" pitchFamily="34" charset="0"/>
                <a:ea typeface="맑은 고딕" pitchFamily="34" charset="-122"/>
                <a:cs typeface="맑은 고딕" pitchFamily="34" charset="-120"/>
              </a:rPr>
              <a:t>실행(AX)·업무(Biz)·기반(ERP) 3대 방향으로 롯데그룹 AX 한계를 해소하고, </a:t>
            </a:r>
            <a:pPr indent="0" marL="0">
              <a:buNone/>
            </a:pPr>
            <a:r>
              <a:rPr lang="en-US" sz="1700" b="1" dirty="0">
                <a:solidFill>
                  <a:srgbClr val="2F5597"/>
                </a:solidFill>
                <a:latin typeface="맑은 고딕" pitchFamily="34" charset="0"/>
                <a:ea typeface="맑은 고딕" pitchFamily="34" charset="-122"/>
                <a:cs typeface="맑은 고딕" pitchFamily="34" charset="-120"/>
              </a:rPr>
              <a:t>AX컨설팅팀은 그룹 현장 실행과 대외 Open Door로 AI 적용을 가속</a:t>
            </a:r>
            <a:endParaRPr lang="en-US" sz="1700" dirty="0"/>
          </a:p>
        </p:txBody>
      </p:sp>
      <p:sp>
        <p:nvSpPr>
          <p:cNvPr id="4" name="Text 2"/>
          <p:cNvSpPr txBox="1"/>
          <p:nvPr/>
        </p:nvSpPr>
        <p:spPr>
          <a:xfrm>
            <a:off x="365760" y="1536192"/>
            <a:ext cx="5897880" cy="329184"/>
          </a:xfrm>
          <a:prstGeom prst="rect">
            <a:avLst/>
          </a:prstGeom>
          <a:noFill/>
          <a:ln/>
        </p:spPr>
        <p:txBody>
          <a:bodyPr wrap="square" lIns="0" tIns="0" rIns="0" bIns="0" rtlCol="0" anchor="ctr"/>
          <a:lstStyle/>
          <a:p>
            <a:pPr algn="ctr" indent="0" marL="0">
              <a:buNone/>
            </a:pPr>
            <a:r>
              <a:rPr lang="en-US" sz="1600" b="1" dirty="0">
                <a:solidFill>
                  <a:srgbClr val="000000"/>
                </a:solidFill>
                <a:latin typeface="맑은 고딕" pitchFamily="34" charset="0"/>
                <a:ea typeface="맑은 고딕" pitchFamily="34" charset="-122"/>
                <a:cs typeface="맑은 고딕" pitchFamily="34" charset="-120"/>
              </a:rPr>
              <a:t>롯데그룹의 AX 전환 현황</a:t>
            </a:r>
            <a:endParaRPr lang="en-US" sz="1600" dirty="0"/>
          </a:p>
        </p:txBody>
      </p:sp>
      <p:sp>
        <p:nvSpPr>
          <p:cNvPr id="5" name="Shape 3"/>
          <p:cNvSpPr/>
          <p:nvPr/>
        </p:nvSpPr>
        <p:spPr>
          <a:xfrm>
            <a:off x="365760" y="1901952"/>
            <a:ext cx="5897880" cy="0"/>
          </a:xfrm>
          <a:prstGeom prst="line">
            <a:avLst/>
          </a:prstGeom>
          <a:noFill/>
          <a:ln w="12700">
            <a:solidFill>
              <a:srgbClr val="595959"/>
            </a:solidFill>
            <a:prstDash val="solid"/>
          </a:ln>
        </p:spPr>
      </p:sp>
      <p:sp>
        <p:nvSpPr>
          <p:cNvPr id="6" name="Text 4"/>
          <p:cNvSpPr txBox="1"/>
          <p:nvPr/>
        </p:nvSpPr>
        <p:spPr>
          <a:xfrm>
            <a:off x="7269480" y="1536192"/>
            <a:ext cx="4553712" cy="329184"/>
          </a:xfrm>
          <a:prstGeom prst="rect">
            <a:avLst/>
          </a:prstGeom>
          <a:noFill/>
          <a:ln/>
        </p:spPr>
        <p:txBody>
          <a:bodyPr wrap="square" lIns="0" tIns="0" rIns="0" bIns="0" rtlCol="0" anchor="ctr"/>
          <a:lstStyle/>
          <a:p>
            <a:pPr algn="ctr" indent="0" marL="0">
              <a:buNone/>
            </a:pPr>
            <a:r>
              <a:rPr lang="en-US" sz="1600" b="1" dirty="0">
                <a:solidFill>
                  <a:srgbClr val="000000"/>
                </a:solidFill>
                <a:latin typeface="맑은 고딕" pitchFamily="34" charset="0"/>
                <a:ea typeface="맑은 고딕" pitchFamily="34" charset="-122"/>
                <a:cs typeface="맑은 고딕" pitchFamily="34" charset="-120"/>
              </a:rPr>
              <a:t>INWAYIN 3대 개선 방향</a:t>
            </a:r>
            <a:endParaRPr lang="en-US" sz="1600" dirty="0"/>
          </a:p>
        </p:txBody>
      </p:sp>
      <p:sp>
        <p:nvSpPr>
          <p:cNvPr id="7" name="Shape 5"/>
          <p:cNvSpPr/>
          <p:nvPr/>
        </p:nvSpPr>
        <p:spPr>
          <a:xfrm>
            <a:off x="7269480" y="1901952"/>
            <a:ext cx="4553712" cy="0"/>
          </a:xfrm>
          <a:prstGeom prst="line">
            <a:avLst/>
          </a:prstGeom>
          <a:noFill/>
          <a:ln w="12700">
            <a:solidFill>
              <a:srgbClr val="595959"/>
            </a:solidFill>
            <a:prstDash val="solid"/>
          </a:ln>
        </p:spPr>
      </p:sp>
      <p:sp>
        <p:nvSpPr>
          <p:cNvPr id="8" name="team-ax"/>
          <p:cNvSpPr/>
          <p:nvPr/>
        </p:nvSpPr>
        <p:spPr>
          <a:xfrm>
            <a:off x="7269480" y="2029968"/>
            <a:ext cx="4553712" cy="2139696"/>
          </a:xfrm>
          <a:prstGeom prst="rect">
            <a:avLst/>
          </a:prstGeom>
          <a:solidFill>
            <a:srgbClr val="E8ECF4"/>
          </a:solidFill>
          <a:ln w="22225">
            <a:solidFill>
              <a:srgbClr val="2F5597"/>
            </a:solidFill>
            <a:prstDash val="solid"/>
          </a:ln>
        </p:spPr>
      </p:sp>
      <p:sp>
        <p:nvSpPr>
          <p:cNvPr id="9" name="Text 7"/>
          <p:cNvSpPr txBox="1"/>
          <p:nvPr/>
        </p:nvSpPr>
        <p:spPr>
          <a:xfrm>
            <a:off x="7406640" y="2103120"/>
            <a:ext cx="4279392" cy="347472"/>
          </a:xfrm>
          <a:prstGeom prst="rect">
            <a:avLst/>
          </a:prstGeom>
          <a:noFill/>
          <a:ln/>
        </p:spPr>
        <p:txBody>
          <a:bodyPr wrap="square" lIns="0" tIns="0" rIns="0" bIns="0" rtlCol="0" anchor="ctr"/>
          <a:lstStyle/>
          <a:p>
            <a:pPr algn="ctr" indent="0" marL="0">
              <a:buNone/>
            </a:pPr>
            <a:r>
              <a:rPr lang="en-US" sz="1500" b="1" dirty="0">
                <a:solidFill>
                  <a:srgbClr val="2F5597"/>
                </a:solidFill>
                <a:latin typeface="맑은 고딕" pitchFamily="34" charset="0"/>
                <a:ea typeface="맑은 고딕" pitchFamily="34" charset="-122"/>
                <a:cs typeface="맑은 고딕" pitchFamily="34" charset="-120"/>
              </a:rPr>
              <a:t>AX컨설팅팀</a:t>
            </a:r>
            <a:pPr algn="ctr" indent="0" marL="0">
              <a:buNone/>
            </a:pPr>
            <a:r>
              <a:rPr lang="en-US" sz="1500" b="1" dirty="0">
                <a:solidFill>
                  <a:srgbClr val="1F2A44"/>
                </a:solidFill>
                <a:latin typeface="맑은 고딕" pitchFamily="34" charset="0"/>
                <a:ea typeface="맑은 고딕" pitchFamily="34" charset="-122"/>
                <a:cs typeface="맑은 고딕" pitchFamily="34" charset="-120"/>
              </a:rPr>
              <a:t> – 현장 실행 기반 AX 가속</a:t>
            </a:r>
            <a:endParaRPr lang="en-US" sz="1500" dirty="0"/>
          </a:p>
        </p:txBody>
      </p:sp>
      <p:sp>
        <p:nvSpPr>
          <p:cNvPr id="10" name="Shape 8"/>
          <p:cNvSpPr/>
          <p:nvPr/>
        </p:nvSpPr>
        <p:spPr>
          <a:xfrm>
            <a:off x="7434072" y="2551176"/>
            <a:ext cx="914400" cy="475488"/>
          </a:xfrm>
          <a:prstGeom prst="rect">
            <a:avLst/>
          </a:prstGeom>
          <a:solidFill>
            <a:srgbClr val="4A5674"/>
          </a:solidFill>
          <a:ln w="12700">
            <a:solidFill>
              <a:srgbClr val="4A5674"/>
            </a:solidFill>
            <a:prstDash val="solid"/>
          </a:ln>
        </p:spPr>
      </p:sp>
      <p:sp>
        <p:nvSpPr>
          <p:cNvPr id="11" name="Text 9"/>
          <p:cNvSpPr txBox="1"/>
          <p:nvPr/>
        </p:nvSpPr>
        <p:spPr>
          <a:xfrm>
            <a:off x="7434072" y="2551176"/>
            <a:ext cx="914400" cy="475488"/>
          </a:xfrm>
          <a:prstGeom prst="rect">
            <a:avLst/>
          </a:prstGeom>
          <a:noFill/>
          <a:ln/>
        </p:spPr>
        <p:txBody>
          <a:bodyPr wrap="square" lIns="0" tIns="0" rIns="0" bIns="0" rtlCol="0" anchor="ctr"/>
          <a:lstStyle/>
          <a:p>
            <a:pPr algn="ctr" indent="0" marL="0">
              <a:buNone/>
            </a:pPr>
            <a:r>
              <a:rPr lang="en-US" sz="1000" b="1" dirty="0">
                <a:solidFill>
                  <a:srgbClr val="FFFFFF"/>
                </a:solidFill>
                <a:latin typeface="맑은 고딕" pitchFamily="34" charset="0"/>
                <a:ea typeface="맑은 고딕" pitchFamily="34" charset="-122"/>
                <a:cs typeface="맑은 고딕" pitchFamily="34" charset="-120"/>
              </a:rPr>
              <a:t>대내</a:t>
            </a:r>
            <a:endParaRPr lang="en-US" sz="1000" dirty="0"/>
          </a:p>
          <a:p>
            <a:pPr algn="ctr" indent="0" marL="0">
              <a:buNone/>
            </a:pPr>
            <a:r>
              <a:rPr lang="en-US" sz="1000" b="1" dirty="0">
                <a:solidFill>
                  <a:srgbClr val="FFFFFF"/>
                </a:solidFill>
                <a:latin typeface="맑은 고딕" pitchFamily="34" charset="0"/>
                <a:ea typeface="맑은 고딕" pitchFamily="34" charset="-122"/>
                <a:cs typeface="맑은 고딕" pitchFamily="34" charset="-120"/>
              </a:rPr>
              <a:t>그룹사</a:t>
            </a:r>
            <a:endParaRPr lang="en-US" sz="1000" dirty="0"/>
          </a:p>
        </p:txBody>
      </p:sp>
      <p:sp>
        <p:nvSpPr>
          <p:cNvPr id="12" name="Text 10"/>
          <p:cNvSpPr txBox="1"/>
          <p:nvPr/>
        </p:nvSpPr>
        <p:spPr>
          <a:xfrm>
            <a:off x="8458200" y="2487168"/>
            <a:ext cx="3255264" cy="603504"/>
          </a:xfrm>
          <a:prstGeom prst="rect">
            <a:avLst/>
          </a:prstGeom>
          <a:noFill/>
          <a:ln/>
        </p:spPr>
        <p:txBody>
          <a:bodyPr wrap="square" lIns="0" tIns="0" rIns="0" bIns="0" rtlCol="0" anchor="ctr"/>
          <a:lstStyle/>
          <a:p>
            <a:pPr indent="0" marL="0">
              <a:buNone/>
            </a:pPr>
            <a:r>
              <a:rPr lang="en-US" sz="1150" dirty="0">
                <a:solidFill>
                  <a:srgbClr val="404040"/>
                </a:solidFill>
                <a:latin typeface="맑은 고딕" pitchFamily="34" charset="0"/>
                <a:ea typeface="맑은 고딕" pitchFamily="34" charset="-122"/>
                <a:cs typeface="맑은 고딕" pitchFamily="34" charset="-120"/>
              </a:rPr>
              <a:t>AI과제 도출~운영 안착까지 책임지는 </a:t>
            </a:r>
            <a:pPr indent="0" marL="0">
              <a:buNone/>
            </a:pPr>
            <a:r>
              <a:rPr lang="en-US" sz="1150" b="1" dirty="0">
                <a:solidFill>
                  <a:srgbClr val="000000"/>
                </a:solidFill>
                <a:latin typeface="맑은 고딕" pitchFamily="34" charset="0"/>
                <a:ea typeface="맑은 고딕" pitchFamily="34" charset="-122"/>
                <a:cs typeface="맑은 고딕" pitchFamily="34" charset="-120"/>
              </a:rPr>
              <a:t>현장 밀착형 실행(FDE)</a:t>
            </a:r>
            <a:pPr indent="0" marL="0">
              <a:buNone/>
            </a:pPr>
            <a:r>
              <a:rPr lang="en-US" sz="1150" dirty="0">
                <a:solidFill>
                  <a:srgbClr val="404040"/>
                </a:solidFill>
                <a:latin typeface="맑은 고딕" pitchFamily="34" charset="0"/>
                <a:ea typeface="맑은 고딕" pitchFamily="34" charset="-122"/>
                <a:cs typeface="맑은 고딕" pitchFamily="34" charset="-120"/>
              </a:rPr>
              <a:t>, 자산화로 다음 과제 가속</a:t>
            </a:r>
            <a:endParaRPr lang="en-US" sz="1150" dirty="0"/>
          </a:p>
        </p:txBody>
      </p:sp>
      <p:sp>
        <p:nvSpPr>
          <p:cNvPr id="13" name="Shape 11"/>
          <p:cNvSpPr/>
          <p:nvPr/>
        </p:nvSpPr>
        <p:spPr>
          <a:xfrm>
            <a:off x="7891272" y="3054096"/>
            <a:ext cx="914" cy="256032"/>
          </a:xfrm>
          <a:prstGeom prst="line">
            <a:avLst/>
          </a:prstGeom>
          <a:noFill/>
          <a:ln w="15875">
            <a:solidFill>
              <a:srgbClr val="4472C4"/>
            </a:solidFill>
            <a:prstDash val="dash"/>
            <a:tailEnd type="triangle"/>
          </a:ln>
        </p:spPr>
      </p:sp>
      <p:sp>
        <p:nvSpPr>
          <p:cNvPr id="14" name="Text 12"/>
          <p:cNvSpPr txBox="1"/>
          <p:nvPr/>
        </p:nvSpPr>
        <p:spPr>
          <a:xfrm>
            <a:off x="8458200" y="3090672"/>
            <a:ext cx="3456432" cy="237744"/>
          </a:xfrm>
          <a:prstGeom prst="rect">
            <a:avLst/>
          </a:prstGeom>
          <a:noFill/>
          <a:ln/>
        </p:spPr>
        <p:txBody>
          <a:bodyPr wrap="square" lIns="0" tIns="0" rIns="0" bIns="0" rtlCol="0" anchor="ctr"/>
          <a:lstStyle/>
          <a:p>
            <a:pPr indent="0" marL="0">
              <a:buNone/>
            </a:pPr>
            <a:r>
              <a:rPr lang="en-US" sz="950" i="1" dirty="0">
                <a:solidFill>
                  <a:srgbClr val="2F5597"/>
                </a:solidFill>
                <a:latin typeface="맑은 고딕" pitchFamily="34" charset="0"/>
                <a:ea typeface="맑은 고딕" pitchFamily="34" charset="-122"/>
                <a:cs typeface="맑은 고딕" pitchFamily="34" charset="-120"/>
              </a:rPr>
              <a:t>산업별 AI과제·자산 축적 기반 확장</a:t>
            </a:r>
            <a:endParaRPr lang="en-US" sz="950" dirty="0"/>
          </a:p>
        </p:txBody>
      </p:sp>
      <p:sp>
        <p:nvSpPr>
          <p:cNvPr id="15" name="Shape 13"/>
          <p:cNvSpPr/>
          <p:nvPr/>
        </p:nvSpPr>
        <p:spPr>
          <a:xfrm>
            <a:off x="7434072" y="3346704"/>
            <a:ext cx="914400" cy="475488"/>
          </a:xfrm>
          <a:prstGeom prst="rect">
            <a:avLst/>
          </a:prstGeom>
          <a:solidFill>
            <a:srgbClr val="4A5674"/>
          </a:solidFill>
          <a:ln w="12700">
            <a:solidFill>
              <a:srgbClr val="4A5674"/>
            </a:solidFill>
            <a:prstDash val="solid"/>
          </a:ln>
        </p:spPr>
      </p:sp>
      <p:sp>
        <p:nvSpPr>
          <p:cNvPr id="16" name="Text 14"/>
          <p:cNvSpPr txBox="1"/>
          <p:nvPr/>
        </p:nvSpPr>
        <p:spPr>
          <a:xfrm>
            <a:off x="7434072" y="3346704"/>
            <a:ext cx="914400" cy="475488"/>
          </a:xfrm>
          <a:prstGeom prst="rect">
            <a:avLst/>
          </a:prstGeom>
          <a:noFill/>
          <a:ln/>
        </p:spPr>
        <p:txBody>
          <a:bodyPr wrap="square" lIns="0" tIns="0" rIns="0" bIns="0" rtlCol="0" anchor="ctr"/>
          <a:lstStyle/>
          <a:p>
            <a:pPr algn="ctr" indent="0" marL="0">
              <a:buNone/>
            </a:pPr>
            <a:r>
              <a:rPr lang="en-US" sz="1000" b="1" dirty="0">
                <a:solidFill>
                  <a:srgbClr val="FFFFFF"/>
                </a:solidFill>
                <a:latin typeface="맑은 고딕" pitchFamily="34" charset="0"/>
                <a:ea typeface="맑은 고딕" pitchFamily="34" charset="-122"/>
                <a:cs typeface="맑은 고딕" pitchFamily="34" charset="-120"/>
              </a:rPr>
              <a:t>대외</a:t>
            </a:r>
            <a:endParaRPr lang="en-US" sz="1000" dirty="0"/>
          </a:p>
          <a:p>
            <a:pPr algn="ctr" indent="0" marL="0">
              <a:buNone/>
            </a:pPr>
            <a:r>
              <a:rPr lang="en-US" sz="1000" b="1" dirty="0">
                <a:solidFill>
                  <a:srgbClr val="FFFFFF"/>
                </a:solidFill>
                <a:latin typeface="맑은 고딕" pitchFamily="34" charset="0"/>
                <a:ea typeface="맑은 고딕" pitchFamily="34" charset="-122"/>
                <a:cs typeface="맑은 고딕" pitchFamily="34" charset="-120"/>
              </a:rPr>
              <a:t>Open Door</a:t>
            </a:r>
            <a:endParaRPr lang="en-US" sz="1000" dirty="0"/>
          </a:p>
        </p:txBody>
      </p:sp>
      <p:sp>
        <p:nvSpPr>
          <p:cNvPr id="17" name="Text 15"/>
          <p:cNvSpPr txBox="1"/>
          <p:nvPr/>
        </p:nvSpPr>
        <p:spPr>
          <a:xfrm>
            <a:off x="8458200" y="3328416"/>
            <a:ext cx="3255264" cy="512064"/>
          </a:xfrm>
          <a:prstGeom prst="rect">
            <a:avLst/>
          </a:prstGeom>
          <a:noFill/>
          <a:ln/>
        </p:spPr>
        <p:txBody>
          <a:bodyPr wrap="square" lIns="0" tIns="0" rIns="0" bIns="0" rtlCol="0" anchor="ctr"/>
          <a:lstStyle/>
          <a:p>
            <a:pPr indent="0" marL="0">
              <a:buNone/>
            </a:pPr>
            <a:r>
              <a:rPr lang="en-US" sz="1150" dirty="0">
                <a:solidFill>
                  <a:srgbClr val="404040"/>
                </a:solidFill>
                <a:latin typeface="맑은 고딕" pitchFamily="34" charset="0"/>
                <a:ea typeface="맑은 고딕" pitchFamily="34" charset="-122"/>
                <a:cs typeface="맑은 고딕" pitchFamily="34" charset="-120"/>
              </a:rPr>
              <a:t>시스템 도입 시점에 </a:t>
            </a:r>
            <a:pPr indent="0" marL="0">
              <a:buNone/>
            </a:pPr>
            <a:r>
              <a:rPr lang="en-US" sz="1150" b="1" dirty="0">
                <a:solidFill>
                  <a:srgbClr val="000000"/>
                </a:solidFill>
                <a:latin typeface="맑은 고딕" pitchFamily="34" charset="0"/>
                <a:ea typeface="맑은 고딕" pitchFamily="34" charset="-122"/>
                <a:cs typeface="맑은 고딕" pitchFamily="34" charset="-120"/>
              </a:rPr>
              <a:t>AI과제 접목</a:t>
            </a:r>
            <a:pPr indent="0" marL="0">
              <a:buNone/>
            </a:pPr>
            <a:r>
              <a:rPr lang="en-US" sz="1150" dirty="0">
                <a:solidFill>
                  <a:srgbClr val="404040"/>
                </a:solidFill>
                <a:latin typeface="맑은 고딕" pitchFamily="34" charset="0"/>
                <a:ea typeface="맑은 고딕" pitchFamily="34" charset="-122"/>
                <a:cs typeface="맑은 고딕" pitchFamily="34" charset="-120"/>
              </a:rPr>
              <a:t> → 사업 범위 확장·</a:t>
            </a:r>
            <a:pPr indent="0" marL="0">
              <a:buNone/>
            </a:pPr>
            <a:r>
              <a:rPr lang="en-US" sz="1150" b="1" dirty="0">
                <a:solidFill>
                  <a:srgbClr val="000000"/>
                </a:solidFill>
                <a:latin typeface="맑은 고딕" pitchFamily="34" charset="0"/>
                <a:ea typeface="맑은 고딕" pitchFamily="34" charset="-122"/>
                <a:cs typeface="맑은 고딕" pitchFamily="34" charset="-120"/>
              </a:rPr>
              <a:t>수주 기여</a:t>
            </a:r>
            <a:endParaRPr lang="en-US" sz="1150" dirty="0"/>
          </a:p>
        </p:txBody>
      </p:sp>
      <p:sp>
        <p:nvSpPr>
          <p:cNvPr id="18" name="Text 16"/>
          <p:cNvSpPr txBox="1"/>
          <p:nvPr/>
        </p:nvSpPr>
        <p:spPr>
          <a:xfrm>
            <a:off x="7434072" y="3877056"/>
            <a:ext cx="4224528" cy="237744"/>
          </a:xfrm>
          <a:prstGeom prst="rect">
            <a:avLst/>
          </a:prstGeom>
          <a:noFill/>
          <a:ln/>
        </p:spPr>
        <p:txBody>
          <a:bodyPr wrap="square" lIns="0" tIns="0" rIns="0" bIns="0" rtlCol="0" anchor="ctr"/>
          <a:lstStyle/>
          <a:p>
            <a:pPr algn="r" indent="0" marL="0">
              <a:buNone/>
            </a:pPr>
            <a:r>
              <a:rPr lang="en-US" sz="950" dirty="0">
                <a:solidFill>
                  <a:srgbClr val="595959"/>
                </a:solidFill>
                <a:latin typeface="맑은 고딕" pitchFamily="34" charset="0"/>
                <a:ea typeface="맑은 고딕" pitchFamily="34" charset="-122"/>
                <a:cs typeface="맑은 고딕" pitchFamily="34" charset="-120"/>
              </a:rPr>
              <a:t>기반 역량 : 산업별 AI과제 정의 (PJT 21건 · 과제 104개)</a:t>
            </a:r>
            <a:endParaRPr lang="en-US" sz="950" dirty="0"/>
          </a:p>
        </p:txBody>
      </p:sp>
      <p:sp>
        <p:nvSpPr>
          <p:cNvPr id="19" name="cond-1"/>
          <p:cNvSpPr/>
          <p:nvPr/>
        </p:nvSpPr>
        <p:spPr>
          <a:xfrm>
            <a:off x="365760" y="2029968"/>
            <a:ext cx="1143000" cy="969264"/>
          </a:xfrm>
          <a:prstGeom prst="homePlate">
            <a:avLst/>
          </a:prstGeom>
          <a:solidFill>
            <a:srgbClr val="F2F2F2"/>
          </a:solidFill>
          <a:ln w="9525">
            <a:solidFill>
              <a:srgbClr val="A6A6A6"/>
            </a:solidFill>
            <a:prstDash val="solid"/>
          </a:ln>
        </p:spPr>
      </p:sp>
      <p:sp>
        <p:nvSpPr>
          <p:cNvPr id="20" name="Text 18"/>
          <p:cNvSpPr txBox="1"/>
          <p:nvPr/>
        </p:nvSpPr>
        <p:spPr>
          <a:xfrm>
            <a:off x="365760" y="2029968"/>
            <a:ext cx="1005840" cy="969264"/>
          </a:xfrm>
          <a:prstGeom prst="rect">
            <a:avLst/>
          </a:prstGeom>
          <a:noFill/>
          <a:ln/>
        </p:spPr>
        <p:txBody>
          <a:bodyPr wrap="square" lIns="0" tIns="0" rIns="0" bIns="0" rtlCol="0" anchor="ctr"/>
          <a:lstStyle/>
          <a:p>
            <a:pPr algn="ctr" indent="0" marL="0">
              <a:buNone/>
            </a:pPr>
            <a:r>
              <a:rPr lang="en-US" sz="1350" b="1" dirty="0">
                <a:solidFill>
                  <a:srgbClr val="000000"/>
                </a:solidFill>
                <a:latin typeface="맑은 고딕" pitchFamily="34" charset="0"/>
                <a:ea typeface="맑은 고딕" pitchFamily="34" charset="-122"/>
                <a:cs typeface="맑은 고딕" pitchFamily="34" charset="-120"/>
              </a:rPr>
              <a:t>업무</a:t>
            </a:r>
            <a:endParaRPr lang="en-US" sz="1350" dirty="0"/>
          </a:p>
          <a:p>
            <a:pPr algn="ctr" indent="0" marL="0">
              <a:buNone/>
            </a:pPr>
            <a:r>
              <a:rPr lang="en-US" sz="1350" b="1" dirty="0">
                <a:solidFill>
                  <a:srgbClr val="000000"/>
                </a:solidFill>
                <a:latin typeface="맑은 고딕" pitchFamily="34" charset="0"/>
                <a:ea typeface="맑은 고딕" pitchFamily="34" charset="-122"/>
                <a:cs typeface="맑은 고딕" pitchFamily="34" charset="-120"/>
              </a:rPr>
              <a:t>재설계</a:t>
            </a:r>
            <a:endParaRPr lang="en-US" sz="1350" dirty="0"/>
          </a:p>
        </p:txBody>
      </p:sp>
      <p:sp>
        <p:nvSpPr>
          <p:cNvPr id="21" name="Shape 19"/>
          <p:cNvSpPr/>
          <p:nvPr/>
        </p:nvSpPr>
        <p:spPr>
          <a:xfrm>
            <a:off x="1600200" y="2029968"/>
            <a:ext cx="4553712" cy="457200"/>
          </a:xfrm>
          <a:prstGeom prst="rect">
            <a:avLst/>
          </a:prstGeom>
          <a:solidFill>
            <a:srgbClr val="FFFFFF"/>
          </a:solidFill>
          <a:ln w="9525">
            <a:solidFill>
              <a:srgbClr val="BFBFBF"/>
            </a:solidFill>
            <a:prstDash val="solid"/>
          </a:ln>
        </p:spPr>
      </p:sp>
      <p:sp>
        <p:nvSpPr>
          <p:cNvPr id="22" name="Text 20"/>
          <p:cNvSpPr txBox="1"/>
          <p:nvPr/>
        </p:nvSpPr>
        <p:spPr>
          <a:xfrm>
            <a:off x="1673352" y="2029968"/>
            <a:ext cx="4407408" cy="457200"/>
          </a:xfrm>
          <a:prstGeom prst="rect">
            <a:avLst/>
          </a:prstGeom>
          <a:noFill/>
          <a:ln/>
        </p:spPr>
        <p:txBody>
          <a:bodyPr wrap="square" lIns="0" tIns="0" rIns="0" bIns="0" rtlCol="0" anchor="ctr"/>
          <a:lstStyle/>
          <a:p>
            <a:pPr algn="ctr" indent="0" marL="0">
              <a:buNone/>
            </a:pPr>
            <a:r>
              <a:rPr lang="en-US" sz="1200" dirty="0">
                <a:solidFill>
                  <a:srgbClr val="404040"/>
                </a:solidFill>
                <a:latin typeface="맑은 고딕" pitchFamily="34" charset="0"/>
                <a:ea typeface="맑은 고딕" pitchFamily="34" charset="-122"/>
                <a:cs typeface="맑은 고딕" pitchFamily="34" charset="-120"/>
              </a:rPr>
              <a:t>부분적 AI 접목으로 전사 차원 업무 연계 단절</a:t>
            </a:r>
            <a:endParaRPr lang="en-US" sz="1200" dirty="0"/>
          </a:p>
        </p:txBody>
      </p:sp>
      <p:sp>
        <p:nvSpPr>
          <p:cNvPr id="23" name="Shape 21"/>
          <p:cNvSpPr/>
          <p:nvPr/>
        </p:nvSpPr>
        <p:spPr>
          <a:xfrm>
            <a:off x="6181344" y="2212848"/>
            <a:ext cx="91440" cy="91440"/>
          </a:xfrm>
          <a:prstGeom prst="ellipse">
            <a:avLst/>
          </a:prstGeom>
          <a:solidFill>
            <a:srgbClr val="808080"/>
          </a:solidFill>
          <a:ln w="12700">
            <a:solidFill>
              <a:srgbClr val="808080"/>
            </a:solidFill>
            <a:prstDash val="solid"/>
          </a:ln>
        </p:spPr>
      </p:sp>
      <p:sp>
        <p:nvSpPr>
          <p:cNvPr id="24" name="Shape 22"/>
          <p:cNvSpPr/>
          <p:nvPr/>
        </p:nvSpPr>
        <p:spPr>
          <a:xfrm>
            <a:off x="1600200" y="2542032"/>
            <a:ext cx="4553712" cy="457200"/>
          </a:xfrm>
          <a:prstGeom prst="rect">
            <a:avLst/>
          </a:prstGeom>
          <a:solidFill>
            <a:srgbClr val="FFFFFF"/>
          </a:solidFill>
          <a:ln w="19050">
            <a:solidFill>
              <a:srgbClr val="2F5597"/>
            </a:solidFill>
            <a:prstDash val="solid"/>
          </a:ln>
        </p:spPr>
      </p:sp>
      <p:sp>
        <p:nvSpPr>
          <p:cNvPr id="25" name="Text 23"/>
          <p:cNvSpPr txBox="1"/>
          <p:nvPr/>
        </p:nvSpPr>
        <p:spPr>
          <a:xfrm>
            <a:off x="1673352" y="2542032"/>
            <a:ext cx="4407408" cy="457200"/>
          </a:xfrm>
          <a:prstGeom prst="rect">
            <a:avLst/>
          </a:prstGeom>
          <a:noFill/>
          <a:ln/>
        </p:spPr>
        <p:txBody>
          <a:bodyPr wrap="square" lIns="0" tIns="0" rIns="0" bIns="0" rtlCol="0" anchor="ctr"/>
          <a:lstStyle/>
          <a:p>
            <a:pPr algn="ctr" indent="0" marL="0">
              <a:buNone/>
            </a:pPr>
            <a:r>
              <a:rPr lang="en-US" sz="1200" b="1" dirty="0">
                <a:solidFill>
                  <a:srgbClr val="1F2A44"/>
                </a:solidFill>
                <a:latin typeface="맑은 고딕" pitchFamily="34" charset="0"/>
                <a:ea typeface="맑은 고딕" pitchFamily="34" charset="-122"/>
                <a:cs typeface="맑은 고딕" pitchFamily="34" charset="-120"/>
              </a:rPr>
              <a:t>도메인·AI 융합 인력 부재로 현장 적용 효과 저하</a:t>
            </a:r>
            <a:endParaRPr lang="en-US" sz="1200" dirty="0"/>
          </a:p>
        </p:txBody>
      </p:sp>
      <p:sp>
        <p:nvSpPr>
          <p:cNvPr id="26" name="Shape 24"/>
          <p:cNvSpPr/>
          <p:nvPr/>
        </p:nvSpPr>
        <p:spPr>
          <a:xfrm>
            <a:off x="6181344" y="2724912"/>
            <a:ext cx="91440" cy="91440"/>
          </a:xfrm>
          <a:prstGeom prst="ellipse">
            <a:avLst/>
          </a:prstGeom>
          <a:solidFill>
            <a:srgbClr val="2F5597"/>
          </a:solidFill>
          <a:ln w="12700">
            <a:solidFill>
              <a:srgbClr val="2F5597"/>
            </a:solidFill>
            <a:prstDash val="solid"/>
          </a:ln>
        </p:spPr>
      </p:sp>
      <p:sp>
        <p:nvSpPr>
          <p:cNvPr id="27" name="cond-2"/>
          <p:cNvSpPr/>
          <p:nvPr/>
        </p:nvSpPr>
        <p:spPr>
          <a:xfrm>
            <a:off x="365760" y="3127248"/>
            <a:ext cx="1143000" cy="969264"/>
          </a:xfrm>
          <a:prstGeom prst="homePlate">
            <a:avLst/>
          </a:prstGeom>
          <a:solidFill>
            <a:srgbClr val="F2F2F2"/>
          </a:solidFill>
          <a:ln w="9525">
            <a:solidFill>
              <a:srgbClr val="A6A6A6"/>
            </a:solidFill>
            <a:prstDash val="solid"/>
          </a:ln>
        </p:spPr>
      </p:sp>
      <p:sp>
        <p:nvSpPr>
          <p:cNvPr id="28" name="Text 26"/>
          <p:cNvSpPr txBox="1"/>
          <p:nvPr/>
        </p:nvSpPr>
        <p:spPr>
          <a:xfrm>
            <a:off x="365760" y="3127248"/>
            <a:ext cx="1005840" cy="969264"/>
          </a:xfrm>
          <a:prstGeom prst="rect">
            <a:avLst/>
          </a:prstGeom>
          <a:noFill/>
          <a:ln/>
        </p:spPr>
        <p:txBody>
          <a:bodyPr wrap="square" lIns="0" tIns="0" rIns="0" bIns="0" rtlCol="0" anchor="ctr"/>
          <a:lstStyle/>
          <a:p>
            <a:pPr algn="ctr" indent="0" marL="0">
              <a:buNone/>
            </a:pPr>
            <a:r>
              <a:rPr lang="en-US" sz="1350" b="1" dirty="0">
                <a:solidFill>
                  <a:srgbClr val="000000"/>
                </a:solidFill>
                <a:latin typeface="맑은 고딕" pitchFamily="34" charset="0"/>
                <a:ea typeface="맑은 고딕" pitchFamily="34" charset="-122"/>
                <a:cs typeface="맑은 고딕" pitchFamily="34" charset="-120"/>
              </a:rPr>
              <a:t>거버넌스</a:t>
            </a:r>
            <a:endParaRPr lang="en-US" sz="1350" dirty="0"/>
          </a:p>
        </p:txBody>
      </p:sp>
      <p:sp>
        <p:nvSpPr>
          <p:cNvPr id="29" name="Shape 27"/>
          <p:cNvSpPr/>
          <p:nvPr/>
        </p:nvSpPr>
        <p:spPr>
          <a:xfrm>
            <a:off x="1600200" y="3127248"/>
            <a:ext cx="4553712" cy="457200"/>
          </a:xfrm>
          <a:prstGeom prst="rect">
            <a:avLst/>
          </a:prstGeom>
          <a:solidFill>
            <a:srgbClr val="FFFFFF"/>
          </a:solidFill>
          <a:ln w="19050">
            <a:solidFill>
              <a:srgbClr val="2F5597"/>
            </a:solidFill>
            <a:prstDash val="solid"/>
          </a:ln>
        </p:spPr>
      </p:sp>
      <p:sp>
        <p:nvSpPr>
          <p:cNvPr id="30" name="Text 28"/>
          <p:cNvSpPr txBox="1"/>
          <p:nvPr/>
        </p:nvSpPr>
        <p:spPr>
          <a:xfrm>
            <a:off x="1673352" y="3127248"/>
            <a:ext cx="4407408" cy="457200"/>
          </a:xfrm>
          <a:prstGeom prst="rect">
            <a:avLst/>
          </a:prstGeom>
          <a:noFill/>
          <a:ln/>
        </p:spPr>
        <p:txBody>
          <a:bodyPr wrap="square" lIns="0" tIns="0" rIns="0" bIns="0" rtlCol="0" anchor="ctr"/>
          <a:lstStyle/>
          <a:p>
            <a:pPr algn="ctr" indent="0" marL="0">
              <a:buNone/>
            </a:pPr>
            <a:r>
              <a:rPr lang="en-US" sz="1200" b="1" dirty="0">
                <a:solidFill>
                  <a:srgbClr val="1F2A44"/>
                </a:solidFill>
                <a:latin typeface="맑은 고딕" pitchFamily="34" charset="0"/>
                <a:ea typeface="맑은 고딕" pitchFamily="34" charset="-122"/>
                <a:cs typeface="맑은 고딕" pitchFamily="34" charset="-120"/>
              </a:rPr>
              <a:t>AX 실행·확산 조직(R&amp;R) 부재로 과제 단위 일회성 추진</a:t>
            </a:r>
            <a:endParaRPr lang="en-US" sz="1200" dirty="0"/>
          </a:p>
        </p:txBody>
      </p:sp>
      <p:sp>
        <p:nvSpPr>
          <p:cNvPr id="31" name="Shape 29"/>
          <p:cNvSpPr/>
          <p:nvPr/>
        </p:nvSpPr>
        <p:spPr>
          <a:xfrm>
            <a:off x="6181344" y="3310128"/>
            <a:ext cx="91440" cy="91440"/>
          </a:xfrm>
          <a:prstGeom prst="ellipse">
            <a:avLst/>
          </a:prstGeom>
          <a:solidFill>
            <a:srgbClr val="2F5597"/>
          </a:solidFill>
          <a:ln w="12700">
            <a:solidFill>
              <a:srgbClr val="2F5597"/>
            </a:solidFill>
            <a:prstDash val="solid"/>
          </a:ln>
        </p:spPr>
      </p:sp>
      <p:sp>
        <p:nvSpPr>
          <p:cNvPr id="32" name="Shape 30"/>
          <p:cNvSpPr/>
          <p:nvPr/>
        </p:nvSpPr>
        <p:spPr>
          <a:xfrm>
            <a:off x="1600200" y="3639312"/>
            <a:ext cx="4553712" cy="457200"/>
          </a:xfrm>
          <a:prstGeom prst="rect">
            <a:avLst/>
          </a:prstGeom>
          <a:solidFill>
            <a:srgbClr val="FFFFFF"/>
          </a:solidFill>
          <a:ln w="19050">
            <a:solidFill>
              <a:srgbClr val="2F5597"/>
            </a:solidFill>
            <a:prstDash val="solid"/>
          </a:ln>
        </p:spPr>
      </p:sp>
      <p:sp>
        <p:nvSpPr>
          <p:cNvPr id="33" name="Text 31"/>
          <p:cNvSpPr txBox="1"/>
          <p:nvPr/>
        </p:nvSpPr>
        <p:spPr>
          <a:xfrm>
            <a:off x="1673352" y="3639312"/>
            <a:ext cx="4407408" cy="457200"/>
          </a:xfrm>
          <a:prstGeom prst="rect">
            <a:avLst/>
          </a:prstGeom>
          <a:noFill/>
          <a:ln/>
        </p:spPr>
        <p:txBody>
          <a:bodyPr wrap="square" lIns="0" tIns="0" rIns="0" bIns="0" rtlCol="0" anchor="ctr"/>
          <a:lstStyle/>
          <a:p>
            <a:pPr algn="ctr" indent="0" marL="0">
              <a:buNone/>
            </a:pPr>
            <a:r>
              <a:rPr lang="en-US" sz="1200" b="1" dirty="0">
                <a:solidFill>
                  <a:srgbClr val="1F2A44"/>
                </a:solidFill>
                <a:latin typeface="맑은 고딕" pitchFamily="34" charset="0"/>
                <a:ea typeface="맑은 고딕" pitchFamily="34" charset="-122"/>
                <a:cs typeface="맑은 고딕" pitchFamily="34" charset="-120"/>
              </a:rPr>
              <a:t>ROI·성과 검증 기준 부재로 전사 성과 연결 미흡</a:t>
            </a:r>
            <a:endParaRPr lang="en-US" sz="1200" dirty="0"/>
          </a:p>
        </p:txBody>
      </p:sp>
      <p:sp>
        <p:nvSpPr>
          <p:cNvPr id="34" name="Shape 32"/>
          <p:cNvSpPr/>
          <p:nvPr/>
        </p:nvSpPr>
        <p:spPr>
          <a:xfrm>
            <a:off x="6181344" y="3822192"/>
            <a:ext cx="91440" cy="91440"/>
          </a:xfrm>
          <a:prstGeom prst="ellipse">
            <a:avLst/>
          </a:prstGeom>
          <a:solidFill>
            <a:srgbClr val="2F5597"/>
          </a:solidFill>
          <a:ln w="12700">
            <a:solidFill>
              <a:srgbClr val="2F5597"/>
            </a:solidFill>
            <a:prstDash val="solid"/>
          </a:ln>
        </p:spPr>
      </p:sp>
      <p:sp>
        <p:nvSpPr>
          <p:cNvPr id="35" name="cond-3"/>
          <p:cNvSpPr/>
          <p:nvPr/>
        </p:nvSpPr>
        <p:spPr>
          <a:xfrm>
            <a:off x="365760" y="4224528"/>
            <a:ext cx="1143000" cy="969264"/>
          </a:xfrm>
          <a:prstGeom prst="homePlate">
            <a:avLst/>
          </a:prstGeom>
          <a:solidFill>
            <a:srgbClr val="F2F2F2"/>
          </a:solidFill>
          <a:ln w="9525">
            <a:solidFill>
              <a:srgbClr val="A6A6A6"/>
            </a:solidFill>
            <a:prstDash val="solid"/>
          </a:ln>
        </p:spPr>
      </p:sp>
      <p:sp>
        <p:nvSpPr>
          <p:cNvPr id="36" name="Text 34"/>
          <p:cNvSpPr txBox="1"/>
          <p:nvPr/>
        </p:nvSpPr>
        <p:spPr>
          <a:xfrm>
            <a:off x="365760" y="4224528"/>
            <a:ext cx="1005840" cy="969264"/>
          </a:xfrm>
          <a:prstGeom prst="rect">
            <a:avLst/>
          </a:prstGeom>
          <a:noFill/>
          <a:ln/>
        </p:spPr>
        <p:txBody>
          <a:bodyPr wrap="square" lIns="0" tIns="0" rIns="0" bIns="0" rtlCol="0" anchor="ctr"/>
          <a:lstStyle/>
          <a:p>
            <a:pPr algn="ctr" indent="0" marL="0">
              <a:buNone/>
            </a:pPr>
            <a:r>
              <a:rPr lang="en-US" sz="1350" b="1" dirty="0">
                <a:solidFill>
                  <a:srgbClr val="000000"/>
                </a:solidFill>
                <a:latin typeface="맑은 고딕" pitchFamily="34" charset="0"/>
                <a:ea typeface="맑은 고딕" pitchFamily="34" charset="-122"/>
                <a:cs typeface="맑은 고딕" pitchFamily="34" charset="-120"/>
              </a:rPr>
              <a:t>DATA</a:t>
            </a:r>
            <a:endParaRPr lang="en-US" sz="1350" dirty="0"/>
          </a:p>
        </p:txBody>
      </p:sp>
      <p:sp>
        <p:nvSpPr>
          <p:cNvPr id="37" name="Shape 35"/>
          <p:cNvSpPr/>
          <p:nvPr/>
        </p:nvSpPr>
        <p:spPr>
          <a:xfrm>
            <a:off x="1600200" y="4224528"/>
            <a:ext cx="4553712" cy="457200"/>
          </a:xfrm>
          <a:prstGeom prst="rect">
            <a:avLst/>
          </a:prstGeom>
          <a:solidFill>
            <a:srgbClr val="FFFFFF"/>
          </a:solidFill>
          <a:ln w="9525">
            <a:solidFill>
              <a:srgbClr val="BFBFBF"/>
            </a:solidFill>
            <a:prstDash val="solid"/>
          </a:ln>
        </p:spPr>
      </p:sp>
      <p:sp>
        <p:nvSpPr>
          <p:cNvPr id="38" name="Text 36"/>
          <p:cNvSpPr txBox="1"/>
          <p:nvPr/>
        </p:nvSpPr>
        <p:spPr>
          <a:xfrm>
            <a:off x="1673352" y="4224528"/>
            <a:ext cx="4407408" cy="457200"/>
          </a:xfrm>
          <a:prstGeom prst="rect">
            <a:avLst/>
          </a:prstGeom>
          <a:noFill/>
          <a:ln/>
        </p:spPr>
        <p:txBody>
          <a:bodyPr wrap="square" lIns="0" tIns="0" rIns="0" bIns="0" rtlCol="0" anchor="ctr"/>
          <a:lstStyle/>
          <a:p>
            <a:pPr algn="ctr" indent="0" marL="0">
              <a:buNone/>
            </a:pPr>
            <a:r>
              <a:rPr lang="en-US" sz="1200" dirty="0">
                <a:solidFill>
                  <a:srgbClr val="404040"/>
                </a:solidFill>
                <a:latin typeface="맑은 고딕" pitchFamily="34" charset="0"/>
                <a:ea typeface="맑은 고딕" pitchFamily="34" charset="-122"/>
                <a:cs typeface="맑은 고딕" pitchFamily="34" charset="-120"/>
              </a:rPr>
              <a:t>시스템별 데이터 파편화로 통합 분석 불가</a:t>
            </a:r>
            <a:endParaRPr lang="en-US" sz="1200" dirty="0"/>
          </a:p>
        </p:txBody>
      </p:sp>
      <p:sp>
        <p:nvSpPr>
          <p:cNvPr id="39" name="Shape 37"/>
          <p:cNvSpPr/>
          <p:nvPr/>
        </p:nvSpPr>
        <p:spPr>
          <a:xfrm>
            <a:off x="6181344" y="4407408"/>
            <a:ext cx="91440" cy="91440"/>
          </a:xfrm>
          <a:prstGeom prst="ellipse">
            <a:avLst/>
          </a:prstGeom>
          <a:solidFill>
            <a:srgbClr val="808080"/>
          </a:solidFill>
          <a:ln w="12700">
            <a:solidFill>
              <a:srgbClr val="808080"/>
            </a:solidFill>
            <a:prstDash val="solid"/>
          </a:ln>
        </p:spPr>
      </p:sp>
      <p:sp>
        <p:nvSpPr>
          <p:cNvPr id="40" name="Shape 38"/>
          <p:cNvSpPr/>
          <p:nvPr/>
        </p:nvSpPr>
        <p:spPr>
          <a:xfrm>
            <a:off x="1600200" y="4736592"/>
            <a:ext cx="4553712" cy="457200"/>
          </a:xfrm>
          <a:prstGeom prst="rect">
            <a:avLst/>
          </a:prstGeom>
          <a:solidFill>
            <a:srgbClr val="FFFFFF"/>
          </a:solidFill>
          <a:ln w="9525">
            <a:solidFill>
              <a:srgbClr val="BFBFBF"/>
            </a:solidFill>
            <a:prstDash val="solid"/>
          </a:ln>
        </p:spPr>
      </p:sp>
      <p:sp>
        <p:nvSpPr>
          <p:cNvPr id="41" name="Text 39"/>
          <p:cNvSpPr txBox="1"/>
          <p:nvPr/>
        </p:nvSpPr>
        <p:spPr>
          <a:xfrm>
            <a:off x="1673352" y="4736592"/>
            <a:ext cx="4407408" cy="457200"/>
          </a:xfrm>
          <a:prstGeom prst="rect">
            <a:avLst/>
          </a:prstGeom>
          <a:noFill/>
          <a:ln/>
        </p:spPr>
        <p:txBody>
          <a:bodyPr wrap="square" lIns="0" tIns="0" rIns="0" bIns="0" rtlCol="0" anchor="ctr"/>
          <a:lstStyle/>
          <a:p>
            <a:pPr algn="ctr" indent="0" marL="0">
              <a:buNone/>
            </a:pPr>
            <a:r>
              <a:rPr lang="en-US" sz="1200" dirty="0">
                <a:solidFill>
                  <a:srgbClr val="404040"/>
                </a:solidFill>
                <a:latin typeface="맑은 고딕" pitchFamily="34" charset="0"/>
                <a:ea typeface="맑은 고딕" pitchFamily="34" charset="-122"/>
                <a:cs typeface="맑은 고딕" pitchFamily="34" charset="-120"/>
              </a:rPr>
              <a:t>데이터 관리 주체 불분명으로 누락·중복·오류</a:t>
            </a:r>
            <a:endParaRPr lang="en-US" sz="1200" dirty="0"/>
          </a:p>
        </p:txBody>
      </p:sp>
      <p:sp>
        <p:nvSpPr>
          <p:cNvPr id="42" name="Shape 40"/>
          <p:cNvSpPr/>
          <p:nvPr/>
        </p:nvSpPr>
        <p:spPr>
          <a:xfrm>
            <a:off x="6181344" y="4919472"/>
            <a:ext cx="91440" cy="91440"/>
          </a:xfrm>
          <a:prstGeom prst="ellipse">
            <a:avLst/>
          </a:prstGeom>
          <a:solidFill>
            <a:srgbClr val="808080"/>
          </a:solidFill>
          <a:ln w="12700">
            <a:solidFill>
              <a:srgbClr val="808080"/>
            </a:solidFill>
            <a:prstDash val="solid"/>
          </a:ln>
        </p:spPr>
      </p:sp>
      <p:sp>
        <p:nvSpPr>
          <p:cNvPr id="43" name="cond-4"/>
          <p:cNvSpPr/>
          <p:nvPr/>
        </p:nvSpPr>
        <p:spPr>
          <a:xfrm>
            <a:off x="365760" y="5321808"/>
            <a:ext cx="1143000" cy="969264"/>
          </a:xfrm>
          <a:prstGeom prst="homePlate">
            <a:avLst/>
          </a:prstGeom>
          <a:solidFill>
            <a:srgbClr val="F2F2F2"/>
          </a:solidFill>
          <a:ln w="9525">
            <a:solidFill>
              <a:srgbClr val="A6A6A6"/>
            </a:solidFill>
            <a:prstDash val="solid"/>
          </a:ln>
        </p:spPr>
      </p:sp>
      <p:sp>
        <p:nvSpPr>
          <p:cNvPr id="44" name="Text 42"/>
          <p:cNvSpPr txBox="1"/>
          <p:nvPr/>
        </p:nvSpPr>
        <p:spPr>
          <a:xfrm>
            <a:off x="365760" y="5321808"/>
            <a:ext cx="1005840" cy="969264"/>
          </a:xfrm>
          <a:prstGeom prst="rect">
            <a:avLst/>
          </a:prstGeom>
          <a:noFill/>
          <a:ln/>
        </p:spPr>
        <p:txBody>
          <a:bodyPr wrap="square" lIns="0" tIns="0" rIns="0" bIns="0" rtlCol="0" anchor="ctr"/>
          <a:lstStyle/>
          <a:p>
            <a:pPr algn="ctr" indent="0" marL="0">
              <a:buNone/>
            </a:pPr>
            <a:r>
              <a:rPr lang="en-US" sz="1350" b="1" dirty="0">
                <a:solidFill>
                  <a:srgbClr val="000000"/>
                </a:solidFill>
                <a:latin typeface="맑은 고딕" pitchFamily="34" charset="0"/>
                <a:ea typeface="맑은 고딕" pitchFamily="34" charset="-122"/>
                <a:cs typeface="맑은 고딕" pitchFamily="34" charset="-120"/>
              </a:rPr>
              <a:t>Infra.</a:t>
            </a:r>
            <a:endParaRPr lang="en-US" sz="1350" dirty="0"/>
          </a:p>
        </p:txBody>
      </p:sp>
      <p:sp>
        <p:nvSpPr>
          <p:cNvPr id="45" name="Shape 43"/>
          <p:cNvSpPr/>
          <p:nvPr/>
        </p:nvSpPr>
        <p:spPr>
          <a:xfrm>
            <a:off x="1600200" y="5321808"/>
            <a:ext cx="4553712" cy="457200"/>
          </a:xfrm>
          <a:prstGeom prst="rect">
            <a:avLst/>
          </a:prstGeom>
          <a:solidFill>
            <a:srgbClr val="FFFFFF"/>
          </a:solidFill>
          <a:ln w="9525">
            <a:solidFill>
              <a:srgbClr val="BFBFBF"/>
            </a:solidFill>
            <a:prstDash val="solid"/>
          </a:ln>
        </p:spPr>
      </p:sp>
      <p:sp>
        <p:nvSpPr>
          <p:cNvPr id="46" name="Text 44"/>
          <p:cNvSpPr txBox="1"/>
          <p:nvPr/>
        </p:nvSpPr>
        <p:spPr>
          <a:xfrm>
            <a:off x="1673352" y="5321808"/>
            <a:ext cx="4407408" cy="457200"/>
          </a:xfrm>
          <a:prstGeom prst="rect">
            <a:avLst/>
          </a:prstGeom>
          <a:noFill/>
          <a:ln/>
        </p:spPr>
        <p:txBody>
          <a:bodyPr wrap="square" lIns="0" tIns="0" rIns="0" bIns="0" rtlCol="0" anchor="ctr"/>
          <a:lstStyle/>
          <a:p>
            <a:pPr algn="ctr" indent="0" marL="0">
              <a:buNone/>
            </a:pPr>
            <a:r>
              <a:rPr lang="en-US" sz="1200" dirty="0">
                <a:solidFill>
                  <a:srgbClr val="404040"/>
                </a:solidFill>
                <a:latin typeface="맑은 고딕" pitchFamily="34" charset="0"/>
                <a:ea typeface="맑은 고딕" pitchFamily="34" charset="-122"/>
                <a:cs typeface="맑은 고딕" pitchFamily="34" charset="-120"/>
              </a:rPr>
              <a:t>온프레미스, 구 버전 시스템으로 AI 기술 도입 제약</a:t>
            </a:r>
            <a:endParaRPr lang="en-US" sz="1200" dirty="0"/>
          </a:p>
        </p:txBody>
      </p:sp>
      <p:sp>
        <p:nvSpPr>
          <p:cNvPr id="47" name="Shape 45"/>
          <p:cNvSpPr/>
          <p:nvPr/>
        </p:nvSpPr>
        <p:spPr>
          <a:xfrm>
            <a:off x="6181344" y="5504688"/>
            <a:ext cx="91440" cy="91440"/>
          </a:xfrm>
          <a:prstGeom prst="ellipse">
            <a:avLst/>
          </a:prstGeom>
          <a:solidFill>
            <a:srgbClr val="808080"/>
          </a:solidFill>
          <a:ln w="12700">
            <a:solidFill>
              <a:srgbClr val="808080"/>
            </a:solidFill>
            <a:prstDash val="solid"/>
          </a:ln>
        </p:spPr>
      </p:sp>
      <p:sp>
        <p:nvSpPr>
          <p:cNvPr id="48" name="Shape 46"/>
          <p:cNvSpPr/>
          <p:nvPr/>
        </p:nvSpPr>
        <p:spPr>
          <a:xfrm>
            <a:off x="1600200" y="5833872"/>
            <a:ext cx="4553712" cy="457200"/>
          </a:xfrm>
          <a:prstGeom prst="rect">
            <a:avLst/>
          </a:prstGeom>
          <a:solidFill>
            <a:srgbClr val="FFFFFF"/>
          </a:solidFill>
          <a:ln w="9525">
            <a:solidFill>
              <a:srgbClr val="BFBFBF"/>
            </a:solidFill>
            <a:prstDash val="solid"/>
          </a:ln>
        </p:spPr>
      </p:sp>
      <p:sp>
        <p:nvSpPr>
          <p:cNvPr id="49" name="Text 47"/>
          <p:cNvSpPr txBox="1"/>
          <p:nvPr/>
        </p:nvSpPr>
        <p:spPr>
          <a:xfrm>
            <a:off x="1673352" y="5833872"/>
            <a:ext cx="4407408" cy="457200"/>
          </a:xfrm>
          <a:prstGeom prst="rect">
            <a:avLst/>
          </a:prstGeom>
          <a:noFill/>
          <a:ln/>
        </p:spPr>
        <p:txBody>
          <a:bodyPr wrap="square" lIns="0" tIns="0" rIns="0" bIns="0" rtlCol="0" anchor="ctr"/>
          <a:lstStyle/>
          <a:p>
            <a:pPr algn="ctr" indent="0" marL="0">
              <a:buNone/>
            </a:pPr>
            <a:r>
              <a:rPr lang="en-US" sz="1200" dirty="0">
                <a:solidFill>
                  <a:srgbClr val="404040"/>
                </a:solidFill>
                <a:latin typeface="맑은 고딕" pitchFamily="34" charset="0"/>
                <a:ea typeface="맑은 고딕" pitchFamily="34" charset="-122"/>
                <a:cs typeface="맑은 고딕" pitchFamily="34" charset="-120"/>
              </a:rPr>
              <a:t>단위 시스템별 데이터 분산(Silo)으로 접근·활용 어려움</a:t>
            </a:r>
            <a:endParaRPr lang="en-US" sz="1200" dirty="0"/>
          </a:p>
        </p:txBody>
      </p:sp>
      <p:sp>
        <p:nvSpPr>
          <p:cNvPr id="50" name="Shape 48"/>
          <p:cNvSpPr/>
          <p:nvPr/>
        </p:nvSpPr>
        <p:spPr>
          <a:xfrm>
            <a:off x="6181344" y="6016752"/>
            <a:ext cx="91440" cy="91440"/>
          </a:xfrm>
          <a:prstGeom prst="ellipse">
            <a:avLst/>
          </a:prstGeom>
          <a:solidFill>
            <a:srgbClr val="808080"/>
          </a:solidFill>
          <a:ln w="12700">
            <a:solidFill>
              <a:srgbClr val="808080"/>
            </a:solidFill>
            <a:prstDash val="solid"/>
          </a:ln>
        </p:spPr>
      </p:sp>
      <p:sp>
        <p:nvSpPr>
          <p:cNvPr id="51" name="team-biz"/>
          <p:cNvSpPr/>
          <p:nvPr/>
        </p:nvSpPr>
        <p:spPr>
          <a:xfrm>
            <a:off x="7269480" y="4352544"/>
            <a:ext cx="4553712" cy="877824"/>
          </a:xfrm>
          <a:prstGeom prst="rect">
            <a:avLst/>
          </a:prstGeom>
          <a:solidFill>
            <a:srgbClr val="F2F2F2"/>
          </a:solidFill>
          <a:ln w="9525">
            <a:solidFill>
              <a:srgbClr val="A6A6A6"/>
            </a:solidFill>
            <a:prstDash val="solid"/>
          </a:ln>
        </p:spPr>
      </p:sp>
      <p:sp>
        <p:nvSpPr>
          <p:cNvPr id="52" name="Text 50"/>
          <p:cNvSpPr txBox="1"/>
          <p:nvPr/>
        </p:nvSpPr>
        <p:spPr>
          <a:xfrm>
            <a:off x="7406640" y="4352544"/>
            <a:ext cx="4279392" cy="877824"/>
          </a:xfrm>
          <a:prstGeom prst="rect">
            <a:avLst/>
          </a:prstGeom>
          <a:noFill/>
          <a:ln/>
        </p:spPr>
        <p:txBody>
          <a:bodyPr wrap="square" lIns="0" tIns="0" rIns="0" bIns="0" rtlCol="0" anchor="ctr"/>
          <a:lstStyle/>
          <a:p>
            <a:pPr algn="ctr" indent="0" marL="0">
              <a:spcAft>
                <a:spcPts val="300"/>
              </a:spcAft>
              <a:buNone/>
            </a:pPr>
            <a:r>
              <a:rPr lang="en-US" sz="1400" b="1" dirty="0">
                <a:solidFill>
                  <a:srgbClr val="000000"/>
                </a:solidFill>
                <a:latin typeface="맑은 고딕" pitchFamily="34" charset="0"/>
                <a:ea typeface="맑은 고딕" pitchFamily="34" charset="-122"/>
                <a:cs typeface="맑은 고딕" pitchFamily="34" charset="-120"/>
              </a:rPr>
              <a:t>Biz 컨설팅팀 – 도메인 지식 기반 AX Enabler</a:t>
            </a:r>
            <a:endParaRPr lang="en-US" sz="1400" dirty="0"/>
          </a:p>
          <a:p>
            <a:pPr algn="ctr" indent="0" marL="0">
              <a:spcAft>
                <a:spcPts val="300"/>
              </a:spcAft>
              <a:buNone/>
            </a:pPr>
            <a:r>
              <a:rPr lang="en-US" sz="1150" dirty="0">
                <a:solidFill>
                  <a:srgbClr val="404040"/>
                </a:solidFill>
                <a:latin typeface="맑은 고딕" pitchFamily="34" charset="0"/>
                <a:ea typeface="맑은 고딕" pitchFamily="34" charset="-122"/>
                <a:cs typeface="맑은 고딕" pitchFamily="34" charset="-120"/>
              </a:rPr>
              <a:t>업무 전문가 주도의 업무 재설계,</a:t>
            </a:r>
            <a:endParaRPr lang="en-US" sz="1400" dirty="0"/>
          </a:p>
          <a:p>
            <a:pPr algn="ctr" indent="0" marL="0">
              <a:spcAft>
                <a:spcPts val="300"/>
              </a:spcAft>
              <a:buNone/>
            </a:pPr>
            <a:r>
              <a:rPr lang="en-US" sz="1150" dirty="0">
                <a:solidFill>
                  <a:srgbClr val="404040"/>
                </a:solidFill>
                <a:latin typeface="맑은 고딕" pitchFamily="34" charset="0"/>
                <a:ea typeface="맑은 고딕" pitchFamily="34" charset="-122"/>
                <a:cs typeface="맑은 고딕" pitchFamily="34" charset="-120"/>
              </a:rPr>
              <a:t>업무영역별 전문성 활용 그룹사 혁신 Agenda 지원</a:t>
            </a:r>
            <a:endParaRPr lang="en-US" sz="1400" dirty="0"/>
          </a:p>
        </p:txBody>
      </p:sp>
      <p:sp>
        <p:nvSpPr>
          <p:cNvPr id="53" name="team-erp"/>
          <p:cNvSpPr/>
          <p:nvPr/>
        </p:nvSpPr>
        <p:spPr>
          <a:xfrm>
            <a:off x="7269480" y="5413248"/>
            <a:ext cx="4553712" cy="877824"/>
          </a:xfrm>
          <a:prstGeom prst="rect">
            <a:avLst/>
          </a:prstGeom>
          <a:solidFill>
            <a:srgbClr val="F2F2F2"/>
          </a:solidFill>
          <a:ln w="9525">
            <a:solidFill>
              <a:srgbClr val="A6A6A6"/>
            </a:solidFill>
            <a:prstDash val="solid"/>
          </a:ln>
        </p:spPr>
      </p:sp>
      <p:sp>
        <p:nvSpPr>
          <p:cNvPr id="54" name="Text 52"/>
          <p:cNvSpPr txBox="1"/>
          <p:nvPr/>
        </p:nvSpPr>
        <p:spPr>
          <a:xfrm>
            <a:off x="7406640" y="5413248"/>
            <a:ext cx="4279392" cy="877824"/>
          </a:xfrm>
          <a:prstGeom prst="rect">
            <a:avLst/>
          </a:prstGeom>
          <a:noFill/>
          <a:ln/>
        </p:spPr>
        <p:txBody>
          <a:bodyPr wrap="square" lIns="0" tIns="0" rIns="0" bIns="0" rtlCol="0" anchor="ctr"/>
          <a:lstStyle/>
          <a:p>
            <a:pPr algn="ctr" indent="0" marL="0">
              <a:spcAft>
                <a:spcPts val="300"/>
              </a:spcAft>
              <a:buNone/>
            </a:pPr>
            <a:r>
              <a:rPr lang="en-US" sz="1400" b="1" dirty="0">
                <a:solidFill>
                  <a:srgbClr val="000000"/>
                </a:solidFill>
                <a:latin typeface="맑은 고딕" pitchFamily="34" charset="0"/>
                <a:ea typeface="맑은 고딕" pitchFamily="34" charset="-122"/>
                <a:cs typeface="맑은 고딕" pitchFamily="34" charset="-120"/>
              </a:rPr>
              <a:t>ERP 컨설팅팀 – SAP PCE 통합 인프라 기반</a:t>
            </a:r>
            <a:endParaRPr lang="en-US" sz="1400" dirty="0"/>
          </a:p>
          <a:p>
            <a:pPr algn="ctr" indent="0" marL="0">
              <a:spcAft>
                <a:spcPts val="300"/>
              </a:spcAft>
              <a:buNone/>
            </a:pPr>
            <a:r>
              <a:rPr lang="en-US" sz="1150" dirty="0">
                <a:solidFill>
                  <a:srgbClr val="404040"/>
                </a:solidFill>
                <a:latin typeface="맑은 고딕" pitchFamily="34" charset="0"/>
                <a:ea typeface="맑은 고딕" pitchFamily="34" charset="-122"/>
                <a:cs typeface="맑은 고딕" pitchFamily="34" charset="-120"/>
              </a:rPr>
              <a:t>Clean Core 원칙 下 ERP 시스템 및 데이터 표준화,</a:t>
            </a:r>
            <a:endParaRPr lang="en-US" sz="1400" dirty="0"/>
          </a:p>
          <a:p>
            <a:pPr algn="ctr" indent="0" marL="0">
              <a:spcAft>
                <a:spcPts val="300"/>
              </a:spcAft>
              <a:buNone/>
            </a:pPr>
            <a:r>
              <a:rPr lang="en-US" sz="1150" dirty="0">
                <a:solidFill>
                  <a:srgbClr val="404040"/>
                </a:solidFill>
                <a:latin typeface="맑은 고딕" pitchFamily="34" charset="0"/>
                <a:ea typeface="맑은 고딕" pitchFamily="34" charset="-122"/>
                <a:cs typeface="맑은 고딕" pitchFamily="34" charset="-120"/>
              </a:rPr>
              <a:t>AI 활용 정확도와 혁신/확산 속도 가속화</a:t>
            </a:r>
            <a:endParaRPr lang="en-US" sz="1400" dirty="0"/>
          </a:p>
        </p:txBody>
      </p:sp>
      <p:sp>
        <p:nvSpPr>
          <p:cNvPr id="55" name="Shape 53"/>
          <p:cNvSpPr/>
          <p:nvPr/>
        </p:nvSpPr>
        <p:spPr>
          <a:xfrm>
            <a:off x="6272784" y="2258568"/>
            <a:ext cx="960120" cy="2532888"/>
          </a:xfrm>
          <a:prstGeom prst="line">
            <a:avLst/>
          </a:prstGeom>
          <a:noFill/>
          <a:ln w="12700">
            <a:solidFill>
              <a:srgbClr val="A6A6A6"/>
            </a:solidFill>
            <a:prstDash val="solid"/>
            <a:tailEnd type="triangle"/>
          </a:ln>
        </p:spPr>
      </p:sp>
      <p:sp>
        <p:nvSpPr>
          <p:cNvPr id="56" name="Shape 54"/>
          <p:cNvSpPr/>
          <p:nvPr/>
        </p:nvSpPr>
        <p:spPr>
          <a:xfrm>
            <a:off x="6272784" y="2770632"/>
            <a:ext cx="960120" cy="18288"/>
          </a:xfrm>
          <a:prstGeom prst="line">
            <a:avLst/>
          </a:prstGeom>
          <a:noFill/>
          <a:ln w="25400">
            <a:solidFill>
              <a:srgbClr val="4472C4"/>
            </a:solidFill>
            <a:prstDash val="solid"/>
            <a:tailEnd type="triangle"/>
          </a:ln>
        </p:spPr>
      </p:sp>
      <p:sp>
        <p:nvSpPr>
          <p:cNvPr id="57" name="Shape 55"/>
          <p:cNvSpPr/>
          <p:nvPr/>
        </p:nvSpPr>
        <p:spPr>
          <a:xfrm flipV="1">
            <a:off x="6272784" y="2788920"/>
            <a:ext cx="960120" cy="566928"/>
          </a:xfrm>
          <a:prstGeom prst="line">
            <a:avLst/>
          </a:prstGeom>
          <a:noFill/>
          <a:ln w="25400">
            <a:solidFill>
              <a:srgbClr val="4472C4"/>
            </a:solidFill>
            <a:prstDash val="solid"/>
            <a:tailEnd type="triangle"/>
          </a:ln>
        </p:spPr>
      </p:sp>
      <p:sp>
        <p:nvSpPr>
          <p:cNvPr id="58" name="Shape 56"/>
          <p:cNvSpPr/>
          <p:nvPr/>
        </p:nvSpPr>
        <p:spPr>
          <a:xfrm flipV="1">
            <a:off x="6272784" y="2788920"/>
            <a:ext cx="960120" cy="1078992"/>
          </a:xfrm>
          <a:prstGeom prst="line">
            <a:avLst/>
          </a:prstGeom>
          <a:noFill/>
          <a:ln w="25400">
            <a:solidFill>
              <a:srgbClr val="4472C4"/>
            </a:solidFill>
            <a:prstDash val="solid"/>
            <a:tailEnd type="triangle"/>
          </a:ln>
        </p:spPr>
      </p:sp>
      <p:sp>
        <p:nvSpPr>
          <p:cNvPr id="59" name="Shape 57"/>
          <p:cNvSpPr/>
          <p:nvPr/>
        </p:nvSpPr>
        <p:spPr>
          <a:xfrm>
            <a:off x="6272784" y="4453128"/>
            <a:ext cx="960120" cy="1399032"/>
          </a:xfrm>
          <a:prstGeom prst="line">
            <a:avLst/>
          </a:prstGeom>
          <a:noFill/>
          <a:ln w="12700">
            <a:solidFill>
              <a:srgbClr val="A6A6A6"/>
            </a:solidFill>
            <a:prstDash val="solid"/>
            <a:tailEnd type="triangle"/>
          </a:ln>
        </p:spPr>
      </p:sp>
      <p:sp>
        <p:nvSpPr>
          <p:cNvPr id="60" name="Shape 58"/>
          <p:cNvSpPr/>
          <p:nvPr/>
        </p:nvSpPr>
        <p:spPr>
          <a:xfrm flipV="1">
            <a:off x="6272784" y="4791456"/>
            <a:ext cx="960120" cy="173736"/>
          </a:xfrm>
          <a:prstGeom prst="line">
            <a:avLst/>
          </a:prstGeom>
          <a:noFill/>
          <a:ln w="12700">
            <a:solidFill>
              <a:srgbClr val="A6A6A6"/>
            </a:solidFill>
            <a:prstDash val="solid"/>
            <a:tailEnd type="triangle"/>
          </a:ln>
        </p:spPr>
      </p:sp>
      <p:sp>
        <p:nvSpPr>
          <p:cNvPr id="61" name="Shape 59"/>
          <p:cNvSpPr/>
          <p:nvPr/>
        </p:nvSpPr>
        <p:spPr>
          <a:xfrm>
            <a:off x="6272784" y="5550408"/>
            <a:ext cx="960120" cy="301752"/>
          </a:xfrm>
          <a:prstGeom prst="line">
            <a:avLst/>
          </a:prstGeom>
          <a:noFill/>
          <a:ln w="12700">
            <a:solidFill>
              <a:srgbClr val="A6A6A6"/>
            </a:solidFill>
            <a:prstDash val="solid"/>
            <a:tailEnd type="triangle"/>
          </a:ln>
        </p:spPr>
      </p:sp>
      <p:sp>
        <p:nvSpPr>
          <p:cNvPr id="62" name="Shape 60"/>
          <p:cNvSpPr/>
          <p:nvPr/>
        </p:nvSpPr>
        <p:spPr>
          <a:xfrm flipV="1">
            <a:off x="6272784" y="5852160"/>
            <a:ext cx="960120" cy="210312"/>
          </a:xfrm>
          <a:prstGeom prst="line">
            <a:avLst/>
          </a:prstGeom>
          <a:noFill/>
          <a:ln w="12700">
            <a:solidFill>
              <a:srgbClr val="A6A6A6"/>
            </a:solidFill>
            <a:prstDash val="solid"/>
            <a:tailEnd type="triangle"/>
          </a:ln>
        </p:spPr>
      </p:sp>
    </p:spTree>
  </p:cSld>
  <p:clrMapOvr>
    <a:masterClrMapping/>
  </p:clrMapOvr>
</p:sld>
</file>

<file path=ppt/theme/theme1.xml><?xml version="1.0" encoding="utf-8"?>
<a:theme xmlns:a="http://schemas.openxmlformats.org/drawingml/2006/main" name="AX FDE">
  <a:themeElements>
    <a:clrScheme name="AX FDE">
      <a:dk1>
        <a:srgbClr val="000000"/>
      </a:dk1>
      <a:lt1>
        <a:srgbClr val="FFFFFF"/>
      </a:lt1>
      <a:dk2>
        <a:srgbClr val="1F2A44"/>
      </a:dk2>
      <a:lt2>
        <a:srgbClr val="F2F2F2"/>
      </a:lt2>
      <a:accent1>
        <a:srgbClr val="2F5597"/>
      </a:accent1>
      <a:accent2>
        <a:srgbClr val="4A5674"/>
      </a:accent2>
      <a:accent3>
        <a:srgbClr val="595959"/>
      </a:accent3>
      <a:accent4>
        <a:srgbClr val="E8ECF4"/>
      </a:accent4>
      <a:accent5>
        <a:srgbClr val="FFD966"/>
      </a:accent5>
      <a:accent6>
        <a:srgbClr val="C00000"/>
      </a:accent6>
      <a:hlink>
        <a:srgbClr val="2F5597"/>
      </a:hlink>
      <a:folHlink>
        <a:srgbClr val="4A5674"/>
      </a:folHlink>
    </a:clrScheme>
    <a:fontScheme name="AX FDE">
      <a:majorFont>
        <a:latin typeface="맑은 고딕"/>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맑은 고딕"/>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Slides>
  <Notes>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vt:i4>
      </vt:variant>
    </vt:vector>
  </HeadingPairs>
  <TitlesOfParts>
    <vt:vector size="4" baseType="lpstr">
      <vt:lpstr>Arial</vt:lpstr>
      <vt:lpstr>Calibri</vt:lpstr>
      <vt:lpstr>Office Theme</vt:lpstr>
      <vt:lpstr>Slide 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Next INWAYIN</dc:title>
  <dc:subject>PptxGenJS Presentation</dc:subject>
  <dc:creator>PptxGenJS</dc:creator>
  <cp:lastModifiedBy>PptxGenJS</cp:lastModifiedBy>
  <cp:revision>1</cp:revision>
  <dcterms:created xsi:type="dcterms:W3CDTF">2026-10-19T07:58:47Z</dcterms:created>
  <dcterms:modified xsi:type="dcterms:W3CDTF">2026-10-19T07:58:47Z</dcterms:modified>
</cp:coreProperties>
</file>