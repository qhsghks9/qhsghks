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6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별첨. 주요 Task _ ① 트렌드 분석 및 AI 진단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64008" cy="41148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24712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50" b="1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AI 트렌드 및 글로벌 테마파크 선도 사례 분석과 AI 활용 수준 진단을 통해 롯데월드의 AI 도입 출발점과 목표 수준을 정의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344168"/>
            <a:ext cx="1147572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5760" y="1417320"/>
            <a:ext cx="562356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6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주요 수행내역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1755648"/>
            <a:ext cx="5623560" cy="0"/>
          </a:xfrm>
          <a:prstGeom prst="line">
            <a:avLst/>
          </a:prstGeom>
          <a:ln w="2540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65760" y="1755648"/>
            <a:ext cx="562356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entagon 8"/>
          <p:cNvSpPr/>
          <p:nvPr/>
        </p:nvSpPr>
        <p:spPr>
          <a:xfrm>
            <a:off x="457200" y="1847088"/>
            <a:ext cx="2423160" cy="292608"/>
          </a:xfrm>
          <a:prstGeom prst="homePlate">
            <a:avLst>
              <a:gd name="adj" fmla="val 30000"/>
            </a:avLst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과제 발굴 (W1~W2)</a:t>
            </a:r>
          </a:p>
        </p:txBody>
      </p:sp>
      <p:sp>
        <p:nvSpPr>
          <p:cNvPr id="10" name="Chevron 9"/>
          <p:cNvSpPr/>
          <p:nvPr/>
        </p:nvSpPr>
        <p:spPr>
          <a:xfrm>
            <a:off x="2852928" y="1847088"/>
            <a:ext cx="3044952" cy="292608"/>
          </a:xfrm>
          <a:prstGeom prst="chevron">
            <a:avLst>
              <a:gd name="adj" fmla="val 30000"/>
            </a:avLst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과제 구체화·프로토타입 (W3~W4)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2286000"/>
            <a:ext cx="731520" cy="713232"/>
          </a:xfrm>
          <a:prstGeom prst="rect">
            <a:avLst/>
          </a:prstGeom>
          <a:solidFill>
            <a:srgbClr val="262626"/>
          </a:solidFill>
          <a:ln w="28575">
            <a:solidFill>
              <a:srgbClr val="FF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트렌드·</a:t>
            </a:r>
          </a:p>
          <a:p>
            <a:pPr algn="ctr"/>
            <a:r>
              <a:rPr sz="95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진단</a:t>
            </a:r>
          </a:p>
        </p:txBody>
      </p:sp>
      <p:sp>
        <p:nvSpPr>
          <p:cNvPr id="12" name="Oval 11"/>
          <p:cNvSpPr/>
          <p:nvPr/>
        </p:nvSpPr>
        <p:spPr>
          <a:xfrm>
            <a:off x="740664" y="2185416"/>
            <a:ext cx="201168" cy="201168"/>
          </a:xfrm>
          <a:prstGeom prst="ellipse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43584" y="2286000"/>
            <a:ext cx="731520" cy="713232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VC 분석·</a:t>
            </a:r>
          </a:p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인터뷰</a:t>
            </a:r>
          </a:p>
        </p:txBody>
      </p:sp>
      <p:sp>
        <p:nvSpPr>
          <p:cNvPr id="14" name="Oval 13"/>
          <p:cNvSpPr/>
          <p:nvPr/>
        </p:nvSpPr>
        <p:spPr>
          <a:xfrm>
            <a:off x="1508760" y="2185416"/>
            <a:ext cx="201168" cy="201168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2286000"/>
            <a:ext cx="731520" cy="713232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AI 과제</a:t>
            </a:r>
          </a:p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발굴</a:t>
            </a:r>
          </a:p>
        </p:txBody>
      </p:sp>
      <p:sp>
        <p:nvSpPr>
          <p:cNvPr id="16" name="Oval 15"/>
          <p:cNvSpPr/>
          <p:nvPr/>
        </p:nvSpPr>
        <p:spPr>
          <a:xfrm>
            <a:off x="2276856" y="2185416"/>
            <a:ext cx="201168" cy="201168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79776" y="2286000"/>
            <a:ext cx="731520" cy="713232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과제</a:t>
            </a:r>
          </a:p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우선순위화</a:t>
            </a:r>
          </a:p>
        </p:txBody>
      </p:sp>
      <p:sp>
        <p:nvSpPr>
          <p:cNvPr id="18" name="Oval 17"/>
          <p:cNvSpPr/>
          <p:nvPr/>
        </p:nvSpPr>
        <p:spPr>
          <a:xfrm>
            <a:off x="3044952" y="2185416"/>
            <a:ext cx="201168" cy="201168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47872" y="2286000"/>
            <a:ext cx="731520" cy="713232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To-Be</a:t>
            </a:r>
          </a:p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시나리오</a:t>
            </a:r>
          </a:p>
        </p:txBody>
      </p:sp>
      <p:sp>
        <p:nvSpPr>
          <p:cNvPr id="20" name="Oval 19"/>
          <p:cNvSpPr/>
          <p:nvPr/>
        </p:nvSpPr>
        <p:spPr>
          <a:xfrm>
            <a:off x="3813048" y="2185416"/>
            <a:ext cx="201168" cy="201168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15968" y="2286000"/>
            <a:ext cx="731520" cy="713232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프로토타입</a:t>
            </a:r>
          </a:p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구현</a:t>
            </a:r>
          </a:p>
        </p:txBody>
      </p:sp>
      <p:sp>
        <p:nvSpPr>
          <p:cNvPr id="22" name="Oval 21"/>
          <p:cNvSpPr/>
          <p:nvPr/>
        </p:nvSpPr>
        <p:spPr>
          <a:xfrm>
            <a:off x="4581144" y="2185416"/>
            <a:ext cx="201168" cy="201168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84064" y="2286000"/>
            <a:ext cx="731520" cy="713232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실행</a:t>
            </a:r>
          </a:p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로드맵</a:t>
            </a:r>
          </a:p>
        </p:txBody>
      </p:sp>
      <p:sp>
        <p:nvSpPr>
          <p:cNvPr id="24" name="Oval 23"/>
          <p:cNvSpPr/>
          <p:nvPr/>
        </p:nvSpPr>
        <p:spPr>
          <a:xfrm>
            <a:off x="5349240" y="2185416"/>
            <a:ext cx="201168" cy="201168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" y="3017520"/>
            <a:ext cx="109728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 i="0" u="none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▲ 현재 Task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365760" y="3401568"/>
          <a:ext cx="5623560" cy="312724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17320"/>
                <a:gridCol w="4206240"/>
              </a:tblGrid>
              <a:tr h="384048">
                <a:tc>
                  <a:txBody>
                    <a:bodyPr wrap="square"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300" b="1" i="0" u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Activity</a:t>
                      </a:r>
                    </a:p>
                  </a:txBody>
                  <a:tcPr anchor="ctr" marL="109728" marR="73152"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300" b="1" i="0" u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Activity 수행 내용 및 고려사항</a:t>
                      </a:r>
                    </a:p>
                  </a:txBody>
                  <a:tcPr anchor="ctr" marL="109728" marR="73152">
                    <a:solidFill>
                      <a:srgbClr val="404040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20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트렌드</a:t>
                      </a:r>
                    </a:p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20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리서치</a:t>
                      </a:r>
                    </a:p>
                  </a:txBody>
                  <a:tcPr anchor="ctr" marL="109728" marR="7315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</a:t>
                      </a: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Agentic AI·바이브 코딩 등 최신 AI 기술 동향 파악</a:t>
                      </a:r>
                    </a:p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</a:t>
                      </a: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 재설계·가치 창출 관점의 AI 패러다임 변화 정리</a:t>
                      </a:r>
                    </a:p>
                  </a:txBody>
                  <a:tcPr anchor="ctr" marL="109728" marR="73152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20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선도사</a:t>
                      </a:r>
                    </a:p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20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벤치마킹</a:t>
                      </a:r>
                    </a:p>
                  </a:txBody>
                  <a:tcPr anchor="ctr" marL="109728" marR="7315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</a:t>
                      </a: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글로벌 테마파크(Disney·Universal·Chimelong 등) AI 활용 사례</a:t>
                      </a:r>
                    </a:p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</a:t>
                      </a: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영역별(운영 효율·고객 경험·콘텐츠) 적용 방식 및 성과 분석</a:t>
                      </a:r>
                    </a:p>
                  </a:txBody>
                  <a:tcPr anchor="ctr" marL="109728" marR="73152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20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활용</a:t>
                      </a:r>
                    </a:p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20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수준 진단</a:t>
                      </a:r>
                    </a:p>
                  </a:txBody>
                  <a:tcPr anchor="ctr" marL="109728" marR="7315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</a:t>
                      </a: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데이터·시스템·조직·활용 역량 관점의 진단 기준 정의</a:t>
                      </a:r>
                    </a:p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</a:t>
                      </a: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현재 수준 진단 및 To-Be 목표 수준 가설 설정</a:t>
                      </a:r>
                    </a:p>
                  </a:txBody>
                  <a:tcPr anchor="ctr" marL="109728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6263640" y="1417320"/>
            <a:ext cx="557784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6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주요 산출물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263640" y="1755648"/>
            <a:ext cx="5577840" cy="0"/>
          </a:xfrm>
          <a:prstGeom prst="line">
            <a:avLst/>
          </a:prstGeom>
          <a:ln w="2540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6263640" y="1847088"/>
            <a:ext cx="55778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mk_t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938528"/>
            <a:ext cx="4206240" cy="18288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241280" y="1901952"/>
            <a:ext cx="150876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800" b="1" i="1" u="sng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illustrative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3767328"/>
            <a:ext cx="5577840" cy="365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AI 트렌드 및 선도사 벤치마킹 분석서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4224528"/>
            <a:ext cx="55778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mk_t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4315968"/>
            <a:ext cx="4206240" cy="18288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241280" y="4279392"/>
            <a:ext cx="150876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800" b="1" i="1" u="sng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illustrative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6144768"/>
            <a:ext cx="5577840" cy="365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AI 활용 수준 진단서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126480" y="1417320"/>
            <a:ext cx="0" cy="5120640"/>
          </a:xfrm>
          <a:prstGeom prst="line">
            <a:avLst/>
          </a:prstGeom>
          <a:ln w="9525">
            <a:solidFill>
              <a:srgbClr val="D9D9D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6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별첨. 주요 Task _ ② Value Chain 분석 / 인터뷰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64008" cy="41148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24712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50" b="1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롯데월드 Value Chain 정의와 경영진·실무자 인터뷰를 통해 Pain Point를 파악하고, AI 적용을 우선 검토할 핵심 업무 영역 3~4개를 선정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344168"/>
            <a:ext cx="1147572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5760" y="1417320"/>
            <a:ext cx="562356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6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주요 수행내역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1755648"/>
            <a:ext cx="5623560" cy="0"/>
          </a:xfrm>
          <a:prstGeom prst="line">
            <a:avLst/>
          </a:prstGeom>
          <a:ln w="2540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65760" y="1755648"/>
            <a:ext cx="562356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entagon 8"/>
          <p:cNvSpPr/>
          <p:nvPr/>
        </p:nvSpPr>
        <p:spPr>
          <a:xfrm>
            <a:off x="457200" y="1847088"/>
            <a:ext cx="2423160" cy="292608"/>
          </a:xfrm>
          <a:prstGeom prst="homePlate">
            <a:avLst>
              <a:gd name="adj" fmla="val 30000"/>
            </a:avLst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과제 발굴 (W1~W2)</a:t>
            </a:r>
          </a:p>
        </p:txBody>
      </p:sp>
      <p:sp>
        <p:nvSpPr>
          <p:cNvPr id="10" name="Chevron 9"/>
          <p:cNvSpPr/>
          <p:nvPr/>
        </p:nvSpPr>
        <p:spPr>
          <a:xfrm>
            <a:off x="2852928" y="1847088"/>
            <a:ext cx="3044952" cy="292608"/>
          </a:xfrm>
          <a:prstGeom prst="chevron">
            <a:avLst>
              <a:gd name="adj" fmla="val 30000"/>
            </a:avLst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과제 구체화·프로토타입 (W3~W4)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2286000"/>
            <a:ext cx="731520" cy="713232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트렌드·</a:t>
            </a:r>
          </a:p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AI 진단</a:t>
            </a:r>
          </a:p>
        </p:txBody>
      </p:sp>
      <p:sp>
        <p:nvSpPr>
          <p:cNvPr id="12" name="Oval 11"/>
          <p:cNvSpPr/>
          <p:nvPr/>
        </p:nvSpPr>
        <p:spPr>
          <a:xfrm>
            <a:off x="740664" y="2185416"/>
            <a:ext cx="201168" cy="201168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43584" y="2286000"/>
            <a:ext cx="731520" cy="713232"/>
          </a:xfrm>
          <a:prstGeom prst="rect">
            <a:avLst/>
          </a:prstGeom>
          <a:solidFill>
            <a:srgbClr val="262626"/>
          </a:solidFill>
          <a:ln w="28575">
            <a:solidFill>
              <a:srgbClr val="FF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VC 분석·</a:t>
            </a:r>
          </a:p>
          <a:p>
            <a:pPr algn="ctr"/>
            <a:r>
              <a:rPr sz="95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인터뷰</a:t>
            </a:r>
          </a:p>
        </p:txBody>
      </p:sp>
      <p:sp>
        <p:nvSpPr>
          <p:cNvPr id="14" name="Oval 13"/>
          <p:cNvSpPr/>
          <p:nvPr/>
        </p:nvSpPr>
        <p:spPr>
          <a:xfrm>
            <a:off x="1508760" y="2185416"/>
            <a:ext cx="201168" cy="201168"/>
          </a:xfrm>
          <a:prstGeom prst="ellipse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2286000"/>
            <a:ext cx="731520" cy="713232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AI 과제</a:t>
            </a:r>
          </a:p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발굴</a:t>
            </a:r>
          </a:p>
        </p:txBody>
      </p:sp>
      <p:sp>
        <p:nvSpPr>
          <p:cNvPr id="16" name="Oval 15"/>
          <p:cNvSpPr/>
          <p:nvPr/>
        </p:nvSpPr>
        <p:spPr>
          <a:xfrm>
            <a:off x="2276856" y="2185416"/>
            <a:ext cx="201168" cy="201168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79776" y="2286000"/>
            <a:ext cx="731520" cy="713232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과제</a:t>
            </a:r>
          </a:p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우선순위화</a:t>
            </a:r>
          </a:p>
        </p:txBody>
      </p:sp>
      <p:sp>
        <p:nvSpPr>
          <p:cNvPr id="18" name="Oval 17"/>
          <p:cNvSpPr/>
          <p:nvPr/>
        </p:nvSpPr>
        <p:spPr>
          <a:xfrm>
            <a:off x="3044952" y="2185416"/>
            <a:ext cx="201168" cy="201168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47872" y="2286000"/>
            <a:ext cx="731520" cy="713232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To-Be</a:t>
            </a:r>
          </a:p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시나리오</a:t>
            </a:r>
          </a:p>
        </p:txBody>
      </p:sp>
      <p:sp>
        <p:nvSpPr>
          <p:cNvPr id="20" name="Oval 19"/>
          <p:cNvSpPr/>
          <p:nvPr/>
        </p:nvSpPr>
        <p:spPr>
          <a:xfrm>
            <a:off x="3813048" y="2185416"/>
            <a:ext cx="201168" cy="201168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15968" y="2286000"/>
            <a:ext cx="731520" cy="713232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프로토타입</a:t>
            </a:r>
          </a:p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구현</a:t>
            </a:r>
          </a:p>
        </p:txBody>
      </p:sp>
      <p:sp>
        <p:nvSpPr>
          <p:cNvPr id="22" name="Oval 21"/>
          <p:cNvSpPr/>
          <p:nvPr/>
        </p:nvSpPr>
        <p:spPr>
          <a:xfrm>
            <a:off x="4581144" y="2185416"/>
            <a:ext cx="201168" cy="201168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84064" y="2286000"/>
            <a:ext cx="731520" cy="713232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실행</a:t>
            </a:r>
          </a:p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로드맵</a:t>
            </a:r>
          </a:p>
        </p:txBody>
      </p:sp>
      <p:sp>
        <p:nvSpPr>
          <p:cNvPr id="24" name="Oval 23"/>
          <p:cNvSpPr/>
          <p:nvPr/>
        </p:nvSpPr>
        <p:spPr>
          <a:xfrm>
            <a:off x="5349240" y="2185416"/>
            <a:ext cx="201168" cy="201168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" y="3017520"/>
            <a:ext cx="109728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 i="0" u="none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▲ 현재 Task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365760" y="3401568"/>
          <a:ext cx="5623560" cy="312724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17320"/>
                <a:gridCol w="4206240"/>
              </a:tblGrid>
              <a:tr h="384048">
                <a:tc>
                  <a:txBody>
                    <a:bodyPr wrap="square"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300" b="1" i="0" u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Activity</a:t>
                      </a:r>
                    </a:p>
                  </a:txBody>
                  <a:tcPr anchor="ctr" marL="109728" marR="73152"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300" b="1" i="0" u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Activity 수행 내용 및 고려사항</a:t>
                      </a:r>
                    </a:p>
                  </a:txBody>
                  <a:tcPr anchor="ctr" marL="109728" marR="73152">
                    <a:solidFill>
                      <a:srgbClr val="404040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20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Value Chain</a:t>
                      </a:r>
                    </a:p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20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정의·자료 분석</a:t>
                      </a:r>
                    </a:p>
                  </a:txBody>
                  <a:tcPr anchor="ctr" marL="109728" marR="7315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</a:t>
                      </a: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상품기획~경영지원 7대 Value Chain 정의</a:t>
                      </a:r>
                    </a:p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</a:t>
                      </a: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내부 전략자료·업무 프로세스·KPI 분석</a:t>
                      </a:r>
                    </a:p>
                  </a:txBody>
                  <a:tcPr anchor="ctr" marL="109728" marR="73152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20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경영진·실무자</a:t>
                      </a:r>
                    </a:p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20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인터뷰</a:t>
                      </a:r>
                    </a:p>
                  </a:txBody>
                  <a:tcPr anchor="ctr" marL="109728" marR="7315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</a:t>
                      </a: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경영진: 경영 방향·AI 기대사항·우선순위 청취</a:t>
                      </a:r>
                    </a:p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</a:t>
                      </a: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실무자: 업무 흐름·반복 업무·Pain Point 파악</a:t>
                      </a:r>
                    </a:p>
                  </a:txBody>
                  <a:tcPr anchor="ctr" marL="109728" marR="73152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20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업무</a:t>
                      </a:r>
                    </a:p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20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영역 선정</a:t>
                      </a:r>
                    </a:p>
                  </a:txBody>
                  <a:tcPr anchor="ctr" marL="109728" marR="7315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</a:t>
                      </a: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업무량·비용·Pain Point·데이터 보유 수준 평가</a:t>
                      </a:r>
                    </a:p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</a:t>
                      </a: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업무 영역 3~4개 선정 및 롯데월드와 합의</a:t>
                      </a:r>
                    </a:p>
                  </a:txBody>
                  <a:tcPr anchor="ctr" marL="109728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6263640" y="1417320"/>
            <a:ext cx="557784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6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주요 산출물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263640" y="1755648"/>
            <a:ext cx="5577840" cy="0"/>
          </a:xfrm>
          <a:prstGeom prst="line">
            <a:avLst/>
          </a:prstGeom>
          <a:ln w="2540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6263640" y="1847088"/>
            <a:ext cx="55778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mk_t2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938528"/>
            <a:ext cx="4206240" cy="18288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241280" y="1901952"/>
            <a:ext cx="150876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800" b="1" i="1" u="sng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illustrative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3767328"/>
            <a:ext cx="5577840" cy="365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Value Chain 및 핵심 업무 영역 정의서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4224528"/>
            <a:ext cx="55778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mk_t2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4315968"/>
            <a:ext cx="4206240" cy="18288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241280" y="4279392"/>
            <a:ext cx="150876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800" b="1" i="1" u="sng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illustrative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6144768"/>
            <a:ext cx="5577840" cy="365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인터뷰 결과 및 Pain Point 분석서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126480" y="1417320"/>
            <a:ext cx="0" cy="5120640"/>
          </a:xfrm>
          <a:prstGeom prst="line">
            <a:avLst/>
          </a:prstGeom>
          <a:ln w="9525">
            <a:solidFill>
              <a:srgbClr val="D9D9D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