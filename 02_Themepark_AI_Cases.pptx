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02. 주요 현황 분석 _ 세계 테마파크 AI 활용사례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글로벌 테마파크는 예측·생성형·Physical AI를 활용해 운영 효율화와 고객 경험 차별화를 동시에 추진하고 있음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0" y="1463040"/>
            <a:ext cx="0" cy="4937760"/>
          </a:xfrm>
          <a:prstGeom prst="line">
            <a:avLst/>
          </a:prstGeom>
          <a:ln w="19050">
            <a:solidFill>
              <a:srgbClr val="FFE6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테마파크에서 많이 활용하는 AI 기술</a:t>
            </a:r>
          </a:p>
        </p:txBody>
      </p:sp>
      <p:pic>
        <p:nvPicPr>
          <p:cNvPr id="6" name="Picture 5" descr="bg_predi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74519"/>
            <a:ext cx="2926080" cy="1069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984248"/>
            <a:ext cx="1645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예측 AI</a:t>
            </a:r>
          </a:p>
          <a:p>
            <a:pPr algn="ctr"/>
            <a:r>
              <a:rPr sz="10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(운영 최적화)</a:t>
            </a:r>
          </a:p>
        </p:txBody>
      </p:sp>
      <p:sp>
        <p:nvSpPr>
          <p:cNvPr id="8" name="Chevron 7"/>
          <p:cNvSpPr/>
          <p:nvPr/>
        </p:nvSpPr>
        <p:spPr>
          <a:xfrm rot="5400000">
            <a:off x="1143000" y="2496312"/>
            <a:ext cx="128016" cy="18288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 rot="5400000">
            <a:off x="1143000" y="2587752"/>
            <a:ext cx="128016" cy="18288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2029967"/>
            <a:ext cx="73152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965960"/>
            <a:ext cx="3611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날씨·예약·과거 동선 데이터로 입장객·대기시간 예측</a:t>
            </a:r>
          </a:p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→ 인력 배치, 어트랙션 운영, 동선 분산에 활용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514599"/>
            <a:ext cx="73152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2450591"/>
            <a:ext cx="3611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날씨·호텔 점유율을 반영한 다이내믹 프라이싱</a:t>
            </a:r>
          </a:p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→ 수요 평준화 및 객단가 제고 (USJ '19.1 도입, Europa-Park)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486400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기반 수요 예측으로 운영 효율과 수익을 동시에 최적화</a:t>
            </a:r>
          </a:p>
        </p:txBody>
      </p:sp>
      <p:pic>
        <p:nvPicPr>
          <p:cNvPr id="15" name="Picture 14" descr="bg_gen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01568"/>
            <a:ext cx="2926080" cy="10698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511296"/>
            <a:ext cx="1645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생성형 AI</a:t>
            </a:r>
          </a:p>
          <a:p>
            <a:pPr algn="ctr"/>
            <a:r>
              <a:rPr sz="10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(개인화·응대)</a:t>
            </a:r>
          </a:p>
        </p:txBody>
      </p:sp>
      <p:sp>
        <p:nvSpPr>
          <p:cNvPr id="17" name="Chevron 16"/>
          <p:cNvSpPr/>
          <p:nvPr/>
        </p:nvSpPr>
        <p:spPr>
          <a:xfrm rot="5400000">
            <a:off x="1143000" y="4023359"/>
            <a:ext cx="128016" cy="18288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 rot="5400000">
            <a:off x="1143000" y="4114799"/>
            <a:ext cx="128016" cy="18288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03120" y="3557015"/>
            <a:ext cx="73152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3493008"/>
            <a:ext cx="3611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일정·예산·선호 기반 맞춤 일정 추천 및 질의응답</a:t>
            </a:r>
          </a:p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→ Disney, Google Cloud와 AI 여행 플래너 베타 ('26.9)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4041648"/>
            <a:ext cx="73152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3977639"/>
            <a:ext cx="3611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사진·영상 생성, 캐릭터 IP 기반 AI 콘텐츠</a:t>
            </a:r>
          </a:p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→ 에버랜드, 40년 추억 사진을 AI 영상으로 복원 ('25.5)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98848"/>
            <a:ext cx="5486400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한 명 한 명에게 맞춘 일정·콘텐츠로 경험 가치 제고</a:t>
            </a:r>
          </a:p>
        </p:txBody>
      </p:sp>
      <p:pic>
        <p:nvPicPr>
          <p:cNvPr id="24" name="Picture 23" descr="bg_vis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928616"/>
            <a:ext cx="2926080" cy="10698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1480" y="5038344"/>
            <a:ext cx="1645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비전 AI ·</a:t>
            </a:r>
          </a:p>
          <a:p>
            <a:pPr algn="ctr"/>
            <a:r>
              <a:rPr sz="10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Physical AI</a:t>
            </a:r>
          </a:p>
        </p:txBody>
      </p:sp>
      <p:sp>
        <p:nvSpPr>
          <p:cNvPr id="26" name="Chevron 25"/>
          <p:cNvSpPr/>
          <p:nvPr/>
        </p:nvSpPr>
        <p:spPr>
          <a:xfrm rot="5400000">
            <a:off x="1143000" y="5550407"/>
            <a:ext cx="128016" cy="18288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 rot="5400000">
            <a:off x="1143000" y="5641847"/>
            <a:ext cx="128016" cy="18288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03120" y="5084064"/>
            <a:ext cx="73152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0280" y="5020055"/>
            <a:ext cx="3611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얼굴인식으로 입장·결제·호텔 체크인 통합</a:t>
            </a:r>
          </a:p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→ Universal Beijing ('21.9), Shanghai Disneyland ('21.5) 적용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5568696"/>
            <a:ext cx="73152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5504688"/>
            <a:ext cx="3611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강화학습 기반 로봇 캐릭터·휴머노이드 공연·안내</a:t>
            </a:r>
          </a:p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→ Disney BDX 드로이드 ('23~), 에버랜드 4족보행 로봇 ('25.9)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25896"/>
            <a:ext cx="5486400" cy="3291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현장을 인식하고 움직이는 AI로 무인화·엔터테인먼트 혁신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417320"/>
            <a:ext cx="55778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국가의 테마파크 AI 활용사례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920240"/>
            <a:ext cx="1764792" cy="5029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미국</a:t>
            </a:r>
          </a:p>
        </p:txBody>
      </p:sp>
      <p:sp>
        <p:nvSpPr>
          <p:cNvPr id="35" name="Oval 34"/>
          <p:cNvSpPr/>
          <p:nvPr/>
        </p:nvSpPr>
        <p:spPr>
          <a:xfrm>
            <a:off x="7571231" y="1783080"/>
            <a:ext cx="420624" cy="420624"/>
          </a:xfrm>
          <a:prstGeom prst="ellipse">
            <a:avLst/>
          </a:prstGeom>
          <a:solidFill>
            <a:srgbClr val="2626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514600"/>
            <a:ext cx="176479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「Disney · Universal」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7" y="3063240"/>
            <a:ext cx="1728216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Google Cloud 협업 AI 여행 플래너 베타 ('26.9)</a:t>
            </a:r>
          </a:p>
          <a:p>
            <a:pPr algn="l">
              <a:spcAft>
                <a:spcPts val="300"/>
              </a:spcAft>
            </a:pPr>
            <a:r>
              <a:rPr sz="105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강화학습 BDX 드로이드 글로벌 파크 배치</a:t>
            </a:r>
          </a:p>
          <a:p>
            <a:pPr algn="l">
              <a:spcAft>
                <a:spcPts val="300"/>
              </a:spcAft>
            </a:pPr>
            <a:r>
              <a:rPr sz="105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Epic Universe 얼굴인식 입장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70163" y="1920240"/>
            <a:ext cx="1764792" cy="5029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중국</a:t>
            </a:r>
          </a:p>
        </p:txBody>
      </p:sp>
      <p:sp>
        <p:nvSpPr>
          <p:cNvPr id="39" name="Oval 38"/>
          <p:cNvSpPr/>
          <p:nvPr/>
        </p:nvSpPr>
        <p:spPr>
          <a:xfrm>
            <a:off x="9477755" y="1783080"/>
            <a:ext cx="420624" cy="420624"/>
          </a:xfrm>
          <a:prstGeom prst="ellipse">
            <a:avLst/>
          </a:prstGeom>
          <a:solidFill>
            <a:srgbClr val="2626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70163" y="2514600"/>
            <a:ext cx="176479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「Chimelong · Universal Beijing」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8451" y="3063240"/>
            <a:ext cx="1728216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로봇 300대+ '체화형 AI 테마파크' (연내 1,000대 목표)</a:t>
            </a:r>
          </a:p>
          <a:p>
            <a:pPr algn="l">
              <a:spcAft>
                <a:spcPts val="300"/>
              </a:spcAft>
            </a:pPr>
            <a:r>
              <a:rPr sz="105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입장·결제·호텔 얼굴인식 통합 운영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76688" y="1920240"/>
            <a:ext cx="1764792" cy="5029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일본</a:t>
            </a:r>
          </a:p>
        </p:txBody>
      </p:sp>
      <p:sp>
        <p:nvSpPr>
          <p:cNvPr id="43" name="Oval 42"/>
          <p:cNvSpPr/>
          <p:nvPr/>
        </p:nvSpPr>
        <p:spPr>
          <a:xfrm>
            <a:off x="11384280" y="1783080"/>
            <a:ext cx="420624" cy="420624"/>
          </a:xfrm>
          <a:prstGeom prst="ellipse">
            <a:avLst/>
          </a:prstGeom>
          <a:solidFill>
            <a:srgbClr val="2626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JPN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76688" y="2514600"/>
            <a:ext cx="176479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「Tokyo Disney · USJ · 하우스텐보스」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4976" y="3063240"/>
            <a:ext cx="1728216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BDX 드로이드 운영, 앱 기반 혼잡·예약 안내</a:t>
            </a:r>
          </a:p>
          <a:p>
            <a:pPr algn="l">
              <a:spcAft>
                <a:spcPts val="300"/>
              </a:spcAft>
            </a:pPr>
            <a:r>
              <a:rPr sz="105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날짜별 변동 가격제로 수요 관리</a:t>
            </a:r>
          </a:p>
          <a:p>
            <a:pPr algn="l">
              <a:spcAft>
                <a:spcPts val="300"/>
              </a:spcAft>
            </a:pPr>
            <a:r>
              <a:rPr sz="105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로봇이 프런트를 운영하는 '변한 호텔'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434840"/>
            <a:ext cx="55778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인사이트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846320"/>
            <a:ext cx="557784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79" y="4864608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490118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AI는 기능이 아닌 '경험'으로 고객 여정에 녹아들고 있음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5148072"/>
            <a:ext cx="498347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1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- 고객 경험 / Disney AI 여행 플래너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79" y="5367528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540410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로봇·캐릭터 자체가 콘텐츠가 되는 Physical AI 경쟁 본격화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5650992"/>
            <a:ext cx="498347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1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- 콘텐츠 / Chimelong, Disney BDX, 에버랜드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79" y="5870448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 u="none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59070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입장·결제·동선 데이터 통합이 운영 효율화와 개인화의 기반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153912"/>
            <a:ext cx="498347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1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- 운영 효율 / Universal Beijing, Europa-Park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출처: The Walt Disney Company, Variety, WDWInfo, Robotics 24/7, Biometric Update, Blooloop, 국내 언론보도 종합 (2019~2026)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