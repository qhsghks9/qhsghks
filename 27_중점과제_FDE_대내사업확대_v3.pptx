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Lead Time 장기화로 과제 사장, Biz 문제정의 중요, 단독 구현 한계·구축 연계 기회, AX·Biz 최적 조합. 전략: AX-PI→과제 구체화→적용 구현 단계별 Biz·AX·AI Engineer 역할, 약식 TF 구성(문제정의→구현→운영이관→그룹사 확산).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③ FDE를 통한 대내 사업 확대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241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과제 수행 방향 요약</a:t>
            </a:r>
            <a:endParaRPr lang="en-US" sz="1300" dirty="0"/>
          </a:p>
        </p:txBody>
      </p:sp>
      <p:sp>
        <p:nvSpPr>
          <p:cNvPr id="4" name="거버닝 메시지"/>
          <p:cNvSpPr txBox="1"/>
          <p:nvPr/>
        </p:nvSpPr>
        <p:spPr>
          <a:xfrm>
            <a:off x="2194560" y="1024128"/>
            <a:ext cx="9628632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</a:rPr>
              <a:t>그룹사 AI과제가 컨설팅에서 멈추지 않도록, </a:t>
            </a:r>
            <a:pPr indent="0" marL="0">
              <a:buNone/>
            </a:pPr>
            <a:r>
              <a:rPr lang="en-US" sz="1200" b="1" dirty="0">
                <a:solidFill>
                  <a:srgbClr val="2E5C8A"/>
                </a:solidFill>
              </a:rPr>
              <a:t>AX·Biz컨설팅팀과 Tech 조직이 FDE 팀을 꾸려 과제 실행부터 구축사업까지 함께 추진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배경</a:t>
            </a:r>
            <a:endParaRPr lang="en-US" sz="1500" dirty="0"/>
          </a:p>
        </p:txBody>
      </p:sp>
      <p:sp>
        <p:nvSpPr>
          <p:cNvPr id="6" name="구역선 FDE 추진 배경"/>
          <p:cNvSpPr/>
          <p:nvPr/>
        </p:nvSpPr>
        <p:spPr>
          <a:xfrm>
            <a:off x="365760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91072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전략</a:t>
            </a:r>
            <a:endParaRPr lang="en-US" sz="1500" dirty="0"/>
          </a:p>
        </p:txBody>
      </p:sp>
      <p:sp>
        <p:nvSpPr>
          <p:cNvPr id="8" name="구역선 FDE 추진 전략"/>
          <p:cNvSpPr/>
          <p:nvPr/>
        </p:nvSpPr>
        <p:spPr>
          <a:xfrm>
            <a:off x="6291072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984248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7F7F"/>
                </a:solidFill>
              </a:rPr>
              <a:t>※ FDE 모델 : 고객 현장에 밀착하여 문제 정의부터 구축·이관까지 책임지는 AX 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75488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그룹사 AI과제, 컨설팅에서 구축까지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Lead Time 장기화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15184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호텔 '객실요금 최적화' : 컨설팅('25.11) → 구축('26.10), 약 11개월 소요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3464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</a:rPr>
              <a:t>  → 실행되지 못하고 사장(死藏)되는 과제 증가 (108건 발굴 中 적용 2건)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31455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성패는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Biz 문제 정의·과제 Target 역량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2900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 기술보다 업무 이해가 과제 선정·성과 정의와 실행 속도를 좌우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" y="37398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컨설팅팀 단독 구현의 한계 →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엔지니어 협업 구조 필요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02336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AI컨설팅이 구축사업으로 이어지는 기회 확대 (신분당선 129억 中 AI 12.5억)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334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AX·Biz컨설팅팀은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FDE Biz 영역의 최적 조합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61772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AX컨설팅팀 : 그룹사 AI컨설팅 경험 · AI과제 Pool 108건 확보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837176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Biz컨설팅팀 : 차세대 PI/ISP 수행 · 도메인 전문 역량 보유</a:t>
            </a:r>
            <a:endParaRPr lang="en-US" sz="1000" dirty="0"/>
          </a:p>
        </p:txBody>
      </p:sp>
      <p:sp>
        <p:nvSpPr>
          <p:cNvPr id="20" name="타사 사례 박스"/>
          <p:cNvSpPr/>
          <p:nvPr/>
        </p:nvSpPr>
        <p:spPr>
          <a:xfrm>
            <a:off x="365760" y="5120640"/>
            <a:ext cx="553212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" y="5175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6"/>
                </a:solidFill>
              </a:rPr>
              <a:t>※ FDE 타사 사례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4864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그룹 IT社 주도로 계열사 대상 FDE 체계 전환 본격화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7058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SK AX (전체 개발 직군 FDE화 추진), 삼성SDS (AI 플랫폼 기반 FDE 컨설팅)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943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글로벌 선도社는 Biz + 엔지니어 결합형으로 FDE 조직화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1630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Palantir (고객 대응(Echo)·엔지니어(Delta) 배치), Accenture×MS (FDE Practice 공동 출범)</a:t>
            </a:r>
            <a:endParaRPr lang="en-US" sz="850" dirty="0"/>
          </a:p>
        </p:txBody>
      </p:sp>
      <p:sp>
        <p:nvSpPr>
          <p:cNvPr id="26" name="머리표 FDE 조직 프로세스"/>
          <p:cNvSpPr/>
          <p:nvPr/>
        </p:nvSpPr>
        <p:spPr>
          <a:xfrm>
            <a:off x="6336792" y="2048256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65392" y="1984248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조직 프로세스</a:t>
            </a:r>
            <a:endParaRPr lang="en-US" sz="1250" dirty="0"/>
          </a:p>
        </p:txBody>
      </p:sp>
      <p:sp>
        <p:nvSpPr>
          <p:cNvPr id="28" name="프로세스 AX-PI"/>
          <p:cNvSpPr txBox="1"/>
          <p:nvPr/>
        </p:nvSpPr>
        <p:spPr>
          <a:xfrm>
            <a:off x="6309360" y="2331720"/>
            <a:ext cx="1874520" cy="329184"/>
          </a:xfrm>
          <a:prstGeom prst="homePlate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AX-PI</a:t>
            </a:r>
            <a:endParaRPr lang="en-US" sz="1100" dirty="0"/>
          </a:p>
        </p:txBody>
      </p:sp>
      <p:sp>
        <p:nvSpPr>
          <p:cNvPr id="29" name="프로세스 AI 과제 구체화"/>
          <p:cNvSpPr txBox="1"/>
          <p:nvPr/>
        </p:nvSpPr>
        <p:spPr>
          <a:xfrm>
            <a:off x="8110728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과제 구체화</a:t>
            </a:r>
            <a:endParaRPr lang="en-US" sz="1100" dirty="0"/>
          </a:p>
        </p:txBody>
      </p:sp>
      <p:sp>
        <p:nvSpPr>
          <p:cNvPr id="30" name="프로세스 AI 적용 구현"/>
          <p:cNvSpPr txBox="1"/>
          <p:nvPr/>
        </p:nvSpPr>
        <p:spPr>
          <a:xfrm>
            <a:off x="9912096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적용 구현</a:t>
            </a:r>
            <a:endParaRPr lang="en-US" sz="1100" dirty="0"/>
          </a:p>
        </p:txBody>
      </p:sp>
      <p:sp>
        <p:nvSpPr>
          <p:cNvPr id="31" name="범위 Biz컨설팅팀"/>
          <p:cNvSpPr/>
          <p:nvPr/>
        </p:nvSpPr>
        <p:spPr>
          <a:xfrm>
            <a:off x="6382512" y="2770632"/>
            <a:ext cx="169164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2" name="역할 Biz컨설팅팀"/>
          <p:cNvSpPr txBox="1"/>
          <p:nvPr/>
        </p:nvSpPr>
        <p:spPr>
          <a:xfrm>
            <a:off x="6702552" y="2660904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Biz컨설팅팀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382512" y="28986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그룹 PI/ISP · 도메인 전문 지식</a:t>
            </a:r>
            <a:endParaRPr lang="en-US" sz="900" dirty="0"/>
          </a:p>
        </p:txBody>
      </p:sp>
      <p:sp>
        <p:nvSpPr>
          <p:cNvPr id="34" name="범위 AX컨설팅팀"/>
          <p:cNvSpPr/>
          <p:nvPr/>
        </p:nvSpPr>
        <p:spPr>
          <a:xfrm>
            <a:off x="7708392" y="3200400"/>
            <a:ext cx="219456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5" name="역할 AX컨설팅팀"/>
          <p:cNvSpPr txBox="1"/>
          <p:nvPr/>
        </p:nvSpPr>
        <p:spPr>
          <a:xfrm>
            <a:off x="8279892" y="3090672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AX컨설팅팀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708392" y="33284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AI과제 도출 경험 · 구현 Usecase</a:t>
            </a:r>
            <a:endParaRPr lang="en-US" sz="900" dirty="0"/>
          </a:p>
        </p:txBody>
      </p:sp>
      <p:sp>
        <p:nvSpPr>
          <p:cNvPr id="37" name="범위 AI Engineer"/>
          <p:cNvSpPr/>
          <p:nvPr/>
        </p:nvSpPr>
        <p:spPr>
          <a:xfrm>
            <a:off x="9537192" y="3630168"/>
            <a:ext cx="224028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8" name="역할 AI Engineer"/>
          <p:cNvSpPr txBox="1"/>
          <p:nvPr/>
        </p:nvSpPr>
        <p:spPr>
          <a:xfrm>
            <a:off x="10131552" y="3520440"/>
            <a:ext cx="1051560" cy="21945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 Engineer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537192" y="37581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운영 설계·구축 연계 · AI/Data 연동 개발</a:t>
            </a:r>
            <a:endParaRPr lang="en-US" sz="900" dirty="0"/>
          </a:p>
        </p:txBody>
      </p:sp>
      <p:sp>
        <p:nvSpPr>
          <p:cNvPr id="40" name="머리표 FDE 공동 TF 구성 (案)"/>
          <p:cNvSpPr/>
          <p:nvPr/>
        </p:nvSpPr>
        <p:spPr>
          <a:xfrm>
            <a:off x="6336792" y="4105656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65392" y="4041648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공동 TF 구성 (案)</a:t>
            </a:r>
            <a:endParaRPr lang="en-US" sz="1250" dirty="0"/>
          </a:p>
        </p:txBody>
      </p:sp>
      <p:sp>
        <p:nvSpPr>
          <p:cNvPr id="42" name="번호 1"/>
          <p:cNvSpPr/>
          <p:nvPr/>
        </p:nvSpPr>
        <p:spPr>
          <a:xfrm>
            <a:off x="6364224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64224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601968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문제 정의 (Biz 영역)</a:t>
            </a:r>
            <a:endParaRPr lang="en-US" sz="1000" dirty="0"/>
          </a:p>
        </p:txBody>
      </p:sp>
      <p:sp>
        <p:nvSpPr>
          <p:cNvPr id="45" name="Biz 영역 그룹"/>
          <p:cNvSpPr/>
          <p:nvPr/>
        </p:nvSpPr>
        <p:spPr>
          <a:xfrm>
            <a:off x="6336792" y="4690872"/>
            <a:ext cx="1691640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0" y="4745736"/>
            <a:ext cx="15636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Biz컨설팅팀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도메인 · PI/ISP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5166360"/>
            <a:ext cx="15636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AX컨설팅팀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AI과제 · Usecase</a:t>
            </a:r>
            <a:endParaRPr lang="en-US" sz="1000" dirty="0"/>
          </a:p>
        </p:txBody>
      </p:sp>
      <p:sp>
        <p:nvSpPr>
          <p:cNvPr id="48" name="번호 2"/>
          <p:cNvSpPr/>
          <p:nvPr/>
        </p:nvSpPr>
        <p:spPr>
          <a:xfrm>
            <a:off x="8348472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48472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586216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구현 (Tech 조직)</a:t>
            </a:r>
            <a:endParaRPr lang="en-US" sz="1000" dirty="0"/>
          </a:p>
        </p:txBody>
      </p:sp>
      <p:sp>
        <p:nvSpPr>
          <p:cNvPr id="51" name="Tech 그룹"/>
          <p:cNvSpPr/>
          <p:nvPr/>
        </p:nvSpPr>
        <p:spPr>
          <a:xfrm>
            <a:off x="8321040" y="4690872"/>
            <a:ext cx="1508760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85048" y="4745736"/>
            <a:ext cx="138074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AI혁신센터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AI Agent 개발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385048" y="5166360"/>
            <a:ext cx="138074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D&amp;AX부문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데이터·Legacy 연동</a:t>
            </a:r>
            <a:endParaRPr lang="en-US" sz="1000" dirty="0"/>
          </a:p>
        </p:txBody>
      </p:sp>
      <p:sp>
        <p:nvSpPr>
          <p:cNvPr id="54" name="점선 화살표"/>
          <p:cNvSpPr/>
          <p:nvPr/>
        </p:nvSpPr>
        <p:spPr>
          <a:xfrm>
            <a:off x="8046720" y="4928616"/>
            <a:ext cx="25603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5" name="점선 화살표"/>
          <p:cNvSpPr/>
          <p:nvPr/>
        </p:nvSpPr>
        <p:spPr>
          <a:xfrm>
            <a:off x="8046720" y="5349240"/>
            <a:ext cx="25603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6" name="점선 화살표"/>
          <p:cNvSpPr/>
          <p:nvPr/>
        </p:nvSpPr>
        <p:spPr>
          <a:xfrm>
            <a:off x="9848088" y="4873752"/>
            <a:ext cx="374904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7" name="점선 화살표"/>
          <p:cNvSpPr/>
          <p:nvPr/>
        </p:nvSpPr>
        <p:spPr>
          <a:xfrm>
            <a:off x="9848088" y="5422392"/>
            <a:ext cx="374904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8" name="번호 3"/>
          <p:cNvSpPr/>
          <p:nvPr/>
        </p:nvSpPr>
        <p:spPr>
          <a:xfrm>
            <a:off x="9939528" y="498348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939528" y="4983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9811512" y="519379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62626"/>
                </a:solidFill>
              </a:rPr>
              <a:t>운영 이관</a:t>
            </a:r>
            <a:endParaRPr lang="en-US" sz="700" dirty="0"/>
          </a:p>
        </p:txBody>
      </p:sp>
      <p:sp>
        <p:nvSpPr>
          <p:cNvPr id="61" name="번호 4"/>
          <p:cNvSpPr/>
          <p:nvPr/>
        </p:nvSpPr>
        <p:spPr>
          <a:xfrm>
            <a:off x="10314432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14432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552176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그룹사 확산</a:t>
            </a:r>
            <a:endParaRPr lang="en-US" sz="1000" dirty="0"/>
          </a:p>
        </p:txBody>
      </p:sp>
      <p:sp>
        <p:nvSpPr>
          <p:cNvPr id="64" name="그룹사 원통"/>
          <p:cNvSpPr/>
          <p:nvPr/>
        </p:nvSpPr>
        <p:spPr>
          <a:xfrm>
            <a:off x="10268712" y="4690872"/>
            <a:ext cx="1536192" cy="896112"/>
          </a:xfrm>
          <a:prstGeom prst="can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268712" y="4892040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그룹사 현장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10378440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호텔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10826496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백화점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11274552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…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10268712" y="5376672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C8A"/>
                </a:solidFill>
              </a:rPr>
              <a:t>MVP → 구축사업</a:t>
            </a:r>
            <a:endParaRPr lang="en-US" sz="800" dirty="0"/>
          </a:p>
        </p:txBody>
      </p:sp>
      <p:sp>
        <p:nvSpPr>
          <p:cNvPr id="70" name="머리표 기대효과"/>
          <p:cNvSpPr/>
          <p:nvPr/>
        </p:nvSpPr>
        <p:spPr>
          <a:xfrm>
            <a:off x="6336792" y="5733288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6565392" y="5669280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기대효과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7525512" y="5678424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실행력 강화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8485632" y="56692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발굴 과제(108건)를 MVP·구축까지 연결 → 실행 단절 해소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7525512" y="5925312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역량 내재화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8485632" y="591616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도메인(Biz) + AI 엔지니어 협업 모델을 그룹 내부에 내재화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7525512" y="6172200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사업 확대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8485632" y="6163056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컨설팅 → 구축사업 연계로 그룹 IT 사업 기회 확대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2026-10-29T01:53:14Z</dcterms:created>
  <dcterms:modified xsi:type="dcterms:W3CDTF">2026-10-29T01:53:14Z</dcterms:modified>
</cp:coreProperties>
</file>