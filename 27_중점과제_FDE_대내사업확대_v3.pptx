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Lead Time 장기화로 과제 사장, Biz 문제정의 중요, 단독 구현 한계·구축 연계 기회, AX·Biz 최적 조합. 전략: AX-PI→과제 구체화→적용 구현 단계별 Biz·AX·AI Engineer 역할, 약식 TF 구성(문제정의→구현→운영이관→그룹사 확산).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③ FDE를 통한 대내 사업 확대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241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과제 수행 방향 요약</a:t>
            </a:r>
            <a:endParaRPr lang="en-US" sz="1300" dirty="0"/>
          </a:p>
        </p:txBody>
      </p:sp>
      <p:sp>
        <p:nvSpPr>
          <p:cNvPr id="4" name="거버닝 메시지"/>
          <p:cNvSpPr txBox="1"/>
          <p:nvPr/>
        </p:nvSpPr>
        <p:spPr>
          <a:xfrm>
            <a:off x="2194560" y="1024128"/>
            <a:ext cx="9628632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</a:rPr>
              <a:t>그룹사 AI과제가 컨설팅에서 멈추지 않도록, </a:t>
            </a:r>
            <a:pPr indent="0" marL="0">
              <a:buNone/>
            </a:pPr>
            <a:r>
              <a:rPr lang="en-US" sz="1200" b="1" dirty="0">
                <a:solidFill>
                  <a:srgbClr val="2E5C8A"/>
                </a:solidFill>
              </a:rPr>
              <a:t>AX·Biz컨설팅팀과 Tech 조직이 FDE 팀을 꾸려 과제 실행부터 구축사업까지 함께 추진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배경</a:t>
            </a:r>
            <a:endParaRPr lang="en-US" sz="1500" dirty="0"/>
          </a:p>
        </p:txBody>
      </p:sp>
      <p:sp>
        <p:nvSpPr>
          <p:cNvPr id="6" name="구역선 FDE 추진 배경"/>
          <p:cNvSpPr/>
          <p:nvPr/>
        </p:nvSpPr>
        <p:spPr>
          <a:xfrm>
            <a:off x="365760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91072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전략</a:t>
            </a:r>
            <a:endParaRPr lang="en-US" sz="1500" dirty="0"/>
          </a:p>
        </p:txBody>
      </p:sp>
      <p:sp>
        <p:nvSpPr>
          <p:cNvPr id="8" name="구역선 FDE 추진 전략"/>
          <p:cNvSpPr/>
          <p:nvPr/>
        </p:nvSpPr>
        <p:spPr>
          <a:xfrm>
            <a:off x="6291072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984248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7F7F"/>
                </a:solidFill>
              </a:rPr>
              <a:t>※ FDE 모델 : 고객 현장에 밀착하여 문제 정의부터 구축·이관까지 책임지는 AX 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75488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그룹사 AI과제, 컨설팅에서 구축까지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Lead Time 장기화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15184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호텔 '객실요금 최적화' : 컨설팅('25.11) → 구축('26.10), 약 11개월 소요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3464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</a:rPr>
              <a:t>  → 실행되지 못하고 사장(死藏)되는 과제 증가 (108건 발굴 中 적용 2건)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31455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성패는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Biz 문제 정의·과제 Target 역량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2900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 기술보다 업무 이해가 과제 선정·성과 정의와 실행 속도를 좌우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" y="37398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컨설팅팀 단독 구현의 한계 →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엔지니어 협업 구조 필요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02336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AI컨설팅이 구축사업으로 이어지는 기회 확대 (신분당선 129억 中 AI 12.5억)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334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AX·Biz컨설팅팀은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FDE Biz 영역의 최적 조합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61772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AX컨설팅팀 : 그룹사 AI컨설팅 경험 · AI과제 Pool 108건 확보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837176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Biz컨설팅팀 : 차세대 PI/ISP 수행 · 도메인 전문 역량 보유</a:t>
            </a:r>
            <a:endParaRPr lang="en-US" sz="1000" dirty="0"/>
          </a:p>
        </p:txBody>
      </p:sp>
      <p:sp>
        <p:nvSpPr>
          <p:cNvPr id="20" name="타사 사례 박스"/>
          <p:cNvSpPr/>
          <p:nvPr/>
        </p:nvSpPr>
        <p:spPr>
          <a:xfrm>
            <a:off x="365760" y="5120640"/>
            <a:ext cx="553212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" y="5175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6"/>
                </a:solidFill>
              </a:rPr>
              <a:t>※ FDE 타사 사례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4864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그룹 IT社 주도로 계열사 대상 FDE 체계 전환 본격화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7058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SK AX (전체 개발 직군 FDE화 추진), 삼성SDS (AI 플랫폼 기반 FDE 컨설팅)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943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글로벌 선도社는 Biz + 엔지니어 결합형으로 FDE 조직화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1630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Palantir (고객 대응(Echo)·엔지니어(Delta) 배치), Accenture×MS (FDE Practice 공동 출범)</a:t>
            </a:r>
            <a:endParaRPr lang="en-US" sz="850" dirty="0"/>
          </a:p>
        </p:txBody>
      </p:sp>
      <p:sp>
        <p:nvSpPr>
          <p:cNvPr id="26" name="머리표 FDE 조직 프로세스"/>
          <p:cNvSpPr/>
          <p:nvPr/>
        </p:nvSpPr>
        <p:spPr>
          <a:xfrm>
            <a:off x="6336792" y="2048256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65392" y="1984248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조직 프로세스</a:t>
            </a:r>
            <a:endParaRPr lang="en-US" sz="1250" dirty="0"/>
          </a:p>
        </p:txBody>
      </p:sp>
      <p:sp>
        <p:nvSpPr>
          <p:cNvPr id="28" name="프로세스 AX-PI"/>
          <p:cNvSpPr txBox="1"/>
          <p:nvPr/>
        </p:nvSpPr>
        <p:spPr>
          <a:xfrm>
            <a:off x="6309360" y="2331720"/>
            <a:ext cx="1874520" cy="329184"/>
          </a:xfrm>
          <a:prstGeom prst="homePlate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AX-PI</a:t>
            </a:r>
            <a:endParaRPr lang="en-US" sz="1100" dirty="0"/>
          </a:p>
        </p:txBody>
      </p:sp>
      <p:sp>
        <p:nvSpPr>
          <p:cNvPr id="29" name="프로세스 AI 과제 구체화"/>
          <p:cNvSpPr txBox="1"/>
          <p:nvPr/>
        </p:nvSpPr>
        <p:spPr>
          <a:xfrm>
            <a:off x="8110728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과제 구체화</a:t>
            </a:r>
            <a:endParaRPr lang="en-US" sz="1100" dirty="0"/>
          </a:p>
        </p:txBody>
      </p:sp>
      <p:sp>
        <p:nvSpPr>
          <p:cNvPr id="30" name="프로세스 AI 적용 구현"/>
          <p:cNvSpPr txBox="1"/>
          <p:nvPr/>
        </p:nvSpPr>
        <p:spPr>
          <a:xfrm>
            <a:off x="9912096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적용 구현</a:t>
            </a:r>
            <a:endParaRPr lang="en-US" sz="1100" dirty="0"/>
          </a:p>
        </p:txBody>
      </p:sp>
      <p:sp>
        <p:nvSpPr>
          <p:cNvPr id="31" name="범위 Biz컨설팅팀"/>
          <p:cNvSpPr/>
          <p:nvPr/>
        </p:nvSpPr>
        <p:spPr>
          <a:xfrm>
            <a:off x="6382512" y="2770632"/>
            <a:ext cx="169164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2" name="역할 Biz컨설팅팀"/>
          <p:cNvSpPr txBox="1"/>
          <p:nvPr/>
        </p:nvSpPr>
        <p:spPr>
          <a:xfrm>
            <a:off x="6702552" y="2660904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Biz컨설팅팀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382512" y="28986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그룹 PI/ISP · 도메인 전문 지식</a:t>
            </a:r>
            <a:endParaRPr lang="en-US" sz="900" dirty="0"/>
          </a:p>
        </p:txBody>
      </p:sp>
      <p:sp>
        <p:nvSpPr>
          <p:cNvPr id="34" name="범위 AX컨설팅팀"/>
          <p:cNvSpPr/>
          <p:nvPr/>
        </p:nvSpPr>
        <p:spPr>
          <a:xfrm>
            <a:off x="7708392" y="3200400"/>
            <a:ext cx="219456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5" name="역할 AX컨설팅팀"/>
          <p:cNvSpPr txBox="1"/>
          <p:nvPr/>
        </p:nvSpPr>
        <p:spPr>
          <a:xfrm>
            <a:off x="8279892" y="3090672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AX컨설팅팀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708392" y="33284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AI과제 도출 경험 · 구현 Usecase</a:t>
            </a:r>
            <a:endParaRPr lang="en-US" sz="900" dirty="0"/>
          </a:p>
        </p:txBody>
      </p:sp>
      <p:sp>
        <p:nvSpPr>
          <p:cNvPr id="37" name="범위 AI Engineer"/>
          <p:cNvSpPr/>
          <p:nvPr/>
        </p:nvSpPr>
        <p:spPr>
          <a:xfrm>
            <a:off x="9537192" y="3630168"/>
            <a:ext cx="224028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8" name="역할 AI Engineer"/>
          <p:cNvSpPr txBox="1"/>
          <p:nvPr/>
        </p:nvSpPr>
        <p:spPr>
          <a:xfrm>
            <a:off x="10131552" y="3520440"/>
            <a:ext cx="1051560" cy="21945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 Engineer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537192" y="37581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운영 설계·구축 연계 · AI/Data 연동 개발</a:t>
            </a:r>
            <a:endParaRPr lang="en-US" sz="900" dirty="0"/>
          </a:p>
        </p:txBody>
      </p:sp>
      <p:sp>
        <p:nvSpPr>
          <p:cNvPr id="40" name="머리표 FDE 공동 TF 구성 (案)"/>
          <p:cNvSpPr/>
          <p:nvPr/>
        </p:nvSpPr>
        <p:spPr>
          <a:xfrm>
            <a:off x="6336792" y="4069080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65392" y="4005072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공동 TF 구성 (案)</a:t>
            </a:r>
            <a:endParaRPr lang="en-US" sz="1250" dirty="0"/>
          </a:p>
        </p:txBody>
      </p:sp>
      <p:sp>
        <p:nvSpPr>
          <p:cNvPr id="42" name="번호 1"/>
          <p:cNvSpPr/>
          <p:nvPr/>
        </p:nvSpPr>
        <p:spPr>
          <a:xfrm>
            <a:off x="6364224" y="434340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64224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601968" y="43251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문제 정의 (Biz 영역)</a:t>
            </a:r>
            <a:endParaRPr lang="en-US" sz="1000" dirty="0"/>
          </a:p>
        </p:txBody>
      </p:sp>
      <p:sp>
        <p:nvSpPr>
          <p:cNvPr id="45" name="Biz 영역 그룹"/>
          <p:cNvSpPr/>
          <p:nvPr/>
        </p:nvSpPr>
        <p:spPr>
          <a:xfrm>
            <a:off x="6336792" y="4599432"/>
            <a:ext cx="1554480" cy="91440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391656" y="4654296"/>
            <a:ext cx="14447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Biz컨설팅팀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도메인 · PI/ISP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391656" y="5074920"/>
            <a:ext cx="1444752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AX컨설팅팀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AI과제 · Usecase</a:t>
            </a:r>
            <a:endParaRPr lang="en-US" sz="1000" dirty="0"/>
          </a:p>
        </p:txBody>
      </p:sp>
      <p:sp>
        <p:nvSpPr>
          <p:cNvPr id="48" name="점선 화살표"/>
          <p:cNvSpPr/>
          <p:nvPr/>
        </p:nvSpPr>
        <p:spPr>
          <a:xfrm>
            <a:off x="7909560" y="5056632"/>
            <a:ext cx="21031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49" name="번호 2"/>
          <p:cNvSpPr/>
          <p:nvPr/>
        </p:nvSpPr>
        <p:spPr>
          <a:xfrm>
            <a:off x="8165592" y="434340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65592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51" name="Text 49"/>
          <p:cNvSpPr txBox="1"/>
          <p:nvPr/>
        </p:nvSpPr>
        <p:spPr>
          <a:xfrm>
            <a:off x="8403336" y="432511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구현 (Tech 조직)</a:t>
            </a:r>
            <a:endParaRPr lang="en-US" sz="1000" dirty="0"/>
          </a:p>
        </p:txBody>
      </p:sp>
      <p:sp>
        <p:nvSpPr>
          <p:cNvPr id="52" name="Tech 그룹"/>
          <p:cNvSpPr/>
          <p:nvPr/>
        </p:nvSpPr>
        <p:spPr>
          <a:xfrm>
            <a:off x="8138160" y="4599432"/>
            <a:ext cx="2468880" cy="914400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3" name="옵션 라벨 1안"/>
          <p:cNvSpPr txBox="1"/>
          <p:nvPr/>
        </p:nvSpPr>
        <p:spPr>
          <a:xfrm>
            <a:off x="8193024" y="4654296"/>
            <a:ext cx="658368" cy="384048"/>
          </a:xfrm>
          <a:prstGeom prst="rect">
            <a:avLst/>
          </a:prstGeom>
          <a:solidFill>
            <a:srgbClr val="59595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1안</a:t>
            </a:r>
            <a:endParaRPr lang="en-US" sz="9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내부 확보</a:t>
            </a:r>
            <a:endParaRPr lang="en-US" sz="9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(경력 채용)</a:t>
            </a:r>
            <a:endParaRPr lang="en-US" sz="950" dirty="0"/>
          </a:p>
        </p:txBody>
      </p:sp>
      <p:sp>
        <p:nvSpPr>
          <p:cNvPr id="54" name="옵션 내용 1안"/>
          <p:cNvSpPr txBox="1"/>
          <p:nvPr/>
        </p:nvSpPr>
        <p:spPr>
          <a:xfrm>
            <a:off x="8887968" y="4654296"/>
            <a:ext cx="166420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AI 엔지니어 2명 ('27)</a:t>
            </a:r>
            <a:endParaRPr lang="en-US" sz="95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7F7F7F"/>
                </a:solidFill>
              </a:rPr>
              <a:t>MVP 구현 · 협업 조직 연결</a:t>
            </a:r>
            <a:endParaRPr lang="en-US" sz="950" dirty="0"/>
          </a:p>
        </p:txBody>
      </p:sp>
      <p:sp>
        <p:nvSpPr>
          <p:cNvPr id="55" name="옵션 라벨 2안"/>
          <p:cNvSpPr txBox="1"/>
          <p:nvPr/>
        </p:nvSpPr>
        <p:spPr>
          <a:xfrm>
            <a:off x="8193024" y="5074920"/>
            <a:ext cx="658368" cy="384048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2안</a:t>
            </a:r>
            <a:endParaRPr lang="en-US" sz="9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협업</a:t>
            </a:r>
            <a:endParaRPr lang="en-US" sz="950" dirty="0"/>
          </a:p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</a:rPr>
              <a:t>(유관부서)</a:t>
            </a:r>
            <a:endParaRPr lang="en-US" sz="950" dirty="0"/>
          </a:p>
        </p:txBody>
      </p:sp>
      <p:sp>
        <p:nvSpPr>
          <p:cNvPr id="56" name="옵션 내용 2안"/>
          <p:cNvSpPr txBox="1"/>
          <p:nvPr/>
        </p:nvSpPr>
        <p:spPr>
          <a:xfrm>
            <a:off x="8887968" y="5074920"/>
            <a:ext cx="166420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101600" rIns="10160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AI혁신센터 + D&amp;AX부문</a:t>
            </a:r>
            <a:endParaRPr lang="en-US" sz="95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7F7F7F"/>
                </a:solidFill>
              </a:rPr>
              <a:t>AI Agent · Legacy 연동 · 구축사업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8138160" y="553212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E5C8A"/>
                </a:solidFill>
              </a:rPr>
              <a:t>★ 추천 : 2안으로 즉시 착수 → 1안으로 내재화</a:t>
            </a:r>
            <a:endParaRPr lang="en-US" sz="850" dirty="0"/>
          </a:p>
        </p:txBody>
      </p:sp>
      <p:sp>
        <p:nvSpPr>
          <p:cNvPr id="58" name="점선 화살표"/>
          <p:cNvSpPr/>
          <p:nvPr/>
        </p:nvSpPr>
        <p:spPr>
          <a:xfrm>
            <a:off x="10625328" y="5056632"/>
            <a:ext cx="237744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9" name="번호 3"/>
          <p:cNvSpPr/>
          <p:nvPr/>
        </p:nvSpPr>
        <p:spPr>
          <a:xfrm>
            <a:off x="10817352" y="434340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10817352" y="434340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11055096" y="432511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운영 이관</a:t>
            </a:r>
            <a:endParaRPr lang="en-US" sz="1000" dirty="0"/>
          </a:p>
        </p:txBody>
      </p:sp>
      <p:sp>
        <p:nvSpPr>
          <p:cNvPr id="62" name="그룹사"/>
          <p:cNvSpPr txBox="1"/>
          <p:nvPr/>
        </p:nvSpPr>
        <p:spPr>
          <a:xfrm>
            <a:off x="10881360" y="4599432"/>
            <a:ext cx="914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2E5C8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그룹사</a:t>
            </a:r>
            <a:endParaRPr lang="en-US" sz="10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현장 적용</a:t>
            </a:r>
            <a:endParaRPr lang="en-US" sz="10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2E5C8A"/>
                </a:solidFill>
              </a:rPr>
              <a:t>MVP → 구축사업</a:t>
            </a:r>
            <a:endParaRPr lang="en-US" sz="1050" dirty="0"/>
          </a:p>
        </p:txBody>
      </p:sp>
      <p:sp>
        <p:nvSpPr>
          <p:cNvPr id="63" name="머리표 기대효과"/>
          <p:cNvSpPr/>
          <p:nvPr/>
        </p:nvSpPr>
        <p:spPr>
          <a:xfrm>
            <a:off x="6336792" y="5824728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64" name="Text 62"/>
          <p:cNvSpPr txBox="1"/>
          <p:nvPr/>
        </p:nvSpPr>
        <p:spPr>
          <a:xfrm>
            <a:off x="6565392" y="5760720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기대효과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7525512" y="5769864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실행력 강화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8485632" y="576072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발굴 과제(108건)를 MVP·구축까지 연결 → 실행 단절 해소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7525512" y="5989320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역량 내재화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8485632" y="5980176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도메인(Biz) + AI 엔지니어 협업 모델을 그룹 내부에 내재화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7525512" y="6208776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사업 확대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485632" y="61996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컨설팅 → 구축사업 연계로 그룹 IT 사업 기회 확대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2026-10-29T02:03:44Z</dcterms:created>
  <dcterms:modified xsi:type="dcterms:W3CDTF">2026-10-29T02:03:44Z</dcterms:modified>
</cp:coreProperties>
</file>