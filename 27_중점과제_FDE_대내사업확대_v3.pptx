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배경: Lead Time 장기화로 과제 사장, Biz 문제정의 중요, 단독 구현 한계·구축 연계 기회, AX·Biz 최적 조합. 전략: AX-PI→과제 구체화→적용 구현 단계별 Biz·AX·AI Engineer 역할, 약식 TF 구성(문제정의→구현→운영이관→그룹사 확산).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2PANE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14400"/>
            <a:ext cx="11457432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966960" y="6510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AX컨설팅팀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'27년 중점추진과제  &gt;  </a:t>
            </a:r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③ FDE를 통한 대내 사업 확대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10241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과제 수행 방향 요약</a:t>
            </a:r>
            <a:endParaRPr lang="en-US" sz="1300" dirty="0"/>
          </a:p>
        </p:txBody>
      </p:sp>
      <p:sp>
        <p:nvSpPr>
          <p:cNvPr id="4" name="거버닝 메시지"/>
          <p:cNvSpPr txBox="1"/>
          <p:nvPr/>
        </p:nvSpPr>
        <p:spPr>
          <a:xfrm>
            <a:off x="2194560" y="1024128"/>
            <a:ext cx="9628632" cy="420624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</a:rPr>
              <a:t>그룹사 AI과제가 컨설팅에서 멈추지 않도록, </a:t>
            </a:r>
            <a:pPr indent="0" marL="0">
              <a:buNone/>
            </a:pPr>
            <a:r>
              <a:rPr lang="en-US" sz="1200" b="1" dirty="0">
                <a:solidFill>
                  <a:srgbClr val="2E5C8A"/>
                </a:solidFill>
              </a:rPr>
              <a:t>AX·Biz컨설팅팀과 Tech 조직이 FDE 팀을 꾸려 과제 실행부터 구축사업까지 함께 추진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572768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626"/>
                </a:solidFill>
              </a:rPr>
              <a:t>FDE 추진 배경</a:t>
            </a:r>
            <a:endParaRPr lang="en-US" sz="1500" dirty="0"/>
          </a:p>
        </p:txBody>
      </p:sp>
      <p:sp>
        <p:nvSpPr>
          <p:cNvPr id="6" name="구역선 FDE 추진 배경"/>
          <p:cNvSpPr/>
          <p:nvPr/>
        </p:nvSpPr>
        <p:spPr>
          <a:xfrm>
            <a:off x="365760" y="1920240"/>
            <a:ext cx="5532120" cy="0"/>
          </a:xfrm>
          <a:prstGeom prst="line">
            <a:avLst/>
          </a:prstGeom>
          <a:noFill/>
          <a:ln w="31750">
            <a:solidFill>
              <a:srgbClr val="8A94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91072" y="1572768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626"/>
                </a:solidFill>
              </a:rPr>
              <a:t>FDE 추진 전략</a:t>
            </a:r>
            <a:endParaRPr lang="en-US" sz="1500" dirty="0"/>
          </a:p>
        </p:txBody>
      </p:sp>
      <p:sp>
        <p:nvSpPr>
          <p:cNvPr id="8" name="구역선 FDE 추진 전략"/>
          <p:cNvSpPr/>
          <p:nvPr/>
        </p:nvSpPr>
        <p:spPr>
          <a:xfrm>
            <a:off x="6291072" y="1920240"/>
            <a:ext cx="5532120" cy="0"/>
          </a:xfrm>
          <a:prstGeom prst="line">
            <a:avLst/>
          </a:prstGeom>
          <a:noFill/>
          <a:ln w="31750">
            <a:solidFill>
              <a:srgbClr val="8A94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1984248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F7F7F"/>
                </a:solidFill>
              </a:rPr>
              <a:t>※ FDE 모델 : 고객 현장에 밀착하여 문제 정의부터 구축·이관까지 책임지는 AX 모델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75488" y="2331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</a:rPr>
              <a:t>•  </a:t>
            </a:r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</a:rPr>
              <a:t>그룹사 AI과제, 컨설팅에서 구축까지 </a:t>
            </a:r>
            <a:pPr indent="0" marL="0">
              <a:buNone/>
            </a:pPr>
            <a:r>
              <a:rPr lang="en-US" sz="1250" b="1" dirty="0">
                <a:solidFill>
                  <a:srgbClr val="1F4EB4"/>
                </a:solidFill>
              </a:rPr>
              <a:t>Lead Time 장기화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15184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</a:rPr>
              <a:t>- 호텔 '객실요금 최적화' : 컨설팅('25.11) → 구축('26.10), 약 11개월 소요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834640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C8A"/>
                </a:solidFill>
              </a:rPr>
              <a:t>  → 실행되지 못하고 사장(死藏)되는 과제 증가 (108건 발굴 中 적용 2건)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" y="314553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</a:rPr>
              <a:t>•  </a:t>
            </a:r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</a:rPr>
              <a:t>FDE 성패는 </a:t>
            </a:r>
            <a:pPr indent="0" marL="0">
              <a:buNone/>
            </a:pPr>
            <a:r>
              <a:rPr lang="en-US" sz="1250" b="1" dirty="0">
                <a:solidFill>
                  <a:srgbClr val="1F4EB4"/>
                </a:solidFill>
              </a:rPr>
              <a:t>Biz 문제 정의·과제 Target 역량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429000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</a:rPr>
              <a:t>- AI 기술보다 업무 이해가 과제 선정·성과 정의와 실행 속도를 좌우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" y="373989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</a:rPr>
              <a:t>•  </a:t>
            </a:r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</a:rPr>
              <a:t>컨설팅팀 단독 구현의 한계 → </a:t>
            </a:r>
            <a:pPr indent="0" marL="0">
              <a:buNone/>
            </a:pPr>
            <a:r>
              <a:rPr lang="en-US" sz="1250" b="1" dirty="0">
                <a:solidFill>
                  <a:srgbClr val="1F4EB4"/>
                </a:solidFill>
              </a:rPr>
              <a:t>엔지니어 협업 구조 필요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023360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</a:rPr>
              <a:t>- AI컨설팅이 구축사업으로 이어지는 기회 확대 (신분당선 129억 中 AI 12.5억)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" y="433425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</a:rPr>
              <a:t>•  </a:t>
            </a:r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</a:rPr>
              <a:t>AX·Biz컨설팅팀은 </a:t>
            </a:r>
            <a:pPr indent="0" marL="0">
              <a:buNone/>
            </a:pPr>
            <a:r>
              <a:rPr lang="en-US" sz="1250" b="1" dirty="0">
                <a:solidFill>
                  <a:srgbClr val="1F4EB4"/>
                </a:solidFill>
              </a:rPr>
              <a:t>FDE Biz 영역의 최적 조합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617720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</a:rPr>
              <a:t>- AX컨설팅팀 : 그룹사 AI컨설팅 경험 · AI과제 Pool 108건 확보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837176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</a:rPr>
              <a:t>- Biz컨설팅팀 : 차세대 PI/ISP 수행 · 도메인 전문 역량 보유</a:t>
            </a:r>
            <a:endParaRPr lang="en-US" sz="1000" dirty="0"/>
          </a:p>
        </p:txBody>
      </p:sp>
      <p:sp>
        <p:nvSpPr>
          <p:cNvPr id="20" name="타사 사례 박스"/>
          <p:cNvSpPr/>
          <p:nvPr/>
        </p:nvSpPr>
        <p:spPr>
          <a:xfrm>
            <a:off x="365760" y="5120640"/>
            <a:ext cx="553212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" y="51755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</a:rPr>
              <a:t>※ FDE 타사 사례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54864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</a:rPr>
              <a:t>- 그룹 IT社 주도로 계열사 대상 FDE 체계 전환 본격화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570585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</a:rPr>
              <a:t>※ SK AX (전체 개발 직군 FDE화 추진), 삼성SDS (AI 플랫폼 기반 FDE 컨설팅)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59436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</a:rPr>
              <a:t>- 글로벌 선도社는 Biz + 엔지니어 결합형으로 FDE 조직화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616305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</a:rPr>
              <a:t>※ Palantir (고객 대응(Echo)·엔지니어(Delta) 배치), Accenture×MS (FDE Practice 공동 출범)</a:t>
            </a:r>
            <a:endParaRPr lang="en-US" sz="850" dirty="0"/>
          </a:p>
        </p:txBody>
      </p:sp>
      <p:sp>
        <p:nvSpPr>
          <p:cNvPr id="26" name="머리표 FDE 조직 프로세스"/>
          <p:cNvSpPr/>
          <p:nvPr/>
        </p:nvSpPr>
        <p:spPr>
          <a:xfrm>
            <a:off x="6336792" y="2048256"/>
            <a:ext cx="155448" cy="155448"/>
          </a:xfrm>
          <a:prstGeom prst="rect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  <a:effectLst>
            <a:outerShdw sx="100000" sy="100000" kx="0" ky="0" algn="bl" rotWithShape="0" blurRad="12700" dist="19050" dir="2700000">
              <a:srgbClr val="7F7F7F">
                <a:alpha val="6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565392" y="1984248"/>
            <a:ext cx="5230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</a:rPr>
              <a:t>FDE 조직 프로세스</a:t>
            </a:r>
            <a:endParaRPr lang="en-US" sz="1250" dirty="0"/>
          </a:p>
        </p:txBody>
      </p:sp>
      <p:sp>
        <p:nvSpPr>
          <p:cNvPr id="28" name="프로세스 AX-PI"/>
          <p:cNvSpPr txBox="1"/>
          <p:nvPr/>
        </p:nvSpPr>
        <p:spPr>
          <a:xfrm>
            <a:off x="6309360" y="2331720"/>
            <a:ext cx="1874520" cy="329184"/>
          </a:xfrm>
          <a:prstGeom prst="homePlate">
            <a:avLst/>
          </a:prstGeom>
          <a:solidFill>
            <a:srgbClr val="E7E9EE"/>
          </a:solidFill>
          <a:ln w="9525">
            <a:solidFill>
              <a:srgbClr val="D0D4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AX-PI</a:t>
            </a:r>
            <a:endParaRPr lang="en-US" sz="1100" dirty="0"/>
          </a:p>
        </p:txBody>
      </p:sp>
      <p:sp>
        <p:nvSpPr>
          <p:cNvPr id="29" name="프로세스 AI 과제 구체화"/>
          <p:cNvSpPr txBox="1"/>
          <p:nvPr/>
        </p:nvSpPr>
        <p:spPr>
          <a:xfrm>
            <a:off x="8110728" y="2331720"/>
            <a:ext cx="1874520" cy="329184"/>
          </a:xfrm>
          <a:prstGeom prst="chevron">
            <a:avLst/>
          </a:prstGeom>
          <a:solidFill>
            <a:srgbClr val="E7E9EE"/>
          </a:solidFill>
          <a:ln w="9525">
            <a:solidFill>
              <a:srgbClr val="D0D4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AI 과제 구체화</a:t>
            </a:r>
            <a:endParaRPr lang="en-US" sz="1100" dirty="0"/>
          </a:p>
        </p:txBody>
      </p:sp>
      <p:sp>
        <p:nvSpPr>
          <p:cNvPr id="30" name="프로세스 AI 적용 구현"/>
          <p:cNvSpPr txBox="1"/>
          <p:nvPr/>
        </p:nvSpPr>
        <p:spPr>
          <a:xfrm>
            <a:off x="9912096" y="2331720"/>
            <a:ext cx="1874520" cy="329184"/>
          </a:xfrm>
          <a:prstGeom prst="chevron">
            <a:avLst/>
          </a:prstGeom>
          <a:solidFill>
            <a:srgbClr val="E7E9EE"/>
          </a:solidFill>
          <a:ln w="9525">
            <a:solidFill>
              <a:srgbClr val="D0D4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AI 적용 구현</a:t>
            </a:r>
            <a:endParaRPr lang="en-US" sz="1100" dirty="0"/>
          </a:p>
        </p:txBody>
      </p:sp>
      <p:sp>
        <p:nvSpPr>
          <p:cNvPr id="31" name="범위 Biz컨설팅팀"/>
          <p:cNvSpPr/>
          <p:nvPr/>
        </p:nvSpPr>
        <p:spPr>
          <a:xfrm>
            <a:off x="6382512" y="2770632"/>
            <a:ext cx="169164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oval"/>
            <a:tailEnd type="oval"/>
          </a:ln>
        </p:spPr>
      </p:sp>
      <p:sp>
        <p:nvSpPr>
          <p:cNvPr id="32" name="역할 Biz컨설팅팀"/>
          <p:cNvSpPr txBox="1"/>
          <p:nvPr/>
        </p:nvSpPr>
        <p:spPr>
          <a:xfrm>
            <a:off x="6702552" y="2660904"/>
            <a:ext cx="1051560" cy="219456"/>
          </a:xfrm>
          <a:prstGeom prst="rect">
            <a:avLst/>
          </a:prstGeom>
          <a:solidFill>
            <a:srgbClr val="2E5C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Biz컨설팅팀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382512" y="289864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2626"/>
                </a:solidFill>
              </a:rPr>
              <a:t>그룹 PI/ISP · 도메인 전문 지식</a:t>
            </a:r>
            <a:endParaRPr lang="en-US" sz="900" dirty="0"/>
          </a:p>
        </p:txBody>
      </p:sp>
      <p:sp>
        <p:nvSpPr>
          <p:cNvPr id="34" name="범위 AX컨설팅팀"/>
          <p:cNvSpPr/>
          <p:nvPr/>
        </p:nvSpPr>
        <p:spPr>
          <a:xfrm>
            <a:off x="7708392" y="3200400"/>
            <a:ext cx="219456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oval"/>
            <a:tailEnd type="oval"/>
          </a:ln>
        </p:spPr>
      </p:sp>
      <p:sp>
        <p:nvSpPr>
          <p:cNvPr id="35" name="역할 AX컨설팅팀"/>
          <p:cNvSpPr txBox="1"/>
          <p:nvPr/>
        </p:nvSpPr>
        <p:spPr>
          <a:xfrm>
            <a:off x="8279892" y="3090672"/>
            <a:ext cx="1051560" cy="219456"/>
          </a:xfrm>
          <a:prstGeom prst="rect">
            <a:avLst/>
          </a:prstGeom>
          <a:solidFill>
            <a:srgbClr val="2E5C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AX컨설팅팀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7708392" y="33284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2626"/>
                </a:solidFill>
              </a:rPr>
              <a:t>AI과제 도출 경험 · 구현 Usecase</a:t>
            </a:r>
            <a:endParaRPr lang="en-US" sz="900" dirty="0"/>
          </a:p>
        </p:txBody>
      </p:sp>
      <p:sp>
        <p:nvSpPr>
          <p:cNvPr id="37" name="범위 AI Engineer"/>
          <p:cNvSpPr/>
          <p:nvPr/>
        </p:nvSpPr>
        <p:spPr>
          <a:xfrm>
            <a:off x="9537192" y="3630168"/>
            <a:ext cx="224028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oval"/>
            <a:tailEnd type="oval"/>
          </a:ln>
        </p:spPr>
      </p:sp>
      <p:sp>
        <p:nvSpPr>
          <p:cNvPr id="38" name="역할 AI Engineer"/>
          <p:cNvSpPr txBox="1"/>
          <p:nvPr/>
        </p:nvSpPr>
        <p:spPr>
          <a:xfrm>
            <a:off x="10131552" y="3520440"/>
            <a:ext cx="1051560" cy="219456"/>
          </a:xfrm>
          <a:prstGeom prst="rect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 Engineer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9537192" y="375818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2626"/>
                </a:solidFill>
              </a:rPr>
              <a:t>운영 설계·구축 연계 · AI/Data 연동 개발</a:t>
            </a:r>
            <a:endParaRPr lang="en-US" sz="900" dirty="0"/>
          </a:p>
        </p:txBody>
      </p:sp>
      <p:sp>
        <p:nvSpPr>
          <p:cNvPr id="40" name="머리표 FDE 공동 TF 구성 (案)"/>
          <p:cNvSpPr/>
          <p:nvPr/>
        </p:nvSpPr>
        <p:spPr>
          <a:xfrm>
            <a:off x="6336792" y="4105656"/>
            <a:ext cx="155448" cy="155448"/>
          </a:xfrm>
          <a:prstGeom prst="rect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  <a:effectLst>
            <a:outerShdw sx="100000" sy="100000" kx="0" ky="0" algn="bl" rotWithShape="0" blurRad="12700" dist="19050" dir="2700000">
              <a:srgbClr val="7F7F7F">
                <a:alpha val="60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6565392" y="4041648"/>
            <a:ext cx="5230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</a:rPr>
              <a:t>FDE 공동 TF 구성 (案)</a:t>
            </a:r>
            <a:endParaRPr lang="en-US" sz="1250" dirty="0"/>
          </a:p>
        </p:txBody>
      </p:sp>
      <p:sp>
        <p:nvSpPr>
          <p:cNvPr id="42" name="번호 1"/>
          <p:cNvSpPr/>
          <p:nvPr/>
        </p:nvSpPr>
        <p:spPr>
          <a:xfrm>
            <a:off x="6364224" y="4434840"/>
            <a:ext cx="201168" cy="201168"/>
          </a:xfrm>
          <a:prstGeom prst="ellipse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64224" y="4434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6601968" y="44165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</a:rPr>
              <a:t>문제 정의 (Biz 영역)</a:t>
            </a:r>
            <a:endParaRPr lang="en-US" sz="1000" dirty="0"/>
          </a:p>
        </p:txBody>
      </p:sp>
      <p:sp>
        <p:nvSpPr>
          <p:cNvPr id="45" name="Biz 영역 그룹"/>
          <p:cNvSpPr/>
          <p:nvPr/>
        </p:nvSpPr>
        <p:spPr>
          <a:xfrm>
            <a:off x="6336792" y="4690872"/>
            <a:ext cx="1691640" cy="896112"/>
          </a:xfrm>
          <a:prstGeom prst="rect">
            <a:avLst/>
          </a:prstGeom>
          <a:solidFill>
            <a:srgbClr val="FAFAF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00800" y="4745736"/>
            <a:ext cx="156362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2626"/>
                </a:solidFill>
              </a:rPr>
              <a:t>Biz컨설팅팀</a:t>
            </a:r>
            <a:endParaRPr lang="en-US" sz="100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7F7F7F"/>
                </a:solidFill>
              </a:rPr>
              <a:t>도메인 · PI/ISP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6400800" y="5166360"/>
            <a:ext cx="156362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2626"/>
                </a:solidFill>
              </a:rPr>
              <a:t>AX컨설팅팀</a:t>
            </a:r>
            <a:endParaRPr lang="en-US" sz="100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7F7F7F"/>
                </a:solidFill>
              </a:rPr>
              <a:t>AI과제 · Usecase</a:t>
            </a:r>
            <a:endParaRPr lang="en-US" sz="1000" dirty="0"/>
          </a:p>
        </p:txBody>
      </p:sp>
      <p:sp>
        <p:nvSpPr>
          <p:cNvPr id="48" name="번호 2"/>
          <p:cNvSpPr/>
          <p:nvPr/>
        </p:nvSpPr>
        <p:spPr>
          <a:xfrm>
            <a:off x="8348472" y="4434840"/>
            <a:ext cx="201168" cy="201168"/>
          </a:xfrm>
          <a:prstGeom prst="ellipse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348472" y="4434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8586216" y="44165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</a:rPr>
              <a:t>구현 (Tech 조직) : 확보 방안 비교</a:t>
            </a:r>
            <a:endParaRPr lang="en-US" sz="1000" dirty="0"/>
          </a:p>
        </p:txBody>
      </p:sp>
      <p:sp>
        <p:nvSpPr>
          <p:cNvPr id="51" name="Tech 그룹"/>
          <p:cNvSpPr/>
          <p:nvPr/>
        </p:nvSpPr>
        <p:spPr>
          <a:xfrm>
            <a:off x="8321040" y="4690872"/>
            <a:ext cx="3483864" cy="896112"/>
          </a:xfrm>
          <a:prstGeom prst="rect">
            <a:avLst/>
          </a:prstGeom>
          <a:solidFill>
            <a:srgbClr val="FAFAF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2" name="옵션 1"/>
          <p:cNvSpPr/>
          <p:nvPr/>
        </p:nvSpPr>
        <p:spPr>
          <a:xfrm>
            <a:off x="8375904" y="4745736"/>
            <a:ext cx="16459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375904" y="4745736"/>
            <a:ext cx="1645920" cy="182880"/>
          </a:xfrm>
          <a:prstGeom prst="rect">
            <a:avLst/>
          </a:prstGeom>
          <a:solidFill>
            <a:srgbClr val="5959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1안 : 경력 채용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8375904" y="49469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2626"/>
                </a:solidFill>
              </a:rPr>
              <a:t>AI 엔지니어 2명 ('27)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F7F7F"/>
                </a:solidFill>
              </a:rPr>
              <a:t>MVP 구현 · 협업 연결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8375904" y="53218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5C8A"/>
                </a:solidFill>
              </a:rPr>
              <a:t>(+) 노하우 내재화</a:t>
            </a:r>
            <a:pPr algn="ctr" indent="0" marL="0">
              <a:buNone/>
            </a:pPr>
            <a:r>
              <a:rPr lang="en-US" sz="750" b="1" dirty="0">
                <a:solidFill>
                  <a:srgbClr val="C0392B"/>
                </a:solidFill>
              </a:rPr>
              <a:t>  (−) 채용 기간</a:t>
            </a:r>
            <a:endParaRPr lang="en-US" sz="750" dirty="0"/>
          </a:p>
        </p:txBody>
      </p:sp>
      <p:sp>
        <p:nvSpPr>
          <p:cNvPr id="56" name="옵션 2"/>
          <p:cNvSpPr/>
          <p:nvPr/>
        </p:nvSpPr>
        <p:spPr>
          <a:xfrm>
            <a:off x="10076688" y="4745736"/>
            <a:ext cx="16459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0076688" y="4745736"/>
            <a:ext cx="1645920" cy="182880"/>
          </a:xfrm>
          <a:prstGeom prst="rect">
            <a:avLst/>
          </a:prstGeom>
          <a:solidFill>
            <a:srgbClr val="5959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2안 : 유관부서 협업</a:t>
            </a:r>
            <a:endParaRPr 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10076688" y="49469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2626"/>
                </a:solidFill>
              </a:rPr>
              <a:t>AI혁신센터·D&amp;AX부문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F7F7F"/>
                </a:solidFill>
              </a:rPr>
              <a:t>AI Agent · Legacy 연동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10076688" y="53218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5C8A"/>
                </a:solidFill>
              </a:rPr>
              <a:t>(+) 즉시 투입</a:t>
            </a:r>
            <a:pPr algn="ctr" indent="0" marL="0">
              <a:buNone/>
            </a:pPr>
            <a:r>
              <a:rPr lang="en-US" sz="750" b="1" dirty="0">
                <a:solidFill>
                  <a:srgbClr val="C0392B"/>
                </a:solidFill>
              </a:rPr>
              <a:t>  (−) 일정 조율</a:t>
            </a:r>
            <a:endParaRPr lang="en-US" sz="750" dirty="0"/>
          </a:p>
        </p:txBody>
      </p:sp>
      <p:sp>
        <p:nvSpPr>
          <p:cNvPr id="60" name="점선 화살표"/>
          <p:cNvSpPr/>
          <p:nvPr/>
        </p:nvSpPr>
        <p:spPr>
          <a:xfrm>
            <a:off x="8046720" y="4928616"/>
            <a:ext cx="256032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dash"/>
            <a:tailEnd type="triangle"/>
          </a:ln>
        </p:spPr>
      </p:sp>
      <p:sp>
        <p:nvSpPr>
          <p:cNvPr id="61" name="점선 화살표"/>
          <p:cNvSpPr/>
          <p:nvPr/>
        </p:nvSpPr>
        <p:spPr>
          <a:xfrm>
            <a:off x="8046720" y="5349240"/>
            <a:ext cx="256032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dash"/>
            <a:tailEnd type="triangle"/>
          </a:ln>
        </p:spPr>
      </p:sp>
      <p:sp>
        <p:nvSpPr>
          <p:cNvPr id="62" name="머리표 기대효과"/>
          <p:cNvSpPr/>
          <p:nvPr/>
        </p:nvSpPr>
        <p:spPr>
          <a:xfrm>
            <a:off x="6336792" y="5733288"/>
            <a:ext cx="155448" cy="155448"/>
          </a:xfrm>
          <a:prstGeom prst="rect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  <a:effectLst>
            <a:outerShdw sx="100000" sy="100000" kx="0" ky="0" algn="bl" rotWithShape="0" blurRad="12700" dist="19050" dir="2700000">
              <a:srgbClr val="7F7F7F">
                <a:alpha val="60000"/>
              </a:srgbClr>
            </a:outerShdw>
          </a:effectLst>
        </p:spPr>
      </p:sp>
      <p:sp>
        <p:nvSpPr>
          <p:cNvPr id="63" name="Text 61"/>
          <p:cNvSpPr txBox="1"/>
          <p:nvPr/>
        </p:nvSpPr>
        <p:spPr>
          <a:xfrm>
            <a:off x="6565392" y="5669280"/>
            <a:ext cx="5230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</a:rPr>
              <a:t>기대효과</a:t>
            </a:r>
            <a:endParaRPr lang="en-US" sz="1250" dirty="0"/>
          </a:p>
        </p:txBody>
      </p:sp>
      <p:sp>
        <p:nvSpPr>
          <p:cNvPr id="64" name="Text 62"/>
          <p:cNvSpPr txBox="1"/>
          <p:nvPr/>
        </p:nvSpPr>
        <p:spPr>
          <a:xfrm>
            <a:off x="7525512" y="5678424"/>
            <a:ext cx="868680" cy="210312"/>
          </a:xfrm>
          <a:prstGeom prst="rect">
            <a:avLst/>
          </a:prstGeom>
          <a:solidFill>
            <a:srgbClr val="DCE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5C8A"/>
                </a:solidFill>
              </a:rPr>
              <a:t>실행력 강화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8485632" y="566928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발굴 과제(108건)를 MVP·구축까지 연결 → 실행 단절 해소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7525512" y="5925312"/>
            <a:ext cx="868680" cy="210312"/>
          </a:xfrm>
          <a:prstGeom prst="rect">
            <a:avLst/>
          </a:prstGeom>
          <a:solidFill>
            <a:srgbClr val="DCE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5C8A"/>
                </a:solidFill>
              </a:rPr>
              <a:t>역량 내재화</a:t>
            </a:r>
            <a:endParaRPr lang="en-US" sz="900" dirty="0"/>
          </a:p>
        </p:txBody>
      </p:sp>
      <p:sp>
        <p:nvSpPr>
          <p:cNvPr id="67" name="Text 65"/>
          <p:cNvSpPr txBox="1"/>
          <p:nvPr/>
        </p:nvSpPr>
        <p:spPr>
          <a:xfrm>
            <a:off x="8485632" y="591616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도메인(Biz) + AI 엔지니어 협업 모델을 그룹 내부에 내재화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7525512" y="6172200"/>
            <a:ext cx="868680" cy="210312"/>
          </a:xfrm>
          <a:prstGeom prst="rect">
            <a:avLst/>
          </a:prstGeom>
          <a:solidFill>
            <a:srgbClr val="DCE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5C8A"/>
                </a:solidFill>
              </a:rPr>
              <a:t>사업 확대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8485632" y="616305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컨설팅 → 구축사업 연계로 그룹 IT 사업 기회 확대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 Consulting">
  <a:themeElements>
    <a:clrScheme name="AX Consulting">
      <a:dk1>
        <a:srgbClr val="1F2329"/>
      </a:dk1>
      <a:lt1>
        <a:srgbClr val="FFFFFF"/>
      </a:lt1>
      <a:dk2>
        <a:srgbClr val="2F3E55"/>
      </a:dk2>
      <a:lt2>
        <a:srgbClr val="F2F4F7"/>
      </a:lt2>
      <a:accent1>
        <a:srgbClr val="1F4E9A"/>
      </a:accent1>
      <a:accent2>
        <a:srgbClr val="D0342C"/>
      </a:accent2>
      <a:accent3>
        <a:srgbClr val="8A94A6"/>
      </a:accent3>
      <a:accent4>
        <a:srgbClr val="E3EAF5"/>
      </a:accent4>
      <a:accent5>
        <a:srgbClr val="5B6B82"/>
      </a:accent5>
      <a:accent6>
        <a:srgbClr val="0F7B6C"/>
      </a:accent6>
      <a:hlink>
        <a:srgbClr val="1F4E9A"/>
      </a:hlink>
      <a:folHlink>
        <a:srgbClr val="5B6B82"/>
      </a:folHlink>
    </a:clrScheme>
    <a:fontScheme name="AX Consulting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2026-10-29T01:57:17Z</dcterms:created>
  <dcterms:modified xsi:type="dcterms:W3CDTF">2026-10-29T01:57:17Z</dcterms:modified>
</cp:coreProperties>
</file>