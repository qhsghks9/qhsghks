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개선방향 &gt; </a:t>
            </a:r>
            <a:pPr indent="0" marL="0">
              <a:buNone/>
            </a:pPr>
            <a:r>
              <a:rPr lang="en-US" sz="280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컨설팅팀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22960"/>
            <a:ext cx="11430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'과제 발굴형 컨설팅'에서 현업·PRD와 결합한 'FDE 실행형 조직'으로 전환하여,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 발굴 22건의 본사업 전환과 LIT의 지속형 AX 사업 모델을 동시에 확보함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48132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AX컨설팅팀 목표 모델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5669280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55080" y="1481328"/>
            <a:ext cx="5468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468112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2468880"/>
            <a:ext cx="3200400" cy="3200400"/>
          </a:xfrm>
          <a:prstGeom prst="blockArc">
            <a:avLst>
              <a:gd name="adj1" fmla="val 14580000"/>
              <a:gd name="adj2" fmla="val 17820000"/>
              <a:gd name="adj3" fmla="val 23714"/>
            </a:avLst>
          </a:prstGeom>
          <a:solidFill>
            <a:srgbClr val="2D3A55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96896" y="260146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현장 Embed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1800000">
            <a:off x="3710178" y="2893030"/>
            <a:ext cx="201168" cy="237744"/>
          </a:xfrm>
          <a:prstGeom prst="chevron">
            <a:avLst/>
          </a:prstGeom>
          <a:solidFill>
            <a:srgbClr val="9AA6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2468880"/>
            <a:ext cx="3200400" cy="3200400"/>
          </a:xfrm>
          <a:prstGeom prst="blockArc">
            <a:avLst>
              <a:gd name="adj1" fmla="val 18180000"/>
              <a:gd name="adj2" fmla="val 21420000"/>
              <a:gd name="adj3" fmla="val 23714"/>
            </a:avLst>
          </a:prstGeom>
          <a:solidFill>
            <a:srgbClr val="2D3A55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4074" y="321183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업무 재설계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 합의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320540" y="3950208"/>
            <a:ext cx="201168" cy="237744"/>
          </a:xfrm>
          <a:prstGeom prst="chevron">
            <a:avLst/>
          </a:prstGeom>
          <a:solidFill>
            <a:srgbClr val="9AA6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0200" y="2468880"/>
            <a:ext cx="3200400" cy="3200400"/>
          </a:xfrm>
          <a:prstGeom prst="blockArc">
            <a:avLst>
              <a:gd name="adj1" fmla="val 180000"/>
              <a:gd name="adj2" fmla="val 3420000"/>
              <a:gd name="adj3" fmla="val 23714"/>
            </a:avLst>
          </a:prstGeom>
          <a:solidFill>
            <a:srgbClr val="4A5878"/>
          </a:solidFill>
          <a:ln w="12700">
            <a:solidFill>
              <a:srgbClr val="4A58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4074" y="4432554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Data·Infra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Readiness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9000000">
            <a:off x="3710178" y="5007386"/>
            <a:ext cx="201168" cy="237744"/>
          </a:xfrm>
          <a:prstGeom prst="chevron">
            <a:avLst/>
          </a:prstGeom>
          <a:solidFill>
            <a:srgbClr val="9AA6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2468880"/>
            <a:ext cx="3200400" cy="3200400"/>
          </a:xfrm>
          <a:prstGeom prst="blockArc">
            <a:avLst>
              <a:gd name="adj1" fmla="val 3780000"/>
              <a:gd name="adj2" fmla="val 7020000"/>
              <a:gd name="adj3" fmla="val 23714"/>
            </a:avLst>
          </a:prstGeom>
          <a:solidFill>
            <a:srgbClr val="4A5878"/>
          </a:solidFill>
          <a:ln w="12700">
            <a:solidFill>
              <a:srgbClr val="4A58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96896" y="5042916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AI 구축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12600000">
            <a:off x="2489454" y="5007386"/>
            <a:ext cx="201168" cy="237744"/>
          </a:xfrm>
          <a:prstGeom prst="chevron">
            <a:avLst/>
          </a:prstGeom>
          <a:solidFill>
            <a:srgbClr val="9AA6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2468880"/>
            <a:ext cx="3200400" cy="3200400"/>
          </a:xfrm>
          <a:prstGeom prst="blockArc">
            <a:avLst>
              <a:gd name="adj1" fmla="val 7380000"/>
              <a:gd name="adj2" fmla="val 10620000"/>
              <a:gd name="adj3" fmla="val 23714"/>
            </a:avLst>
          </a:prstGeom>
          <a:solidFill>
            <a:srgbClr val="6A80B3"/>
          </a:solidFill>
          <a:ln w="12700">
            <a:solidFill>
              <a:srgbClr val="6A80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39718" y="4432554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운영 이관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Ops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rot="16200000">
            <a:off x="1879092" y="3950208"/>
            <a:ext cx="201168" cy="237744"/>
          </a:xfrm>
          <a:prstGeom prst="chevron">
            <a:avLst/>
          </a:prstGeom>
          <a:solidFill>
            <a:srgbClr val="9AA6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2468880"/>
            <a:ext cx="3200400" cy="3200400"/>
          </a:xfrm>
          <a:prstGeom prst="blockArc">
            <a:avLst>
              <a:gd name="adj1" fmla="val 10980000"/>
              <a:gd name="adj2" fmla="val 14220000"/>
              <a:gd name="adj3" fmla="val 23714"/>
            </a:avLst>
          </a:prstGeom>
          <a:solidFill>
            <a:srgbClr val="6A80B3"/>
          </a:solidFill>
          <a:ln w="12700">
            <a:solidFill>
              <a:srgbClr val="6A80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539718" y="321183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자산화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19800000">
            <a:off x="2489454" y="2893030"/>
            <a:ext cx="201168" cy="237744"/>
          </a:xfrm>
          <a:prstGeom prst="chevron">
            <a:avLst/>
          </a:prstGeom>
          <a:solidFill>
            <a:srgbClr val="9AA6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53896" y="2322576"/>
            <a:ext cx="3493008" cy="3493008"/>
          </a:xfrm>
          <a:prstGeom prst="blockArc">
            <a:avLst>
              <a:gd name="adj1" fmla="val 14580000"/>
              <a:gd name="adj2" fmla="val 21420000"/>
              <a:gd name="adj3" fmla="val 2094"/>
            </a:avLst>
          </a:prstGeom>
          <a:solidFill>
            <a:srgbClr val="2D3A55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53896" y="2322576"/>
            <a:ext cx="3493008" cy="3493008"/>
          </a:xfrm>
          <a:prstGeom prst="blockArc">
            <a:avLst>
              <a:gd name="adj1" fmla="val 180000"/>
              <a:gd name="adj2" fmla="val 7020000"/>
              <a:gd name="adj3" fmla="val 2094"/>
            </a:avLst>
          </a:prstGeom>
          <a:solidFill>
            <a:srgbClr val="4A5878"/>
          </a:solidFill>
          <a:ln w="12700">
            <a:solidFill>
              <a:srgbClr val="4A58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53896" y="2322576"/>
            <a:ext cx="3493008" cy="3493008"/>
          </a:xfrm>
          <a:prstGeom prst="blockArc">
            <a:avLst>
              <a:gd name="adj1" fmla="val 7380000"/>
              <a:gd name="adj2" fmla="val 14220000"/>
              <a:gd name="adj3" fmla="val 2094"/>
            </a:avLst>
          </a:prstGeom>
          <a:solidFill>
            <a:srgbClr val="6A80B3"/>
          </a:solidFill>
          <a:ln w="12700">
            <a:solidFill>
              <a:srgbClr val="6A80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32304" y="3300984"/>
            <a:ext cx="1536192" cy="15361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26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68880" y="3337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조직</a:t>
            </a:r>
            <a:endParaRPr lang="en-US" sz="9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상시 가치 측정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협의체 월간 리뷰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개선·중단 판단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ROI → 차기 투자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06240" y="1938528"/>
            <a:ext cx="1783080" cy="274320"/>
          </a:xfrm>
          <a:prstGeom prst="rect">
            <a:avLst/>
          </a:prstGeom>
          <a:solidFill>
            <a:srgbClr val="2D3A55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70248" y="193852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현장 중심 문제정의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06240" y="2212848"/>
            <a:ext cx="1783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5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79392" y="2212848"/>
            <a:ext cx="1636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공동 발의·공동 투자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KPI·ROI 사전 합의 (G1)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06240" y="5358384"/>
            <a:ext cx="1783080" cy="274320"/>
          </a:xfrm>
          <a:prstGeom prst="rect">
            <a:avLst/>
          </a:prstGeom>
          <a:solidFill>
            <a:srgbClr val="4A5878"/>
          </a:solidFill>
          <a:ln w="12700">
            <a:solidFill>
              <a:srgbClr val="4A587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70248" y="5358384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Data·Infra Ready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06240" y="5632704"/>
            <a:ext cx="1783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4A587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79392" y="5632704"/>
            <a:ext cx="1636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AI-Ready Data 정제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Aimember 연계 MCP 확보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1480" y="1938528"/>
            <a:ext cx="1783080" cy="274320"/>
          </a:xfrm>
          <a:prstGeom prst="rect">
            <a:avLst/>
          </a:prstGeom>
          <a:solidFill>
            <a:srgbClr val="6A80B3"/>
          </a:solidFill>
          <a:ln w="12700">
            <a:solidFill>
              <a:srgbClr val="6A80B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5488" y="193852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운영 안착·자산화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2212848"/>
            <a:ext cx="1783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A80B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4632" y="2212848"/>
            <a:ext cx="1636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Ops 체크리스트 이관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Agent·Connector Asset화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1480" y="6199632"/>
            <a:ext cx="5577840" cy="365760"/>
          </a:xfrm>
          <a:prstGeom prst="rect">
            <a:avLst/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2920" y="619963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A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조직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스쿼드(안) = 현업 Owner + FD(문제정의·KPI) + PRD(구축·AI Ops)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53328" y="1901952"/>
            <a:ext cx="274320" cy="4663440"/>
          </a:xfrm>
          <a:custGeom>
            <a:avLst/>
            <a:gdLst/>
            <a:ahLst/>
            <a:cxnLst/>
            <a:rect l="l" t="t" r="r" b="b"/>
            <a:pathLst>
              <a:path w="274320" h="4663440">
                <a:moveTo>
                  <a:pt x="0" y="1463040"/>
                </a:moveTo>
                <a:lnTo>
                  <a:pt x="274320" y="0"/>
                </a:lnTo>
                <a:lnTo>
                  <a:pt x="274320" y="4663440"/>
                </a:lnTo>
                <a:lnTo>
                  <a:pt x="0" y="3200400"/>
                </a:lnTo>
                <a:close/>
              </a:path>
            </a:pathLst>
          </a:custGeom>
          <a:solidFill>
            <a:srgbClr val="E6E8EE"/>
          </a:solidFill>
          <a:ln w="12700">
            <a:solidFill>
              <a:srgbClr val="E6E8E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725912" y="1883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'27 KPI 목표(안)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55080" y="2121408"/>
            <a:ext cx="457200" cy="2286000"/>
          </a:xfrm>
          <a:prstGeom prst="rect">
            <a:avLst/>
          </a:prstGeom>
          <a:solidFill>
            <a:srgbClr val="2F3A4F"/>
          </a:solidFill>
          <a:ln w="12700">
            <a:solidFill>
              <a:srgbClr val="2F3A4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55080" y="2121408"/>
            <a:ext cx="45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롯데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58000" y="2121408"/>
            <a:ext cx="1188720" cy="731520"/>
          </a:xfrm>
          <a:prstGeom prst="rect">
            <a:avLst/>
          </a:prstGeom>
          <a:solidFill>
            <a:srgbClr val="D3D9E5"/>
          </a:solidFill>
          <a:ln w="12700">
            <a:solidFill>
              <a:srgbClr val="D3D9E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858000" y="212140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 실행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전환율 제고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138160" y="212140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 발굴 22건 중 상세화 완료 과제부터 실행 전환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1st Wave(안): 마트-슈퍼 KPI, 호텔 객실요금, K7 Blueprint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0725912" y="2194560"/>
            <a:ext cx="1097280" cy="585216"/>
          </a:xfrm>
          <a:prstGeom prst="rect">
            <a:avLst/>
          </a:prstGeom>
          <a:solidFill>
            <a:srgbClr val="FDECEC"/>
          </a:solidFill>
          <a:ln w="9525">
            <a:solidFill>
              <a:srgbClr val="E0262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725912" y="219456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본사업 전환율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○% → ○%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138160" y="2875788"/>
            <a:ext cx="3685032" cy="0"/>
          </a:xfrm>
          <a:prstGeom prst="line">
            <a:avLst/>
          </a:prstGeom>
          <a:noFill/>
          <a:ln w="9525">
            <a:solidFill>
              <a:srgbClr val="BFC6D4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6858000" y="2898648"/>
            <a:ext cx="1188720" cy="731520"/>
          </a:xfrm>
          <a:prstGeom prst="rect">
            <a:avLst/>
          </a:prstGeom>
          <a:solidFill>
            <a:srgbClr val="D3D9E5"/>
          </a:solidFill>
          <a:ln w="12700">
            <a:solidFill>
              <a:srgbClr val="D3D9E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858000" y="289864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효율화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가시화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8138160" y="289864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협의체 월간 리뷰로 KPI·ROI 실측, 저성과 과제 개선·중단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ROI를 차기 투자 Gate 입력값으로 활용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0725912" y="2971800"/>
            <a:ext cx="1097280" cy="585216"/>
          </a:xfrm>
          <a:prstGeom prst="rect">
            <a:avLst/>
          </a:prstGeom>
          <a:solidFill>
            <a:srgbClr val="FDECEC"/>
          </a:solidFill>
          <a:ln w="9525">
            <a:solidFill>
              <a:srgbClr val="E0262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725912" y="297180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실측 과제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138160" y="3653028"/>
            <a:ext cx="3685032" cy="0"/>
          </a:xfrm>
          <a:prstGeom prst="line">
            <a:avLst/>
          </a:prstGeom>
          <a:noFill/>
          <a:ln w="9525">
            <a:solidFill>
              <a:srgbClr val="BFC6D4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6858000" y="3675888"/>
            <a:ext cx="1188720" cy="731520"/>
          </a:xfrm>
          <a:prstGeom prst="rect">
            <a:avLst/>
          </a:prstGeom>
          <a:solidFill>
            <a:srgbClr val="D3D9E5"/>
          </a:solidFill>
          <a:ln w="12700">
            <a:solidFill>
              <a:srgbClr val="D3D9E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858000" y="36758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공통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기반 확보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8138160" y="367588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Aimember·롯데GPT 연계 MCP·Connector 표준화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 Asset으로 계열사 중복 개발 방지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0725912" y="3749040"/>
            <a:ext cx="1097280" cy="585216"/>
          </a:xfrm>
          <a:prstGeom prst="rect">
            <a:avLst/>
          </a:prstGeom>
          <a:solidFill>
            <a:srgbClr val="FDECEC"/>
          </a:solidFill>
          <a:ln w="9525">
            <a:solidFill>
              <a:srgbClr val="E0262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725912" y="374904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 Asset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○종 구축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355080" y="4517136"/>
            <a:ext cx="457200" cy="2286000"/>
          </a:xfrm>
          <a:prstGeom prst="rect">
            <a:avLst/>
          </a:prstGeom>
          <a:solidFill>
            <a:srgbClr val="2F3A4F"/>
          </a:solidFill>
          <a:ln w="12700">
            <a:solidFill>
              <a:srgbClr val="2F3A4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355080" y="4517136"/>
            <a:ext cx="45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LIT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6858000" y="4517136"/>
            <a:ext cx="1188720" cy="731520"/>
          </a:xfrm>
          <a:prstGeom prst="rect">
            <a:avLst/>
          </a:prstGeom>
          <a:solidFill>
            <a:srgbClr val="D3D9E5"/>
          </a:solidFill>
          <a:ln w="12700">
            <a:solidFill>
              <a:srgbClr val="D3D9E5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858000" y="4517136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사업 모델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8138160" y="451713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일회성 컨설팅 → 구축·AI Ops 운영 연계 수주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 산출물(과제정의서·KPI)을 구축 RFP로 직결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10725912" y="4590288"/>
            <a:ext cx="1097280" cy="585216"/>
          </a:xfrm>
          <a:prstGeom prst="rect">
            <a:avLst/>
          </a:prstGeom>
          <a:solidFill>
            <a:srgbClr val="FDECEC"/>
          </a:solidFill>
          <a:ln w="9525">
            <a:solidFill>
              <a:srgbClr val="E0262B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725912" y="459028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컨설팅→구축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연계율 ○%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138160" y="5271516"/>
            <a:ext cx="3685032" cy="0"/>
          </a:xfrm>
          <a:prstGeom prst="line">
            <a:avLst/>
          </a:prstGeom>
          <a:noFill/>
          <a:ln w="9525">
            <a:solidFill>
              <a:srgbClr val="BFC6D4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6858000" y="5294376"/>
            <a:ext cx="1188720" cy="731520"/>
          </a:xfrm>
          <a:prstGeom prst="rect">
            <a:avLst/>
          </a:prstGeom>
          <a:solidFill>
            <a:srgbClr val="D3D9E5"/>
          </a:solidFill>
          <a:ln w="12700">
            <a:solidFill>
              <a:srgbClr val="D3D9E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858000" y="5294376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Biz+Eng+Ops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역량 내재화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8138160" y="529437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 + PRD 결합 FDE 스쿼드로 문제정의~운영 일괄 수행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Readiness·MCP·AI Ops 수행 역량 확보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725912" y="5367528"/>
            <a:ext cx="1097280" cy="585216"/>
          </a:xfrm>
          <a:prstGeom prst="rect">
            <a:avLst/>
          </a:prstGeom>
          <a:solidFill>
            <a:srgbClr val="FDECEC"/>
          </a:solidFill>
          <a:ln w="9525">
            <a:solidFill>
              <a:srgbClr val="E0262B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725912" y="536752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스쿼드 ○개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리드타임 ○개월↓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8138160" y="6048756"/>
            <a:ext cx="3685032" cy="0"/>
          </a:xfrm>
          <a:prstGeom prst="line">
            <a:avLst/>
          </a:prstGeom>
          <a:noFill/>
          <a:ln w="9525">
            <a:solidFill>
              <a:srgbClr val="BFC6D4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6858000" y="6071616"/>
            <a:ext cx="1188720" cy="731520"/>
          </a:xfrm>
          <a:prstGeom prst="rect">
            <a:avLst/>
          </a:prstGeom>
          <a:solidFill>
            <a:srgbClr val="D3D9E5"/>
          </a:solidFill>
          <a:ln w="12700">
            <a:solidFill>
              <a:srgbClr val="D3D9E5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858000" y="6071616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Asset 기반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경쟁력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8138160" y="607161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Agent·Connector·AI Ops 체크리스트 라이브러리화</a:t>
            </a:r>
            <a:endParaRPr lang="en-US" sz="950" dirty="0"/>
          </a:p>
          <a:p>
            <a:pPr marL="101600" indent="-1016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레퍼런스(공항철도·군인공제회·신분당선·KT&amp;G) → 실행형 사업 제안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10725912" y="6144768"/>
            <a:ext cx="1097280" cy="585216"/>
          </a:xfrm>
          <a:prstGeom prst="rect">
            <a:avLst/>
          </a:prstGeom>
          <a:solidFill>
            <a:srgbClr val="FDECEC"/>
          </a:solidFill>
          <a:ln w="9525">
            <a:solidFill>
              <a:srgbClr val="E0262B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725912" y="614476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실행형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02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수주 ○건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2026-10-15T00:42:56Z</dcterms:created>
  <dcterms:modified xsi:type="dcterms:W3CDTF">2026-10-15T00:42:56Z</dcterms:modified>
</cp:coreProperties>
</file>