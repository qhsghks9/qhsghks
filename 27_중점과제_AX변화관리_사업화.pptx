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[사업화 버전] 배경: 1회성 교육·Agent 단독 구현의 한계 → 업무 재설계·현장 변화관리 필요, 주요 그룹 사례. 방향: ① 그룹 공통 교육·인증(인재개발원 협업) ② 현장 AI 정착(FDE 연계), ②의 사례·Agent를 ①에 환류.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2PANE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14400"/>
            <a:ext cx="11457432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966960" y="6510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AX컨설팅팀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'27년 중점추진과제  &gt;  </a:t>
            </a:r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④ AX 변화관리를 통한 그룹사 AX 사업화</a:t>
            </a:r>
            <a:endParaRPr lang="en-US" sz="2600" dirty="0"/>
          </a:p>
        </p:txBody>
      </p:sp>
      <p:sp>
        <p:nvSpPr>
          <p:cNvPr id="3" name="거버닝 메시지"/>
          <p:cNvSpPr txBox="1"/>
          <p:nvPr/>
        </p:nvSpPr>
        <p:spPr>
          <a:xfrm>
            <a:off x="365760" y="987552"/>
            <a:ext cx="11457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</a:rPr>
              <a:t>인재개발원과 그룹 공통 AX 교육 체계를 마련하고, 현장 맞춤 워크숍으로 그룹사 AX 사업 발굴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57276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626"/>
                </a:solidFill>
              </a:rPr>
              <a:t>추진 배경</a:t>
            </a:r>
            <a:endParaRPr lang="en-US" sz="1500" dirty="0"/>
          </a:p>
        </p:txBody>
      </p:sp>
      <p:sp>
        <p:nvSpPr>
          <p:cNvPr id="5" name="구역선"/>
          <p:cNvSpPr/>
          <p:nvPr/>
        </p:nvSpPr>
        <p:spPr>
          <a:xfrm>
            <a:off x="365760" y="1920240"/>
            <a:ext cx="5577840" cy="0"/>
          </a:xfrm>
          <a:prstGeom prst="line">
            <a:avLst/>
          </a:prstGeom>
          <a:noFill/>
          <a:ln w="31750">
            <a:solidFill>
              <a:srgbClr val="8A94A6"/>
            </a:solidFill>
            <a:prstDash val="solid"/>
          </a:ln>
        </p:spPr>
      </p:sp>
      <p:sp>
        <p:nvSpPr>
          <p:cNvPr id="6" name="실행 방안 패널"/>
          <p:cNvSpPr/>
          <p:nvPr/>
        </p:nvSpPr>
        <p:spPr>
          <a:xfrm>
            <a:off x="6172200" y="1956816"/>
            <a:ext cx="5650992" cy="4462272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7" name="실행 방안 헤더"/>
          <p:cNvSpPr txBox="1"/>
          <p:nvPr/>
        </p:nvSpPr>
        <p:spPr>
          <a:xfrm>
            <a:off x="6172200" y="1572768"/>
            <a:ext cx="5650992" cy="384048"/>
          </a:xfrm>
          <a:prstGeom prst="round2SameRect">
            <a:avLst>
              <a:gd name="adj" fmla="val 19048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AX 변화관리 및 사업화 방안</a:t>
            </a:r>
            <a:endParaRPr lang="en-US" sz="1500" dirty="0"/>
          </a:p>
        </p:txBody>
      </p:sp>
      <p:sp>
        <p:nvSpPr>
          <p:cNvPr id="8" name="머리표"/>
          <p:cNvSpPr/>
          <p:nvPr/>
        </p:nvSpPr>
        <p:spPr>
          <a:xfrm>
            <a:off x="384048" y="2112264"/>
            <a:ext cx="164592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  <a:effectLst>
            <a:outerShdw sx="100000" sy="100000" kx="0" ky="0" algn="bl" rotWithShape="0" blurRad="12700" dist="19050" dir="2700000">
              <a:srgbClr val="7F7F7F">
                <a:alpha val="6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204825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AI Agent 개발 교육 → Biz 성과 중심 AX 교육 체계로 전환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39572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</a:rPr>
              <a:t>•  </a:t>
            </a:r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</a:rPr>
              <a:t>리터러시는 확산됐으나 </a:t>
            </a:r>
            <a:pPr indent="0" marL="0">
              <a:buNone/>
            </a:pPr>
            <a:r>
              <a:rPr lang="en-US" sz="1150" b="1" dirty="0">
                <a:solidFill>
                  <a:srgbClr val="1F3FA8"/>
                </a:solidFill>
              </a:rPr>
              <a:t>AI 중심 업무 재설계·성과 창출</a:t>
            </a:r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</a:rPr>
              <a:t>로 미연결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67004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</a:rPr>
              <a:t>- 업무 방식은 그대로 둔 채 Agent만 구현 → 활용도 저하 → 성과 미흡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96265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</a:rPr>
              <a:t>•  </a:t>
            </a:r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</a:rPr>
              <a:t>성과 창출을 위해 </a:t>
            </a:r>
            <a:pPr indent="0" marL="0">
              <a:buNone/>
            </a:pPr>
            <a:r>
              <a:rPr lang="en-US" sz="1150" b="1" dirty="0">
                <a:solidFill>
                  <a:srgbClr val="1F3FA8"/>
                </a:solidFill>
              </a:rPr>
              <a:t>AI 활용 역량 확보와 현장 변화관리</a:t>
            </a:r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</a:rPr>
              <a:t>를 함께 추진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236976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</a:rPr>
              <a:t>- 주요 그룹은 지속적인 AI 역량 교육 프로그램을 운영</a:t>
            </a:r>
            <a:endParaRPr lang="en-US" sz="1050" dirty="0"/>
          </a:p>
        </p:txBody>
      </p:sp>
      <p:graphicFrame>
        <p:nvGraphicFramePr>
          <p:cNvPr id="2" name="그룹 사례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511296"/>
          <a:ext cx="4892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1605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SK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교육 정부 인증, 그룹 AI 역량 모델 기반 인증 제도화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직무·계층별 전 임직원 교육, AI Crew 통한 현장 변화관리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LG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 임원 AI 교육, 사별 AI 교육·제도 운영, 사내 AI대학원 개원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411480" y="4617720"/>
            <a:ext cx="2670048" cy="292608"/>
          </a:xfrm>
          <a:prstGeom prst="rect">
            <a:avLst/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번호 1"/>
          <p:cNvSpPr/>
          <p:nvPr/>
        </p:nvSpPr>
        <p:spPr>
          <a:xfrm>
            <a:off x="484632" y="4663440"/>
            <a:ext cx="201168" cy="201168"/>
          </a:xfrm>
          <a:prstGeom prst="ellipse">
            <a:avLst/>
          </a:prstGeom>
          <a:solidFill>
            <a:srgbClr val="7F7F7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4632" y="46634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740664" y="461772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</a:rPr>
              <a:t>그룹 공통 AI 교육</a:t>
            </a:r>
            <a:endParaRPr lang="en-US" sz="1150" dirty="0"/>
          </a:p>
        </p:txBody>
      </p:sp>
      <p:sp>
        <p:nvSpPr>
          <p:cNvPr id="19" name="박스 1"/>
          <p:cNvSpPr txBox="1"/>
          <p:nvPr/>
        </p:nvSpPr>
        <p:spPr>
          <a:xfrm>
            <a:off x="411480" y="4910328"/>
            <a:ext cx="267004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</a:rPr>
              <a:t>인재개발원과 협업하여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</a:rPr>
              <a:t>직무·계층별 교육·인증 제도 개발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3264408" y="4617720"/>
            <a:ext cx="2670048" cy="292608"/>
          </a:xfrm>
          <a:prstGeom prst="rect">
            <a:avLst/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번호 2"/>
          <p:cNvSpPr/>
          <p:nvPr/>
        </p:nvSpPr>
        <p:spPr>
          <a:xfrm>
            <a:off x="3337560" y="4663440"/>
            <a:ext cx="201168" cy="201168"/>
          </a:xfrm>
          <a:prstGeom prst="ellipse">
            <a:avLst/>
          </a:prstGeom>
          <a:solidFill>
            <a:srgbClr val="7F7F7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337560" y="46634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3593592" y="461772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</a:rPr>
              <a:t>현장 맞춤 AX 워크숍</a:t>
            </a:r>
            <a:endParaRPr lang="en-US" sz="1150" dirty="0"/>
          </a:p>
        </p:txBody>
      </p:sp>
      <p:sp>
        <p:nvSpPr>
          <p:cNvPr id="24" name="박스 2"/>
          <p:cNvSpPr txBox="1"/>
          <p:nvPr/>
        </p:nvSpPr>
        <p:spPr>
          <a:xfrm>
            <a:off x="3264408" y="4910328"/>
            <a:ext cx="267004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</a:rPr>
              <a:t>현장 맞춤 워크숍으로 AI 니즈 수집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</a:rPr>
              <a:t>→ FDE 방식으로 과제 선제안</a:t>
            </a:r>
            <a:endParaRPr lang="en-US" sz="1050" dirty="0"/>
          </a:p>
        </p:txBody>
      </p:sp>
      <p:sp>
        <p:nvSpPr>
          <p:cNvPr id="25" name="환류선"/>
          <p:cNvSpPr/>
          <p:nvPr/>
        </p:nvSpPr>
        <p:spPr>
          <a:xfrm>
            <a:off x="4599432" y="5477256"/>
            <a:ext cx="0" cy="283464"/>
          </a:xfrm>
          <a:prstGeom prst="line">
            <a:avLst/>
          </a:prstGeom>
          <a:noFill/>
          <a:ln w="19050">
            <a:solidFill>
              <a:srgbClr val="1F3FA8"/>
            </a:solidFill>
            <a:prstDash val="solid"/>
          </a:ln>
        </p:spPr>
      </p:sp>
      <p:sp>
        <p:nvSpPr>
          <p:cNvPr id="26" name="환류선"/>
          <p:cNvSpPr/>
          <p:nvPr/>
        </p:nvSpPr>
        <p:spPr>
          <a:xfrm>
            <a:off x="1746504" y="5760720"/>
            <a:ext cx="2852928" cy="0"/>
          </a:xfrm>
          <a:prstGeom prst="line">
            <a:avLst/>
          </a:prstGeom>
          <a:noFill/>
          <a:ln w="19050">
            <a:solidFill>
              <a:srgbClr val="1F3FA8"/>
            </a:solidFill>
            <a:prstDash val="solid"/>
          </a:ln>
        </p:spPr>
      </p:sp>
      <p:sp>
        <p:nvSpPr>
          <p:cNvPr id="27" name="환류선"/>
          <p:cNvSpPr/>
          <p:nvPr/>
        </p:nvSpPr>
        <p:spPr>
          <a:xfrm>
            <a:off x="1746504" y="5477256"/>
            <a:ext cx="0" cy="283464"/>
          </a:xfrm>
          <a:prstGeom prst="line">
            <a:avLst/>
          </a:prstGeom>
          <a:noFill/>
          <a:ln w="19050">
            <a:solidFill>
              <a:srgbClr val="1F3FA8"/>
            </a:solidFill>
            <a:prstDash val="solid"/>
            <a:headEnd type="triangle"/>
          </a:ln>
        </p:spPr>
      </p:sp>
      <p:sp>
        <p:nvSpPr>
          <p:cNvPr id="28" name="환류 라벨"/>
          <p:cNvSpPr txBox="1"/>
          <p:nvPr/>
        </p:nvSpPr>
        <p:spPr>
          <a:xfrm>
            <a:off x="2020824" y="5751576"/>
            <a:ext cx="2304288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FA8"/>
                </a:solidFill>
              </a:rPr>
              <a:t>현장 사례 · Agent를 교육 콘텐츠에 반영</a:t>
            </a:r>
            <a:endParaRPr lang="en-US" sz="950" dirty="0"/>
          </a:p>
        </p:txBody>
      </p:sp>
      <p:sp>
        <p:nvSpPr>
          <p:cNvPr id="29" name="머리표"/>
          <p:cNvSpPr/>
          <p:nvPr/>
        </p:nvSpPr>
        <p:spPr>
          <a:xfrm>
            <a:off x="6300216" y="2112264"/>
            <a:ext cx="164592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  <a:effectLst>
            <a:outerShdw sx="100000" sy="100000" kx="0" ky="0" algn="bl" rotWithShape="0" blurRad="12700" dist="19050" dir="2700000">
              <a:srgbClr val="7F7F7F">
                <a:alpha val="6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556248" y="2048256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그룹 공통 AI 교육 (가칭 Lotte AX Academy)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464808" y="2377440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</a:rPr>
              <a:t>•  </a:t>
            </a:r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</a:rPr>
              <a:t>인재개발원 주관, </a:t>
            </a:r>
            <a:pPr indent="0" marL="0">
              <a:buNone/>
            </a:pPr>
            <a:r>
              <a:rPr lang="en-US" sz="1050" b="1" dirty="0">
                <a:solidFill>
                  <a:srgbClr val="1F3FA8"/>
                </a:solidFill>
              </a:rPr>
              <a:t>AX컨설팅팀 맞춤 콘텐츠·시나리오 공급</a:t>
            </a:r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</a:rPr>
              <a:t> (콘텐츠 사업화)</a:t>
            </a:r>
            <a:endParaRPr lang="en-US" sz="1050" dirty="0"/>
          </a:p>
        </p:txBody>
      </p:sp>
      <p:graphicFrame>
        <p:nvGraphicFramePr>
          <p:cNvPr id="3" name="공통 프로그램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1928" y="2688336"/>
          <a:ext cx="5431536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4105656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 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직무·계층별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 프로그램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· 계층별 기대되는 '변화 역할' 기반 AI 교육 운영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· 직무별 현장 시나리오 기반 실습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AX 역량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인증 제도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· 4단계 (이해 → 적용 → 구현 → 내재화 및 확산)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· AX 성장 경로별 인증 관리 (HR 연계는 단계적 검토)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" name="머리표"/>
          <p:cNvSpPr/>
          <p:nvPr/>
        </p:nvSpPr>
        <p:spPr>
          <a:xfrm>
            <a:off x="6300216" y="4270248"/>
            <a:ext cx="164592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  <a:effectLst>
            <a:outerShdw sx="100000" sy="100000" kx="0" ky="0" algn="bl" rotWithShape="0" blurRad="12700" dist="19050" dir="2700000">
              <a:srgbClr val="7F7F7F">
                <a:alpha val="60000"/>
              </a:srgbClr>
            </a:outerShdw>
          </a:effectLst>
        </p:spPr>
      </p:sp>
      <p:sp>
        <p:nvSpPr>
          <p:cNvPr id="34" name="Text 30"/>
          <p:cNvSpPr txBox="1"/>
          <p:nvPr/>
        </p:nvSpPr>
        <p:spPr>
          <a:xfrm>
            <a:off x="6556248" y="4206240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현장 맞춤 AX 워크숍</a:t>
            </a:r>
            <a:endParaRPr lang="en-US" sz="1300" dirty="0"/>
          </a:p>
        </p:txBody>
      </p:sp>
      <p:sp>
        <p:nvSpPr>
          <p:cNvPr id="35" name="Text 31"/>
          <p:cNvSpPr txBox="1"/>
          <p:nvPr/>
        </p:nvSpPr>
        <p:spPr>
          <a:xfrm>
            <a:off x="6464808" y="4535424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</a:rPr>
              <a:t>•  </a:t>
            </a:r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</a:rPr>
              <a:t>현업 AI 니즈 과제화를 통한 </a:t>
            </a:r>
            <a:pPr indent="0" marL="0">
              <a:buNone/>
            </a:pPr>
            <a:r>
              <a:rPr lang="en-US" sz="1100" b="1" dirty="0">
                <a:solidFill>
                  <a:srgbClr val="1F3FA8"/>
                </a:solidFill>
              </a:rPr>
              <a:t>그룹사 선제안·사업화 연계</a:t>
            </a:r>
            <a:endParaRPr lang="en-US" sz="1100" dirty="0"/>
          </a:p>
        </p:txBody>
      </p:sp>
      <p:graphicFrame>
        <p:nvGraphicFramePr>
          <p:cNvPr id="4" name="현장 정착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1928" y="4846320"/>
          <a:ext cx="5431536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4105656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 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진행 사항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현장 워크숍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현업 참여·데이터 기반 AI 과제 발굴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F7F7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(사례) 백화점 이커머스 : 실무자 AI 실습·과제 도출 워크숍 ('26.10)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워크숍 도출 과제 선별 →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F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FDE 선제안 → 구축사업 연계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AX Consulting">
  <a:themeElements>
    <a:clrScheme name="AX Consulting">
      <a:dk1>
        <a:srgbClr val="1F2329"/>
      </a:dk1>
      <a:lt1>
        <a:srgbClr val="FFFFFF"/>
      </a:lt1>
      <a:dk2>
        <a:srgbClr val="2F3E55"/>
      </a:dk2>
      <a:lt2>
        <a:srgbClr val="F2F4F7"/>
      </a:lt2>
      <a:accent1>
        <a:srgbClr val="1F4E9A"/>
      </a:accent1>
      <a:accent2>
        <a:srgbClr val="D0342C"/>
      </a:accent2>
      <a:accent3>
        <a:srgbClr val="8A94A6"/>
      </a:accent3>
      <a:accent4>
        <a:srgbClr val="E3EAF5"/>
      </a:accent4>
      <a:accent5>
        <a:srgbClr val="5B6B82"/>
      </a:accent5>
      <a:accent6>
        <a:srgbClr val="0F7B6C"/>
      </a:accent6>
      <a:hlink>
        <a:srgbClr val="1F4E9A"/>
      </a:hlink>
      <a:folHlink>
        <a:srgbClr val="5B6B82"/>
      </a:folHlink>
    </a:clrScheme>
    <a:fontScheme name="AX Consulting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2026-10-29T07:39:57Z</dcterms:created>
  <dcterms:modified xsi:type="dcterms:W3CDTF">2026-10-29T07:39:57Z</dcterms:modified>
</cp:coreProperties>
</file>