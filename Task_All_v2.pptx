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① 핵심 Value Chain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Agent 선도 사례와 롯데월드 Value Chain 분석을 바탕으로 핵심 업무 영역 2~3개를 정의하고, Agent Use Case Pool을 현업과 함께 검토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395728" cy="292608"/>
          </a:xfrm>
          <a:prstGeom prst="homePlate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후보 과제 발굴 (W1~W3)</a:t>
            </a:r>
          </a:p>
        </p:txBody>
      </p:sp>
      <p:sp>
        <p:nvSpPr>
          <p:cNvPr id="10" name="Chevron 9"/>
          <p:cNvSpPr/>
          <p:nvPr/>
        </p:nvSpPr>
        <p:spPr>
          <a:xfrm>
            <a:off x="2798064" y="1847088"/>
            <a:ext cx="3099816" cy="292608"/>
          </a:xfrm>
          <a:prstGeom prst="chevron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확정 및 검증 (W4~W6)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Value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Chain 분석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워크샵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Agent 후보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Pool 확정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Agent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평가·확정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운영 적용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방안 수립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" y="2139696"/>
            <a:ext cx="822960" cy="905256"/>
          </a:xfrm>
          <a:prstGeom prst="rect">
            <a:avLst/>
          </a:prstGeom>
          <a:noFill/>
          <a:ln w="22225">
            <a:solidFill>
              <a:srgbClr val="C628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054096"/>
            <a:ext cx="10881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사례·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선도사 벤치마킹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Agentic AI Use Case 파악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글로벌 테마파크·선도사 업무 영역별 Agent 활용 사례 분석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Value Chain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Value Chain 정의 및 내부 자료(전략·프로세스·KPI) 분석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업무량·Pain Point·데이터 보유 수준 평가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업무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정의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업무 영역 2~3개 선정 및 합의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업무 흐름·Pain Point 정리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 Case Pool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식별·현업 검토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영역별 AI Agent Use Case Pool 식별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 Case 기반 현업 검토로 적용 가능성 확인 (Top-down)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k_t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Agent 사례 및 선도사 벤치마킹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k_t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Value Chain 분석 및 Agent Use Case Pool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②③ 현업 워크샵 및 Agent 후보 Pool 확정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현업 워크샵으로 실무자가 필요한 Agent를 직접 도출하고, 실무자·IS팀 심층 인터뷰를 통해 업무 Agent 및 신규 서비스 후보 Pool을 확정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395728" cy="292608"/>
          </a:xfrm>
          <a:prstGeom prst="homePlate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후보 과제 발굴 (W1~W3)</a:t>
            </a:r>
          </a:p>
        </p:txBody>
      </p:sp>
      <p:sp>
        <p:nvSpPr>
          <p:cNvPr id="10" name="Chevron 9"/>
          <p:cNvSpPr/>
          <p:nvPr/>
        </p:nvSpPr>
        <p:spPr>
          <a:xfrm>
            <a:off x="2798064" y="1847088"/>
            <a:ext cx="3099816" cy="292608"/>
          </a:xfrm>
          <a:prstGeom prst="chevron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확정 및 검증 (W4~W6)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 Value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Chain 분석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현업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워크샵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후보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Pool 확정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Agent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평가·확정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운영 적용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방안 수립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7864" y="2139696"/>
            <a:ext cx="1591056" cy="905256"/>
          </a:xfrm>
          <a:prstGeom prst="rect">
            <a:avLst/>
          </a:prstGeom>
          <a:noFill/>
          <a:ln w="22225">
            <a:solidFill>
              <a:srgbClr val="C628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3054096"/>
            <a:ext cx="18562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 워크샵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(Bottom-up)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실무자가 필요한 Agent를 직접 도출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반복·판단 업무 중심 아이디어화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요구사항·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기회 정의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워크샵 결과 기반 요구사항 및 개선 기회 정의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 Case 현업 검토 결과(Top-down)와 통합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실무자·IS팀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심층 인터뷰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상세 흐름 및 예외 상황 파악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데이터·시스템 현황 및 연계 가능성 확인 (IS팀)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후보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Pool 확정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후보별 문제 정의 및 기대효과 가설 수립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Agent·신규 서비스 후보 Pool 확정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k_t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현업 워크샵 결과 (Agent 아이디어 Canvas)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k_t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후보 Pool 및 문제 정의서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④⑤ Agent 과제 평가·확정 및 To-Be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중요도·실현성·데이터 준비도 기준으로 Agent 과제를 평가해 확정하고, 확정 과제의 To-Be 업무 프로세스와 데이터·시스템 연계 요건을 설계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395728" cy="292608"/>
          </a:xfrm>
          <a:prstGeom prst="homePlate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후보 과제 발굴 (W1~W3)</a:t>
            </a:r>
          </a:p>
        </p:txBody>
      </p:sp>
      <p:sp>
        <p:nvSpPr>
          <p:cNvPr id="10" name="Chevron 9"/>
          <p:cNvSpPr/>
          <p:nvPr/>
        </p:nvSpPr>
        <p:spPr>
          <a:xfrm>
            <a:off x="2798064" y="1847088"/>
            <a:ext cx="3099816" cy="292608"/>
          </a:xfrm>
          <a:prstGeom prst="chevron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확정 및 검증 (W4~W6)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 Value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Chain 분석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워크샵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Agent 후보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Pool 확정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과제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평가·확정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운영 적용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방안 수립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34056" y="2139696"/>
            <a:ext cx="1591056" cy="905256"/>
          </a:xfrm>
          <a:prstGeom prst="rect">
            <a:avLst/>
          </a:prstGeom>
          <a:noFill/>
          <a:ln w="22225">
            <a:solidFill>
              <a:srgbClr val="C628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6896" y="3054096"/>
            <a:ext cx="18562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정의·평가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중요도·실현성·데이터 준비도 기준 및 가중치 정의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적용성 관점의 적합성 평가 (IS팀 협업)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과제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과제 확정 (5~8개)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대상 선정 (2개)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업무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프로세스 설계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사람·Agent 역할 분담 기반 To-Be 업무 프로세스 설계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데이터·시스템 연계 요건 정의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정의서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과제별 배경·To-Be·기대효과·필요 데이터 정리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구현 범위 및 검증 시나리오 확정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k_t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과제 평가 결과 및 확정 과제 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k_t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업무 프로세스 및 과제 정의서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⑥⑦ 프로토타입 구현 및 운영 적용 방안 수립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확정 과제를 n8n·바이브 코딩으로 프로토타입 구현해 현업과 검증하고, 실행 로드맵과 운영 체계를 수립하여 실제 운영 적용 방안을 제시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395728" cy="292608"/>
          </a:xfrm>
          <a:prstGeom prst="homePlate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후보 과제 발굴 (W1~W3)</a:t>
            </a:r>
          </a:p>
        </p:txBody>
      </p:sp>
      <p:sp>
        <p:nvSpPr>
          <p:cNvPr id="10" name="Chevron 9"/>
          <p:cNvSpPr/>
          <p:nvPr/>
        </p:nvSpPr>
        <p:spPr>
          <a:xfrm>
            <a:off x="2798064" y="1847088"/>
            <a:ext cx="3099816" cy="292608"/>
          </a:xfrm>
          <a:prstGeom prst="chevron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확정 및 검증 (W4~W6)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 Value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Chain 분석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워크샵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Agent 후보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Pool 확정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Agent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평가·확정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적용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방안 수립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139696"/>
            <a:ext cx="1591056" cy="905256"/>
          </a:xfrm>
          <a:prstGeom prst="rect">
            <a:avLst/>
          </a:prstGeom>
          <a:noFill/>
          <a:ln w="22225">
            <a:solidFill>
              <a:srgbClr val="C628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33088" y="3054096"/>
            <a:ext cx="18562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워크플로우 구현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n8n 기반 Agent 워크플로우 구현 (2개)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샘플·마스킹 데이터 기반, 운영 시스템 비연동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바이브 코딩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화면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사용자 시나리오 중심 화면 구현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영상 제작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및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 반영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 대상 시연 및 피드백 반영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기대효과·운영 적용 가능성 재검증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적용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 수립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과제 실행 로드맵 및 운영 체계·R&amp;R·관리 방안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보고 및 F/U 방향 협의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k_t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워크플로우 및 서비스 화면 프로토타입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k_t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로드맵 및 운영 적용 방안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