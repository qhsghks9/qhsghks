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ext INWAYIN" id="{82bd9110-ba16-b10c-e200-528e8f8651a8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[보완 사항] 대내: FDE Pod 실행 체계, 단계별 Gate(KPI·Baseline 합의 / MVP 검증 / 성과 실측), 자산화 대상(과제정의서·KPI 템플릿·Agent·플레이북), 타 계열사 확산, Biz·ERP 협업 추가. 대외: Open Door 정의(제안 단계 AX 진단 결합), 오퍼링(AX Quick Scan → 시스템+AI 결합 제안 → 단계별 확장), Client Zero 레퍼런스, 사업 KPI 추가. Enabler ③ FDE 인력 육성 추가. 왼쪽 표 수치는 원본 장표 기준(과제 상세 정리 중) - 확정 시 갱신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46304"/>
            <a:ext cx="11457432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00000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46304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3. Next INWAYIN &gt; 현장 실행 기반 AX 가속화</a:t>
            </a:r>
            <a:endParaRPr lang="en-US" sz="2600" dirty="0"/>
          </a:p>
        </p:txBody>
      </p:sp>
      <p:sp>
        <p:nvSpPr>
          <p:cNvPr id="3" name="head-message"/>
          <p:cNvSpPr txBox="1"/>
          <p:nvPr/>
        </p:nvSpPr>
        <p:spPr>
          <a:xfrm>
            <a:off x="365760" y="713232"/>
            <a:ext cx="11457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그룹사는 </a:t>
            </a:r>
            <a:pPr indent="0" marL="0">
              <a:buNone/>
            </a:pPr>
            <a:r>
              <a:rPr lang="en-US" sz="18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컨설팅을 실행·성과로 전환</a:t>
            </a:r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하고, 검증된 자산을 </a:t>
            </a:r>
            <a:pPr indent="0" marL="0">
              <a:buNone/>
            </a:pPr>
            <a:r>
              <a:rPr lang="en-US" sz="18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대외 시스템 사업에 접목</a:t>
            </a:r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하여 수주를 확대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216152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산업별 AI과제 정의 역량 축적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3794760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389120" y="1216152"/>
            <a:ext cx="7434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및 대외 AX 실행 가속화 지원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9120" y="1554480"/>
            <a:ext cx="7434072" cy="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66420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▪ 고객사 현장에서 AI과제 발굴 등 PJT 수행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그룹사 17건, 대외 4건 (총 21건)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221284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▪ 산업별 밸류체인별 실행 가능 AI과제 확보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FFF00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그룹사 후속 Pilot 1건, 대외 차세대사업 129억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788920"/>
          <a:ext cx="37033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548640"/>
                <a:gridCol w="548640"/>
                <a:gridCol w="594360"/>
                <a:gridCol w="640080"/>
                <a:gridCol w="5486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식품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유통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화학 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 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R&amp;D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마케팅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  <p:sp>
        <p:nvSpPr>
          <p:cNvPr id="11" name="left-implication"/>
          <p:cNvSpPr/>
          <p:nvPr/>
        </p:nvSpPr>
        <p:spPr>
          <a:xfrm>
            <a:off x="365760" y="4919472"/>
            <a:ext cx="3794760" cy="1664208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5488" y="49926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시사점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75488" y="5285232"/>
            <a:ext cx="357530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컨설팅 → 실행 전환 </a:t>
            </a:r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1건에 그침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구축·운영까지 병목 해소 필요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대외 신규 시스템 도입 시 </a:t>
            </a:r>
            <a:pPr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관점을 내장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하여 사업 범위 확장·수주 기여 확대 필요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89120" y="1664208"/>
            <a:ext cx="658368" cy="2084832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389120" y="1664208"/>
            <a:ext cx="658368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그룹사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(대내)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138928" y="1664208"/>
            <a:ext cx="6684264" cy="2084832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276088" y="1719072"/>
            <a:ext cx="6409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AI과제 도출~운영 안착까지 책임지는 </a:t>
            </a:r>
            <a:pPr indent="0" marL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밀착형 실행 (FDE Pod)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276088" y="2011680"/>
            <a:ext cx="6409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AX컨설턴트 + 현업 + 엔지니어 Pod 상주 투입  |  Biz(업무 재설계) · ERP(Data·인프라) 협업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276088" y="2340864"/>
            <a:ext cx="2197608" cy="603504"/>
          </a:xfrm>
          <a:prstGeom prst="homePlate">
            <a:avLst/>
          </a:prstGeom>
          <a:solidFill>
            <a:srgbClr val="E7E6E6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13248" y="2340864"/>
            <a:ext cx="1694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현장 문제 정의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업무/목표 재설계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58968" y="3017520"/>
            <a:ext cx="1740408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58968" y="3017520"/>
            <a:ext cx="1740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Gate ① KPI·Baseline 합의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382256" y="2340864"/>
            <a:ext cx="2197608" cy="603504"/>
          </a:xfrm>
          <a:prstGeom prst="chevron">
            <a:avLst/>
          </a:prstGeom>
          <a:solidFill>
            <a:srgbClr val="E7E6E6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674864" y="2340864"/>
            <a:ext cx="1694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Data/인프라 준비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AI 구현 및 검증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565136" y="3017520"/>
            <a:ext cx="1740408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565136" y="3017520"/>
            <a:ext cx="1740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Gate ② MVP 검증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9488424" y="2340864"/>
            <a:ext cx="2197608" cy="603504"/>
          </a:xfrm>
          <a:prstGeom prst="chevron">
            <a:avLst/>
          </a:prstGeom>
          <a:solidFill>
            <a:srgbClr val="E7E6E6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781032" y="2340864"/>
            <a:ext cx="16946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운영 전환 및 고도화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변화관리 및 확산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671304" y="3017520"/>
            <a:ext cx="1740408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671304" y="3017520"/>
            <a:ext cx="1740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Gate ③ 성과 실측 (ROI)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11320272" y="3282696"/>
            <a:ext cx="914" cy="173736"/>
          </a:xfrm>
          <a:prstGeom prst="line">
            <a:avLst/>
          </a:prstGeom>
          <a:noFill/>
          <a:ln w="15875">
            <a:solidFill>
              <a:srgbClr val="4472C4"/>
            </a:solidFill>
            <a:prstDash val="dash"/>
          </a:ln>
        </p:spPr>
      </p:sp>
      <p:sp>
        <p:nvSpPr>
          <p:cNvPr id="32" name="Shape 29"/>
          <p:cNvSpPr/>
          <p:nvPr/>
        </p:nvSpPr>
        <p:spPr>
          <a:xfrm flipH="1">
            <a:off x="5550408" y="3456432"/>
            <a:ext cx="5769864" cy="914"/>
          </a:xfrm>
          <a:prstGeom prst="line">
            <a:avLst/>
          </a:prstGeom>
          <a:noFill/>
          <a:ln w="15875">
            <a:solidFill>
              <a:srgbClr val="4472C4"/>
            </a:solidFill>
            <a:prstDash val="dash"/>
          </a:ln>
        </p:spPr>
      </p:sp>
      <p:sp>
        <p:nvSpPr>
          <p:cNvPr id="33" name="Shape 30"/>
          <p:cNvSpPr/>
          <p:nvPr/>
        </p:nvSpPr>
        <p:spPr>
          <a:xfrm flipV="1">
            <a:off x="5550408" y="3282696"/>
            <a:ext cx="914" cy="173736"/>
          </a:xfrm>
          <a:prstGeom prst="line">
            <a:avLst/>
          </a:prstGeom>
          <a:noFill/>
          <a:ln w="15875">
            <a:solidFill>
              <a:srgbClr val="4472C4"/>
            </a:solidFill>
            <a:prstDash val="dash"/>
            <a:tailEnd type="triangle"/>
          </a:ln>
        </p:spPr>
      </p:sp>
      <p:sp>
        <p:nvSpPr>
          <p:cNvPr id="34" name="Text 31"/>
          <p:cNvSpPr txBox="1"/>
          <p:nvPr/>
        </p:nvSpPr>
        <p:spPr>
          <a:xfrm>
            <a:off x="6373368" y="3337560"/>
            <a:ext cx="4123944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재사용·자산화 → 다음 과제 사전 검증 및 타 계열사 유사 업무 확산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507992" y="3858768"/>
            <a:ext cx="420624" cy="365760"/>
          </a:xfrm>
          <a:prstGeom prst="upArrow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507992" y="4242816"/>
            <a:ext cx="420624" cy="365760"/>
          </a:xfrm>
          <a:prstGeom prst="downArrow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7" name="enablers"/>
          <p:cNvSpPr/>
          <p:nvPr/>
        </p:nvSpPr>
        <p:spPr>
          <a:xfrm>
            <a:off x="5138928" y="3840480"/>
            <a:ext cx="6684264" cy="786384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230368" y="3913632"/>
            <a:ext cx="2118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276088" y="3913632"/>
            <a:ext cx="2026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AX컨설팅 AI 플랫폼화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 과정 전환으로 품질·속도 향상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7421880" y="3913632"/>
            <a:ext cx="2118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67600" y="3913632"/>
            <a:ext cx="2026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산업별 AI과제 라이브러리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과제정의서·KPI·Agent·플레이북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9613392" y="3913632"/>
            <a:ext cx="2118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659112" y="3913632"/>
            <a:ext cx="2026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FDE 인력 육성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컨설턴트 → 업무·AI 융합 실행 인력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389120" y="4718304"/>
            <a:ext cx="658368" cy="1865376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389120" y="4718304"/>
            <a:ext cx="658368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대외사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(Open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Door)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5138928" y="4718304"/>
            <a:ext cx="6684264" cy="186537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276088" y="4773168"/>
            <a:ext cx="6409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도입 시점에 </a:t>
            </a:r>
            <a:pPr indent="0" marL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AI과제 접목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사업 범위 확장 · 수주 기여</a:t>
            </a:r>
            <a:endParaRPr lang="en-US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5276088" y="5065776"/>
            <a:ext cx="6409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그룹사 검증 사례(Client Zero) 레퍼런스로 제안 단계부터 AX 진단 결합  |  KPI : 결합 수주 건수·금액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5276088" y="5376672"/>
            <a:ext cx="1953768" cy="457200"/>
          </a:xfrm>
          <a:prstGeom prst="roundRect">
            <a:avLst>
              <a:gd name="adj" fmla="val 10000"/>
            </a:avLst>
          </a:prstGeom>
          <a:solidFill>
            <a:srgbClr val="E8ECF4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276088" y="5376672"/>
            <a:ext cx="1953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Quick Scan (2~4주)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발굴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7266432" y="5605272"/>
            <a:ext cx="201168" cy="914"/>
          </a:xfrm>
          <a:prstGeom prst="line">
            <a:avLst/>
          </a:prstGeom>
          <a:noFill/>
          <a:ln w="15875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52" name="Shape 49"/>
          <p:cNvSpPr/>
          <p:nvPr/>
        </p:nvSpPr>
        <p:spPr>
          <a:xfrm>
            <a:off x="7504176" y="5376672"/>
            <a:ext cx="1953768" cy="457200"/>
          </a:xfrm>
          <a:prstGeom prst="roundRect">
            <a:avLst>
              <a:gd name="adj" fmla="val 10000"/>
            </a:avLst>
          </a:prstGeom>
          <a:solidFill>
            <a:srgbClr val="E8ECF4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7504176" y="5376672"/>
            <a:ext cx="1953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+ AI 결합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· 구축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494520" y="5605272"/>
            <a:ext cx="201168" cy="914"/>
          </a:xfrm>
          <a:prstGeom prst="line">
            <a:avLst/>
          </a:prstGeom>
          <a:noFill/>
          <a:ln w="15875">
            <a:solidFill>
              <a:srgbClr val="4472C4"/>
            </a:solidFill>
            <a:prstDash val="solid"/>
            <a:tailEnd type="triangle"/>
          </a:ln>
        </p:spPr>
      </p:sp>
      <p:sp>
        <p:nvSpPr>
          <p:cNvPr id="55" name="Shape 52"/>
          <p:cNvSpPr/>
          <p:nvPr/>
        </p:nvSpPr>
        <p:spPr>
          <a:xfrm>
            <a:off x="9732264" y="5376672"/>
            <a:ext cx="1953768" cy="457200"/>
          </a:xfrm>
          <a:prstGeom prst="roundRect">
            <a:avLst>
              <a:gd name="adj" fmla="val 10000"/>
            </a:avLst>
          </a:prstGeom>
          <a:solidFill>
            <a:srgbClr val="E8ECF4"/>
          </a:solidFill>
          <a:ln w="9525">
            <a:solidFill>
              <a:srgbClr val="8FAADC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9732264" y="5376672"/>
            <a:ext cx="1953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 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단계별 확장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5276088" y="5925312"/>
            <a:ext cx="2244852" cy="58521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5367528" y="5925312"/>
            <a:ext cx="20619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타겟 (공항철도 등)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차세대시스템 도입 예정, 1년 내 완료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7557516" y="6217920"/>
            <a:ext cx="201168" cy="914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  <a:tailEnd type="triangle"/>
          </a:ln>
        </p:spPr>
      </p:sp>
      <p:sp>
        <p:nvSpPr>
          <p:cNvPr id="60" name="Shape 57"/>
          <p:cNvSpPr/>
          <p:nvPr/>
        </p:nvSpPr>
        <p:spPr>
          <a:xfrm>
            <a:off x="7795260" y="5925312"/>
            <a:ext cx="2244852" cy="58521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7886700" y="5925312"/>
            <a:ext cx="20619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타겟 (파리크라상 등)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데이터플랫폼 · 클라우드 이용 예정</a:t>
            </a:r>
            <a:endParaRPr lang="en-US" sz="1050" dirty="0"/>
          </a:p>
        </p:txBody>
      </p:sp>
      <p:sp>
        <p:nvSpPr>
          <p:cNvPr id="62" name="Shape 59"/>
          <p:cNvSpPr/>
          <p:nvPr/>
        </p:nvSpPr>
        <p:spPr>
          <a:xfrm>
            <a:off x="10076688" y="6217920"/>
            <a:ext cx="201168" cy="914"/>
          </a:xfrm>
          <a:prstGeom prst="line">
            <a:avLst/>
          </a:prstGeom>
          <a:noFill/>
          <a:ln w="12700">
            <a:solidFill>
              <a:srgbClr val="808080"/>
            </a:solidFill>
            <a:prstDash val="solid"/>
            <a:tailEnd type="triangle"/>
          </a:ln>
        </p:spPr>
      </p:sp>
      <p:sp>
        <p:nvSpPr>
          <p:cNvPr id="63" name="Shape 60"/>
          <p:cNvSpPr/>
          <p:nvPr/>
        </p:nvSpPr>
        <p:spPr>
          <a:xfrm>
            <a:off x="10314432" y="5925312"/>
            <a:ext cx="1371600" cy="585216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0314432" y="5925312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축적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및 확산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 FDE">
  <a:themeElements>
    <a:clrScheme name="AX FDE">
      <a:dk1>
        <a:srgbClr val="000000"/>
      </a:dk1>
      <a:lt1>
        <a:srgbClr val="FFFFFF"/>
      </a:lt1>
      <a:dk2>
        <a:srgbClr val="1F2A44"/>
      </a:dk2>
      <a:lt2>
        <a:srgbClr val="F2F2F2"/>
      </a:lt2>
      <a:accent1>
        <a:srgbClr val="2F5597"/>
      </a:accent1>
      <a:accent2>
        <a:srgbClr val="4A5674"/>
      </a:accent2>
      <a:accent3>
        <a:srgbClr val="595959"/>
      </a:accent3>
      <a:accent4>
        <a:srgbClr val="E8ECF4"/>
      </a:accent4>
      <a:accent5>
        <a:srgbClr val="FFD966"/>
      </a:accent5>
      <a:accent6>
        <a:srgbClr val="C00000"/>
      </a:accent6>
      <a:hlink>
        <a:srgbClr val="2F5597"/>
      </a:hlink>
      <a:folHlink>
        <a:srgbClr val="4A5674"/>
      </a:folHlink>
    </a:clrScheme>
    <a:fontScheme name="AX FD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현장 실행 기반 AX 가속화</dc:title>
  <dc:subject>PptxGenJS Presentation</dc:subject>
  <dc:creator>PptxGenJS</dc:creator>
  <cp:lastModifiedBy>PptxGenJS</cp:lastModifiedBy>
  <cp:revision>1</cp:revision>
  <dcterms:created xsi:type="dcterms:W3CDTF">2026-10-20T05:18:35Z</dcterms:created>
  <dcterms:modified xsi:type="dcterms:W3CDTF">2026-10-20T05:18:35Z</dcterms:modified>
</cp:coreProperties>
</file>