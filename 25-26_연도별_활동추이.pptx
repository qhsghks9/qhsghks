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AI컨설팅 그룹사</c:v>
                </c:pt>
              </c:strCache>
            </c:strRef>
          </c:tx>
          <c:spPr>
            <a:solidFill>
              <a:srgbClr val="1F4E9A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</c:v>
                  </c:pt>
                  <c:pt idx="1">
                    <c:v>2026년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</c:v>
                </c:pt>
                <c:pt idx="1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AI컨설팅 대외</c:v>
                </c:pt>
              </c:strCache>
            </c:strRef>
          </c:tx>
          <c:spPr>
            <a:solidFill>
              <a:srgbClr val="7FA1D6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</c:v>
                  </c:pt>
                  <c:pt idx="1">
                    <c:v>2026년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교육·Camp 그룹사</c:v>
                </c:pt>
              </c:strCache>
            </c:strRef>
          </c:tx>
          <c:spPr>
            <a:solidFill>
              <a:srgbClr val="0F7B6C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</c:v>
                  </c:pt>
                  <c:pt idx="1">
                    <c:v>2026년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교육·Camp 대외</c:v>
                </c:pt>
              </c:strCache>
            </c:strRef>
          </c:tx>
          <c:spPr>
            <a:solidFill>
              <a:srgbClr val="8CCFC3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</c:v>
                  </c:pt>
                  <c:pt idx="1">
                    <c:v>2026년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100"/>
        <c:axId val="2094734554"/>
        <c:axId val="2094734552"/>
        <c:axId val="2094734556"/>
      </c:barChart>
      <c:lineChart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AI과제 발굴 수 (보조축)</c:v>
                </c:pt>
              </c:strCache>
            </c:strRef>
          </c:tx>
          <c:spPr>
            <a:solidFill>
              <a:srgbClr val="D0342C"/>
            </a:solidFill>
            <a:ln w="38100" cap="flat">
              <a:solidFill>
                <a:srgbClr val="D034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D0342C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D0342C"/>
              </a:solidFill>
              <a:ln w="9525" cap="flat">
                <a:solidFill>
                  <a:srgbClr val="D03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2025년</c:v>
                  </c:pt>
                  <c:pt idx="1">
                    <c:v>2026년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77</c:v>
                </c:pt>
                <c:pt idx="1">
                  <c:v>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D0342C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4E7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82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82"/>
                    </a:solidFill>
                    <a:latin typeface="Arial"/>
                  </a:rPr>
                  <a:t>프로젝트 (건)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valAx>
        <c:axId val="2094734553"/>
        <c:scaling>
          <c:orientation val="minMax"/>
          <c:max val="9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D0342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D0342C"/>
                    </a:solidFill>
                    <a:latin typeface="Arial"/>
                  </a:rPr>
                  <a:t>AI과제 발굴 (건)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D0342C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  <c:majorUnit val="30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32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25년 발굴 중심(컨설팅 15건, 과제 77건) → 26년 교육·Camp 신규 6건으로 사업 구성 변화. 27년 AX CAMP-FDE 연계로 실행기 전환 제안.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25~26 주요 활동 현황 _ 연도별 활동 추이</a:t>
            </a:r>
            <a:endParaRPr lang="en-US" sz="2600" dirty="0"/>
          </a:p>
        </p:txBody>
      </p:sp>
      <p:sp>
        <p:nvSpPr>
          <p:cNvPr id="3" name="헤드 메시지"/>
          <p:cNvSpPr txBox="1"/>
          <p:nvPr/>
        </p:nvSpPr>
        <p:spPr>
          <a:xfrm>
            <a:off x="365760" y="100584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25년은 그룹사 AI컨설팅으로 과제를 집중 발굴(77건), 26년은 교육·Camp 신규로 사업 구성이 '발굴'에서 '확산·실행'으로 이동</a:t>
            </a:r>
            <a:endParaRPr lang="en-US" sz="1400" dirty="0"/>
          </a:p>
        </p:txBody>
      </p:sp>
      <p:sp>
        <p:nvSpPr>
          <p:cNvPr id="4" name="차트 패널"/>
          <p:cNvSpPr/>
          <p:nvPr/>
        </p:nvSpPr>
        <p:spPr>
          <a:xfrm>
            <a:off x="365760" y="1737360"/>
            <a:ext cx="7406640" cy="4663440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5" name="차트 헤더"/>
          <p:cNvSpPr txBox="1"/>
          <p:nvPr/>
        </p:nvSpPr>
        <p:spPr>
          <a:xfrm>
            <a:off x="365760" y="1737360"/>
            <a:ext cx="740664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연도별 프로젝트 수행(건) 및 AI과제 발굴 수(건)</a:t>
            </a:r>
            <a:endParaRPr lang="en-US" sz="1400" dirty="0"/>
          </a:p>
        </p:txBody>
      </p:sp>
      <p:graphicFrame>
        <p:nvGraphicFramePr>
          <p:cNvPr id="6" name="연도별 활동 추이 콤보 차트" descr=""/>
          <p:cNvGraphicFramePr/>
          <p:nvPr/>
        </p:nvGraphicFramePr>
        <p:xfrm>
          <a:off x="502920" y="2240280"/>
          <a:ext cx="71323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" name="데이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349240"/>
          <a:ext cx="71323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05840"/>
                <a:gridCol w="914400"/>
                <a:gridCol w="1051560"/>
                <a:gridCol w="960120"/>
                <a:gridCol w="685800"/>
                <a:gridCol w="6858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AI컨설팅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AI컨설팅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교육·Camp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교육·Camp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프로젝트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AI과제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발굴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0342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0342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0342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</a:tr>
            </a:tbl>
          </a:graphicData>
        </a:graphic>
      </p:graphicFrame>
      <p:sp>
        <p:nvSpPr>
          <p:cNvPr id="8" name="시사점 헤더"/>
          <p:cNvSpPr txBox="1"/>
          <p:nvPr/>
        </p:nvSpPr>
        <p:spPr>
          <a:xfrm>
            <a:off x="8001000" y="1737360"/>
            <a:ext cx="3822192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주요 시사점</a:t>
            </a:r>
            <a:endParaRPr lang="en-US" sz="1400" dirty="0"/>
          </a:p>
        </p:txBody>
      </p:sp>
      <p:sp>
        <p:nvSpPr>
          <p:cNvPr id="9" name="시사점 카드 2025"/>
          <p:cNvSpPr/>
          <p:nvPr/>
        </p:nvSpPr>
        <p:spPr>
          <a:xfrm>
            <a:off x="8001000" y="2286000"/>
            <a:ext cx="3822192" cy="126187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연도 원 2025"/>
          <p:cNvSpPr/>
          <p:nvPr/>
        </p:nvSpPr>
        <p:spPr>
          <a:xfrm>
            <a:off x="8138160" y="2423160"/>
            <a:ext cx="713232" cy="7132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138160" y="24231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2025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2395728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발굴기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2697480"/>
            <a:ext cx="2770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그룹사 AI컨설팅 13건 중심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프로젝트 15건 · AI과제 77건 발굴</a:t>
            </a:r>
            <a:endParaRPr lang="en-US" sz="1050" dirty="0"/>
          </a:p>
        </p:txBody>
      </p:sp>
      <p:sp>
        <p:nvSpPr>
          <p:cNvPr id="14" name="시사점 카드 2026"/>
          <p:cNvSpPr/>
          <p:nvPr/>
        </p:nvSpPr>
        <p:spPr>
          <a:xfrm>
            <a:off x="8001000" y="3657600"/>
            <a:ext cx="3822192" cy="126187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연도 원 2026"/>
          <p:cNvSpPr/>
          <p:nvPr/>
        </p:nvSpPr>
        <p:spPr>
          <a:xfrm>
            <a:off x="8138160" y="3794760"/>
            <a:ext cx="713232" cy="71323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138160" y="37947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2026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961120" y="3767328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확산·전환기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961120" y="4069080"/>
            <a:ext cx="2770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교육·Camp 6건 신규 (그룹사 5 · 대외 1)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컨설팅은 수주 연계형으로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(신분당선 129억 수주, '27 연계 확보)</a:t>
            </a:r>
            <a:endParaRPr lang="en-US" sz="1050" dirty="0"/>
          </a:p>
        </p:txBody>
      </p:sp>
      <p:sp>
        <p:nvSpPr>
          <p:cNvPr id="19" name="시사점 카드 2027"/>
          <p:cNvSpPr/>
          <p:nvPr/>
        </p:nvSpPr>
        <p:spPr>
          <a:xfrm>
            <a:off x="8001000" y="5029200"/>
            <a:ext cx="3822192" cy="126187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연도 원 2027"/>
          <p:cNvSpPr/>
          <p:nvPr/>
        </p:nvSpPr>
        <p:spPr>
          <a:xfrm>
            <a:off x="8138160" y="5166360"/>
            <a:ext cx="713232" cy="7132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138160" y="51663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2027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961120" y="5138928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실행기 (제안)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961120" y="5440680"/>
            <a:ext cx="2770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AX CAMP로 과제 발굴 → FDE로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발굴 과제를 실행·성과로 연결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36576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※ 기준: 프로젝트 시작 월 (캐피탈 '24.11 건은 2025년 포함), 2026년은 10월 기준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2026-10-27T05:46:20Z</dcterms:created>
  <dcterms:modified xsi:type="dcterms:W3CDTF">2026-10-27T05:46:20Z</dcterms:modified>
</cp:coreProperties>
</file>