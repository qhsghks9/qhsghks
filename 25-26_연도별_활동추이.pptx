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AI컨설팅 그룹사</c:v>
                </c:pt>
              </c:strCache>
            </c:strRef>
          </c:tx>
          <c:spPr>
            <a:solidFill>
              <a:srgbClr val="1F4E9A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</c:v>
                  </c:pt>
                  <c:pt idx="1">
                    <c:v>2026년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AI컨설팅 대외</c:v>
                </c:pt>
              </c:strCache>
            </c:strRef>
          </c:tx>
          <c:spPr>
            <a:solidFill>
              <a:srgbClr val="7FA1D6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</c:v>
                  </c:pt>
                  <c:pt idx="1">
                    <c:v>2026년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교육·Camp 그룹사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</c:v>
                  </c:pt>
                  <c:pt idx="1">
                    <c:v>2026년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교육·Camp 대외</c:v>
                </c:pt>
              </c:strCache>
            </c:strRef>
          </c:tx>
          <c:spPr>
            <a:solidFill>
              <a:srgbClr val="8CCFC3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</c:v>
                  </c:pt>
                  <c:pt idx="1">
                    <c:v>2026년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AI과제 발굴 수 (보조축)</c:v>
                </c:pt>
              </c:strCache>
            </c:strRef>
          </c:tx>
          <c:spPr>
            <a:solidFill>
              <a:srgbClr val="D0342C"/>
            </a:solidFill>
            <a:ln w="38100" cap="flat">
              <a:solidFill>
                <a:srgbClr val="D034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D0342C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D0342C"/>
              </a:solidFill>
              <a:ln w="9525" cap="flat">
                <a:solidFill>
                  <a:srgbClr val="D034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2025년</c:v>
                  </c:pt>
                  <c:pt idx="1">
                    <c:v>2026년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77</c:v>
                </c:pt>
                <c:pt idx="1">
                  <c:v>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D0342C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2"/>
                    </a:solidFill>
                    <a:latin typeface="Arial"/>
                  </a:rPr>
                  <a:t>프로젝트 (건)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valAx>
        <c:axId val="2094734553"/>
        <c:scaling>
          <c:orientation val="minMax"/>
          <c:max val="9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D0342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D0342C"/>
                    </a:solidFill>
                    <a:latin typeface="Arial"/>
                  </a:rPr>
                  <a:t>AI과제 발굴 (건)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0342C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  <c:majorUnit val="30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32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컨설팅 유형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9A"/>
              </a:solidFill>
              <a:effectLst/>
            </c:spPr>
          </c:dPt>
          <c:dPt>
            <c:idx val="1"/>
            <c:bubble3D val="0"/>
            <c:spPr>
              <a:solidFill>
                <a:srgbClr val="7FA1D6"/>
              </a:solidFill>
              <a:effectLst/>
            </c:spPr>
          </c:dPt>
          <c:dPt>
            <c:idx val="2"/>
            <c:bubble3D val="0"/>
            <c:spPr>
              <a:solidFill>
                <a:srgbClr val="0F7B6C"/>
              </a:solidFill>
              <a:effectLst/>
            </c:spPr>
          </c:dPt>
          <c:dPt>
            <c:idx val="3"/>
            <c:bubble3D val="0"/>
            <c:spPr>
              <a:solidFill>
                <a:srgbClr val="D0342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AI 진단/과제발굴</c:v>
                </c:pt>
                <c:pt idx="1">
                  <c:v>전문 컨설팅</c:v>
                </c:pt>
                <c:pt idx="2">
                  <c:v>전략수립</c:v>
                </c:pt>
                <c:pt idx="3">
                  <c:v>Pre 컨설팅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67</c:v>
                </c:pt>
                <c:pt idx="1">
                  <c:v>20</c:v>
                </c:pt>
                <c:pt idx="2">
                  <c:v>7</c:v>
                </c:pt>
                <c:pt idx="3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25년 발굴 중심(컨설팅 15건, 과제 77건) → 26년 교육·Camp 신규 6건으로 사업 구성 변화. 27년 AX CAMP-FDE 연계로 실행기 전환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25~26 주요 활동 현황 _ 연도별 활동 추이</a:t>
            </a:r>
            <a:endParaRPr lang="en-US" sz="2600" dirty="0"/>
          </a:p>
        </p:txBody>
      </p:sp>
      <p:sp>
        <p:nvSpPr>
          <p:cNvPr id="3" name="헤드 메시지"/>
          <p:cNvSpPr txBox="1"/>
          <p:nvPr/>
        </p:nvSpPr>
        <p:spPr>
          <a:xfrm>
            <a:off x="365760" y="100584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진단/과제발굴이 컨설팅의 67%를 차지하며 25년 과제 77건을 발굴, 26년은 교육·Camp 신규로 '발굴'에서 '확산·실행'으로 이동</a:t>
            </a:r>
            <a:endParaRPr lang="en-US" sz="1400" dirty="0"/>
          </a:p>
        </p:txBody>
      </p:sp>
      <p:sp>
        <p:nvSpPr>
          <p:cNvPr id="4" name="차트 패널"/>
          <p:cNvSpPr/>
          <p:nvPr/>
        </p:nvSpPr>
        <p:spPr>
          <a:xfrm>
            <a:off x="365760" y="1737360"/>
            <a:ext cx="7406640" cy="466344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차트 헤더"/>
          <p:cNvSpPr txBox="1"/>
          <p:nvPr/>
        </p:nvSpPr>
        <p:spPr>
          <a:xfrm>
            <a:off x="365760" y="1737360"/>
            <a:ext cx="740664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연도별 프로젝트 수행(건) 및 AI과제 발굴 수(건)</a:t>
            </a:r>
            <a:endParaRPr lang="en-US" sz="1400" dirty="0"/>
          </a:p>
        </p:txBody>
      </p:sp>
      <p:graphicFrame>
        <p:nvGraphicFramePr>
          <p:cNvPr id="6" name="연도별 활동 추이 콤보 차트" descr=""/>
          <p:cNvGraphicFramePr/>
          <p:nvPr/>
        </p:nvGraphicFramePr>
        <p:xfrm>
          <a:off x="502920" y="2240280"/>
          <a:ext cx="7132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데이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349240"/>
          <a:ext cx="71323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914400"/>
                <a:gridCol w="1051560"/>
                <a:gridCol w="960120"/>
                <a:gridCol w="685800"/>
                <a:gridCol w="685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AI컨설팅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AI컨설팅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교육·Camp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교육·Camp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AI과제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발굴 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</a:tr>
            </a:tbl>
          </a:graphicData>
        </a:graphic>
      </p:graphicFrame>
      <p:sp>
        <p:nvSpPr>
          <p:cNvPr id="8" name="유형 헤더"/>
          <p:cNvSpPr txBox="1"/>
          <p:nvPr/>
        </p:nvSpPr>
        <p:spPr>
          <a:xfrm>
            <a:off x="8001000" y="1737360"/>
            <a:ext cx="3822192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컨설팅 유형 구성</a:t>
            </a:r>
            <a:endParaRPr lang="en-US" sz="1400" dirty="0"/>
          </a:p>
        </p:txBody>
      </p:sp>
      <p:sp>
        <p:nvSpPr>
          <p:cNvPr id="9" name="유형 패널"/>
          <p:cNvSpPr/>
          <p:nvPr/>
        </p:nvSpPr>
        <p:spPr>
          <a:xfrm>
            <a:off x="8001000" y="2148840"/>
            <a:ext cx="3822192" cy="1965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graphicFrame>
        <p:nvGraphicFramePr>
          <p:cNvPr id="10" name="컨설팅 유형 도넛" descr=""/>
          <p:cNvGraphicFramePr/>
          <p:nvPr/>
        </p:nvGraphicFramePr>
        <p:xfrm>
          <a:off x="8046720" y="2194560"/>
          <a:ext cx="17830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범례 AI 진단/과제발굴"/>
          <p:cNvSpPr/>
          <p:nvPr/>
        </p:nvSpPr>
        <p:spPr>
          <a:xfrm>
            <a:off x="9921240" y="2487168"/>
            <a:ext cx="146304" cy="14630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131552" y="23957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AI 진단/과제발굴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1201400" y="23957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67%</a:t>
            </a:r>
            <a:endParaRPr lang="en-US" sz="1200" dirty="0"/>
          </a:p>
        </p:txBody>
      </p:sp>
      <p:sp>
        <p:nvSpPr>
          <p:cNvPr id="14" name="범례 전문 컨설팅"/>
          <p:cNvSpPr/>
          <p:nvPr/>
        </p:nvSpPr>
        <p:spPr>
          <a:xfrm>
            <a:off x="9921240" y="2889504"/>
            <a:ext cx="146304" cy="146304"/>
          </a:xfrm>
          <a:prstGeom prst="rect">
            <a:avLst/>
          </a:prstGeom>
          <a:solidFill>
            <a:srgbClr val="7FA1D6"/>
          </a:solidFill>
          <a:ln w="12700">
            <a:solidFill>
              <a:srgbClr val="7FA1D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131552" y="279806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전문 컨설팅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201400" y="27980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20%</a:t>
            </a:r>
            <a:endParaRPr lang="en-US" sz="1200" dirty="0"/>
          </a:p>
        </p:txBody>
      </p:sp>
      <p:sp>
        <p:nvSpPr>
          <p:cNvPr id="17" name="범례 전략수립"/>
          <p:cNvSpPr/>
          <p:nvPr/>
        </p:nvSpPr>
        <p:spPr>
          <a:xfrm>
            <a:off x="9921240" y="3291840"/>
            <a:ext cx="146304" cy="146304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131552" y="32004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전략수립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201400" y="32004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7%</a:t>
            </a:r>
            <a:endParaRPr lang="en-US" sz="1200" dirty="0"/>
          </a:p>
        </p:txBody>
      </p:sp>
      <p:sp>
        <p:nvSpPr>
          <p:cNvPr id="20" name="범례 Pre 컨설팅"/>
          <p:cNvSpPr/>
          <p:nvPr/>
        </p:nvSpPr>
        <p:spPr>
          <a:xfrm>
            <a:off x="9921240" y="3694176"/>
            <a:ext cx="146304" cy="146304"/>
          </a:xfrm>
          <a:prstGeom prst="rect">
            <a:avLst/>
          </a:prstGeom>
          <a:solidFill>
            <a:srgbClr val="D0342C"/>
          </a:solidFill>
          <a:ln w="12700">
            <a:solidFill>
              <a:srgbClr val="D0342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131552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Pre 컨설팅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201400" y="3602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6%</a:t>
            </a:r>
            <a:endParaRPr lang="en-US" sz="1200" dirty="0"/>
          </a:p>
        </p:txBody>
      </p:sp>
      <p:sp>
        <p:nvSpPr>
          <p:cNvPr id="23" name="시사점 헤더"/>
          <p:cNvSpPr txBox="1"/>
          <p:nvPr/>
        </p:nvSpPr>
        <p:spPr>
          <a:xfrm>
            <a:off x="8001000" y="4315968"/>
            <a:ext cx="3822192" cy="36576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주요 시사점</a:t>
            </a:r>
            <a:endParaRPr lang="en-US" sz="1300" dirty="0"/>
          </a:p>
        </p:txBody>
      </p:sp>
      <p:sp>
        <p:nvSpPr>
          <p:cNvPr id="24" name="시사점 카드 2025"/>
          <p:cNvSpPr/>
          <p:nvPr/>
        </p:nvSpPr>
        <p:spPr>
          <a:xfrm>
            <a:off x="8001000" y="4754880"/>
            <a:ext cx="3822192" cy="4937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연도 원 2025"/>
          <p:cNvSpPr/>
          <p:nvPr/>
        </p:nvSpPr>
        <p:spPr>
          <a:xfrm>
            <a:off x="8092440" y="4809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09244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25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567928" y="4754880"/>
            <a:ext cx="3182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발굴기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AI컨설팅 15건 · 과제 77건, 진단/발굴 67%</a:t>
            </a:r>
            <a:endParaRPr lang="en-US" sz="1100" dirty="0"/>
          </a:p>
        </p:txBody>
      </p:sp>
      <p:sp>
        <p:nvSpPr>
          <p:cNvPr id="28" name="시사점 카드 2026"/>
          <p:cNvSpPr/>
          <p:nvPr/>
        </p:nvSpPr>
        <p:spPr>
          <a:xfrm>
            <a:off x="8001000" y="5303520"/>
            <a:ext cx="3822192" cy="4937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연도 원 2026"/>
          <p:cNvSpPr/>
          <p:nvPr/>
        </p:nvSpPr>
        <p:spPr>
          <a:xfrm>
            <a:off x="8092440" y="5358384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092440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26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567928" y="5303520"/>
            <a:ext cx="3182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확산·전환기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교육·Camp 6건 신규, Pre컨설팅 → 수주 연계</a:t>
            </a:r>
            <a:endParaRPr lang="en-US" sz="1100" dirty="0"/>
          </a:p>
        </p:txBody>
      </p:sp>
      <p:sp>
        <p:nvSpPr>
          <p:cNvPr id="32" name="시사점 카드 2027"/>
          <p:cNvSpPr/>
          <p:nvPr/>
        </p:nvSpPr>
        <p:spPr>
          <a:xfrm>
            <a:off x="8001000" y="5852160"/>
            <a:ext cx="3822192" cy="49377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연도 원 2027"/>
          <p:cNvSpPr/>
          <p:nvPr/>
        </p:nvSpPr>
        <p:spPr>
          <a:xfrm>
            <a:off x="8092440" y="5907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092440" y="5907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27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567928" y="5852160"/>
            <a:ext cx="3182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실행기(제안)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AX CAMP 발굴 → FDE 구현으로 성과 연결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36576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※ 기준: 프로젝트 시작 월 (캐피탈 '24.11 건은 2025년 포함), 2026년은 10월 기준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2026-10-27T06:55:08Z</dcterms:created>
  <dcterms:modified xsi:type="dcterms:W3CDTF">2026-10-27T06:55:08Z</dcterms:modified>
</cp:coreProperties>
</file>