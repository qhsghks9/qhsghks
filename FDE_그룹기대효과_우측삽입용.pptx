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852160" cy="2286000"/>
  <p:notesSz cx="2286000" cy="585216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헤드라인"/>
          <p:cNvSpPr txBox="1"/>
          <p:nvPr/>
        </p:nvSpPr>
        <p:spPr>
          <a:xfrm>
            <a:off x="91440" y="3657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C8A"/>
                </a:solidFill>
              </a:rPr>
              <a:t>FDE를 통한 그룹 AX 실행력 강화</a:t>
            </a:r>
            <a:endParaRPr lang="en-US" sz="1300" dirty="0"/>
          </a:p>
        </p:txBody>
      </p:sp>
      <p:sp>
        <p:nvSpPr>
          <p:cNvPr id="3" name="헤드라인 밑줄"/>
          <p:cNvSpPr/>
          <p:nvPr/>
        </p:nvSpPr>
        <p:spPr>
          <a:xfrm>
            <a:off x="274320" y="384048"/>
            <a:ext cx="5303520" cy="0"/>
          </a:xfrm>
          <a:prstGeom prst="line">
            <a:avLst/>
          </a:prstGeom>
          <a:noFill/>
          <a:ln w="25400">
            <a:solidFill>
              <a:srgbClr val="2E5C8A"/>
            </a:solidFill>
            <a:prstDash val="solid"/>
          </a:ln>
        </p:spPr>
      </p:sp>
      <p:sp>
        <p:nvSpPr>
          <p:cNvPr id="4" name="번호 1"/>
          <p:cNvSpPr/>
          <p:nvPr/>
        </p:nvSpPr>
        <p:spPr>
          <a:xfrm>
            <a:off x="91440" y="612648"/>
            <a:ext cx="292608" cy="292608"/>
          </a:xfrm>
          <a:prstGeom prst="ellipse">
            <a:avLst/>
          </a:prstGeom>
          <a:solidFill>
            <a:srgbClr val="40404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12700" dir="5400000">
              <a:srgbClr val="999999">
                <a:alpha val="4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" y="612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라벨 1"/>
          <p:cNvSpPr txBox="1"/>
          <p:nvPr/>
        </p:nvSpPr>
        <p:spPr>
          <a:xfrm>
            <a:off x="438912" y="502920"/>
            <a:ext cx="777240" cy="512064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실행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전환</a:t>
            </a:r>
            <a:endParaRPr lang="en-US" sz="1050" dirty="0"/>
          </a:p>
        </p:txBody>
      </p:sp>
      <p:sp>
        <p:nvSpPr>
          <p:cNvPr id="7" name="내용 1"/>
          <p:cNvSpPr txBox="1"/>
          <p:nvPr/>
        </p:nvSpPr>
        <p:spPr>
          <a:xfrm>
            <a:off x="1298448" y="502920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· 과제 Pool 108건 중 Target 과제 MVP 검증 →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5C8A"/>
                </a:solidFill>
              </a:rPr>
              <a:t>적용률 제고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262626"/>
                </a:solidFill>
              </a:rPr>
              <a:t> (2건→'27년 5건↑)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· 8주 MVP 패키지로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5C8A"/>
                </a:solidFill>
              </a:rPr>
              <a:t>컨설팅~구축 단절 해소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, 리드타임 단축</a:t>
            </a:r>
            <a:endParaRPr lang="en-US" sz="900" dirty="0"/>
          </a:p>
        </p:txBody>
      </p:sp>
      <p:sp>
        <p:nvSpPr>
          <p:cNvPr id="8" name="구분선 1"/>
          <p:cNvSpPr/>
          <p:nvPr/>
        </p:nvSpPr>
        <p:spPr>
          <a:xfrm>
            <a:off x="438912" y="1051560"/>
            <a:ext cx="5376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9" name="번호 2"/>
          <p:cNvSpPr/>
          <p:nvPr/>
        </p:nvSpPr>
        <p:spPr>
          <a:xfrm>
            <a:off x="91440" y="1197864"/>
            <a:ext cx="292608" cy="292608"/>
          </a:xfrm>
          <a:prstGeom prst="ellipse">
            <a:avLst/>
          </a:prstGeom>
          <a:solidFill>
            <a:srgbClr val="40404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12700" dir="5400000">
              <a:srgbClr val="999999">
                <a:alpha val="4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1440" y="1197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라벨 2"/>
          <p:cNvSpPr txBox="1"/>
          <p:nvPr/>
        </p:nvSpPr>
        <p:spPr>
          <a:xfrm>
            <a:off x="438912" y="1088136"/>
            <a:ext cx="777240" cy="512064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역량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내재화</a:t>
            </a:r>
            <a:endParaRPr lang="en-US" sz="1050" dirty="0"/>
          </a:p>
        </p:txBody>
      </p:sp>
      <p:sp>
        <p:nvSpPr>
          <p:cNvPr id="12" name="내용 2"/>
          <p:cNvSpPr txBox="1"/>
          <p:nvPr/>
        </p:nvSpPr>
        <p:spPr>
          <a:xfrm>
            <a:off x="1298448" y="1088136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· 도메인(Biz) + AI(AX) + 엔지니어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5C8A"/>
                </a:solidFill>
              </a:rPr>
              <a:t>협업 모델 내재화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· 외부 컨설팅 의존 축소 →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5C8A"/>
                </a:solidFill>
              </a:rPr>
              <a:t>그룹 AX 노하우·자산 축적</a:t>
            </a:r>
            <a:endParaRPr lang="en-US" sz="900" dirty="0"/>
          </a:p>
        </p:txBody>
      </p:sp>
      <p:sp>
        <p:nvSpPr>
          <p:cNvPr id="13" name="구분선 2"/>
          <p:cNvSpPr/>
          <p:nvPr/>
        </p:nvSpPr>
        <p:spPr>
          <a:xfrm>
            <a:off x="438912" y="1636776"/>
            <a:ext cx="5376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dash"/>
          </a:ln>
        </p:spPr>
      </p:sp>
      <p:sp>
        <p:nvSpPr>
          <p:cNvPr id="14" name="번호 3"/>
          <p:cNvSpPr/>
          <p:nvPr/>
        </p:nvSpPr>
        <p:spPr>
          <a:xfrm>
            <a:off x="91440" y="1783080"/>
            <a:ext cx="292608" cy="292608"/>
          </a:xfrm>
          <a:prstGeom prst="ellipse">
            <a:avLst/>
          </a:prstGeom>
          <a:solidFill>
            <a:srgbClr val="40404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9050" dist="12700" dir="5400000">
              <a:srgbClr val="999999">
                <a:alpha val="4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라벨 3"/>
          <p:cNvSpPr txBox="1"/>
          <p:nvPr/>
        </p:nvSpPr>
        <p:spPr>
          <a:xfrm>
            <a:off x="438912" y="1673352"/>
            <a:ext cx="777240" cy="512064"/>
          </a:xfrm>
          <a:prstGeom prst="rect">
            <a:avLst/>
          </a:prstGeom>
          <a:solidFill>
            <a:srgbClr val="DCE6F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사업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5C8A"/>
                </a:solidFill>
              </a:rPr>
              <a:t>확대</a:t>
            </a:r>
            <a:endParaRPr lang="en-US" sz="1050" dirty="0"/>
          </a:p>
        </p:txBody>
      </p:sp>
      <p:sp>
        <p:nvSpPr>
          <p:cNvPr id="17" name="내용 3"/>
          <p:cNvSpPr txBox="1"/>
          <p:nvPr/>
        </p:nvSpPr>
        <p:spPr>
          <a:xfrm>
            <a:off x="1298448" y="1673352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· MVP → 구축사업 연계로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5C8A"/>
                </a:solidFill>
              </a:rPr>
              <a:t>그룹 IT 사업 기회 확대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262626"/>
                </a:solidFill>
              </a:rPr>
              <a:t>· 신분당선 129억 수주 사례를 </a:t>
            </a:r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E5C8A"/>
                </a:solidFill>
              </a:rPr>
              <a:t>그룹사 전반으로 확산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2E5C8A"/>
      </a:accent1>
      <a:accent2>
        <a:srgbClr val="4A79A8"/>
      </a:accent2>
      <a:accent3>
        <a:srgbClr val="A6A6A6"/>
      </a:accent3>
      <a:accent4>
        <a:srgbClr val="DCE6F1"/>
      </a:accent4>
      <a:accent5>
        <a:srgbClr val="595959"/>
      </a:accent5>
      <a:accent6>
        <a:srgbClr val="404040"/>
      </a:accent6>
      <a:hlink>
        <a:srgbClr val="2E5C8A"/>
      </a:hlink>
      <a:folHlink>
        <a:srgbClr val="595959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2026-10-28T01:30:33Z</dcterms:created>
  <dcterms:modified xsi:type="dcterms:W3CDTF">2026-10-28T01:30:33Z</dcterms:modified>
</cp:coreProperties>
</file>