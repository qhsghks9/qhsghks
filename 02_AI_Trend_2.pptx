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02. 주요 현황 분석 _ AI Trend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활용 목적이 '비용 절감'에서 '고객 가치와 매출 성장'으로 확장되고 있으며, 테마파크도 기존 고객·IP·상품의 가치를 AI로 극대화하는 방향으로 진화하고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72768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가치 창출 방식의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965960"/>
            <a:ext cx="2103120" cy="457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As-Is  |  효율 중심 AI</a:t>
            </a:r>
          </a:p>
          <a:p>
            <a:pPr algn="ctr"/>
            <a:r>
              <a:rPr sz="950" b="0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(비용 절감·생산성)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965960"/>
            <a:ext cx="2377440" cy="457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 |  가치 창출 AI</a:t>
            </a:r>
          </a:p>
          <a:p>
            <a:pPr algn="ctr"/>
            <a:r>
              <a:rPr sz="9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(매출·고객 가치 성장)</a:t>
            </a:r>
          </a:p>
        </p:txBody>
      </p:sp>
      <p:pic>
        <p:nvPicPr>
          <p:cNvPr id="7" name="Picture 6" descr="i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578608"/>
            <a:ext cx="512064" cy="5120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88720" y="2514600"/>
            <a:ext cx="21031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“AI로 비용을 줄이는</a:t>
            </a:r>
          </a:p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효율화 도구”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514600"/>
            <a:ext cx="237744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“AI로 고객 가치를 키우는</a:t>
            </a:r>
          </a:p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성장 엔진”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337560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연령·세그먼트별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일괄 프로모션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337560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33756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맥락 기반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1:1 초개인화 제안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41063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941063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고정 가격,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시즌별 할인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41063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941063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수요 연동 가격 ·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 조합 최적화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44568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4544568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캐릭터 관람,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정형화된 굿즈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544568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454456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캐릭터와 대화,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맞춤 콘텐츠·굿즈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48072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5148072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방문 당일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파크 내 경험 중심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148072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5148072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방문 전·중·후 연결,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재방문 유도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51576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751576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포털 검색·OTA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경유 예약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751576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5751576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에이전트가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검색·비교·예약 대행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572768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sng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고객 경험</a:t>
            </a:r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vs </a:t>
            </a:r>
            <a:r>
              <a:rPr sz="1500" b="1" i="0" u="sng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기반 고객 가치</a:t>
            </a:r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비교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965960"/>
            <a:ext cx="5486400" cy="4315968"/>
          </a:xfrm>
          <a:prstGeom prst="rect">
            <a:avLst/>
          </a:prstGeom>
          <a:solidFill>
            <a:srgbClr val="FFFFFF"/>
          </a:solidFill>
          <a:ln w="317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6200000">
            <a:off x="6080760" y="4672583"/>
            <a:ext cx="274320" cy="274320"/>
          </a:xfrm>
          <a:prstGeom prst="triangl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098280" y="2103120"/>
            <a:ext cx="0" cy="4041647"/>
          </a:xfrm>
          <a:prstGeom prst="line">
            <a:avLst/>
          </a:prstGeom>
          <a:ln w="12700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92240" y="4123944"/>
            <a:ext cx="521207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37960" y="2103120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접점</a:t>
            </a:r>
          </a:p>
        </p:txBody>
      </p:sp>
      <p:sp>
        <p:nvSpPr>
          <p:cNvPr id="36" name="Oval 35"/>
          <p:cNvSpPr/>
          <p:nvPr/>
        </p:nvSpPr>
        <p:spPr>
          <a:xfrm>
            <a:off x="6629400" y="2756915"/>
            <a:ext cx="822960" cy="8229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방문</a:t>
            </a:r>
          </a:p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37" name="Oval 36"/>
          <p:cNvSpPr/>
          <p:nvPr/>
        </p:nvSpPr>
        <p:spPr>
          <a:xfrm>
            <a:off x="7635240" y="2510027"/>
            <a:ext cx="1316736" cy="1316736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여정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854196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As-Is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854196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2103120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 단위</a:t>
            </a:r>
          </a:p>
        </p:txBody>
      </p:sp>
      <p:sp>
        <p:nvSpPr>
          <p:cNvPr id="41" name="Oval 40"/>
          <p:cNvSpPr/>
          <p:nvPr/>
        </p:nvSpPr>
        <p:spPr>
          <a:xfrm>
            <a:off x="9281160" y="2756915"/>
            <a:ext cx="822960" cy="8229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세그먼트</a:t>
            </a:r>
          </a:p>
        </p:txBody>
      </p:sp>
      <p:sp>
        <p:nvSpPr>
          <p:cNvPr id="42" name="Oval 41"/>
          <p:cNvSpPr/>
          <p:nvPr/>
        </p:nvSpPr>
        <p:spPr>
          <a:xfrm>
            <a:off x="10287000" y="2510027"/>
            <a:ext cx="1316736" cy="1316736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854196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As-Is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3854196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4178808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 정책</a:t>
            </a:r>
          </a:p>
        </p:txBody>
      </p:sp>
      <p:sp>
        <p:nvSpPr>
          <p:cNvPr id="46" name="Oval 45"/>
          <p:cNvSpPr/>
          <p:nvPr/>
        </p:nvSpPr>
        <p:spPr>
          <a:xfrm>
            <a:off x="6629400" y="4832604"/>
            <a:ext cx="822960" cy="8229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고정</a:t>
            </a:r>
          </a:p>
        </p:txBody>
      </p:sp>
      <p:sp>
        <p:nvSpPr>
          <p:cNvPr id="47" name="Oval 46"/>
          <p:cNvSpPr/>
          <p:nvPr/>
        </p:nvSpPr>
        <p:spPr>
          <a:xfrm>
            <a:off x="7635240" y="4585716"/>
            <a:ext cx="1316736" cy="1316736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수요</a:t>
            </a:r>
          </a:p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929884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As-Is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5929884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4178808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IP 활용</a:t>
            </a:r>
          </a:p>
        </p:txBody>
      </p:sp>
      <p:sp>
        <p:nvSpPr>
          <p:cNvPr id="51" name="Oval 50"/>
          <p:cNvSpPr/>
          <p:nvPr/>
        </p:nvSpPr>
        <p:spPr>
          <a:xfrm>
            <a:off x="9281160" y="4832604"/>
            <a:ext cx="822960" cy="82296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관람</a:t>
            </a:r>
          </a:p>
        </p:txBody>
      </p:sp>
      <p:sp>
        <p:nvSpPr>
          <p:cNvPr id="52" name="Oval 51"/>
          <p:cNvSpPr/>
          <p:nvPr/>
        </p:nvSpPr>
        <p:spPr>
          <a:xfrm>
            <a:off x="10287000" y="4585716"/>
            <a:ext cx="1316736" cy="1316736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대화·</a:t>
            </a:r>
          </a:p>
          <a:p>
            <a:pPr algn="ctr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5929884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As-Is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0" y="5929884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</a:t>
            </a:r>
          </a:p>
        </p:txBody>
      </p:sp>
      <p:sp>
        <p:nvSpPr>
          <p:cNvPr id="55" name="Oval 54"/>
          <p:cNvSpPr/>
          <p:nvPr/>
        </p:nvSpPr>
        <p:spPr>
          <a:xfrm>
            <a:off x="8961119" y="3031236"/>
            <a:ext cx="274320" cy="27432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우측 비교는 일반적인 경향을 나타낸 예시임  /  근거 사례: Disney AI 여행 플래너, Europa-Park 알고리즘 가격 책정, Disney–OpenAI 캐릭터 라이선스, 에버랜드 AI 사진 복원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