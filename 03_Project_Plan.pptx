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03. 프로젝트 추진방안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롯데월드 Value Chain 내 핵심 업무 영역을 도출하고, '업무 재설계(Agent 도입)'와 '신규 서비스(가치 창출)' 두 관점으로 AI 과제를 발굴하며, 핵심 과제는 4주 내 프로토타입으로 구현해 실행 가능성을 검증함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36192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과제 도출 관점 및 추진 원칙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965960"/>
            <a:ext cx="1005840" cy="0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" y="3977639"/>
            <a:ext cx="1005840" cy="0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1965960"/>
            <a:ext cx="0" cy="2011679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965960"/>
            <a:ext cx="960120" cy="201167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 도출</a:t>
            </a:r>
          </a:p>
          <a:p>
            <a:pPr algn="l"/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4114800"/>
            <a:ext cx="1005840" cy="0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" y="6446520"/>
            <a:ext cx="1005840" cy="0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4114800"/>
            <a:ext cx="0" cy="2331720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4114800"/>
            <a:ext cx="960120" cy="23317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추진</a:t>
            </a:r>
          </a:p>
          <a:p>
            <a:pPr algn="l"/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</p:txBody>
      </p:sp>
      <p:sp>
        <p:nvSpPr>
          <p:cNvPr id="13" name="Pentagon 12"/>
          <p:cNvSpPr/>
          <p:nvPr/>
        </p:nvSpPr>
        <p:spPr>
          <a:xfrm>
            <a:off x="1508760" y="1965960"/>
            <a:ext cx="4526280" cy="2011680"/>
          </a:xfrm>
          <a:prstGeom prst="homePlate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/>
          <p:cNvSpPr/>
          <p:nvPr/>
        </p:nvSpPr>
        <p:spPr>
          <a:xfrm>
            <a:off x="1508760" y="4114800"/>
            <a:ext cx="4526280" cy="2331720"/>
          </a:xfrm>
          <a:prstGeom prst="homePlate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2121408"/>
            <a:ext cx="1874519" cy="411480"/>
          </a:xfrm>
          <a:prstGeom prst="rect">
            <a:avLst/>
          </a:prstGeom>
          <a:solidFill>
            <a:srgbClr val="D0C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관점 ① 업무 재설계 (Agent)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532888"/>
            <a:ext cx="187451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반복·판단 업무를 Agent가</a:t>
            </a:r>
          </a:p>
          <a:p>
            <a:pPr algn="ctr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수행하도록 업무 흐름 재설계</a:t>
            </a:r>
          </a:p>
          <a:p>
            <a:pPr algn="ctr"/>
            <a:r>
              <a:rPr sz="1100" b="1" i="0" u="none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→ 처리시간·인력 절감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121408"/>
            <a:ext cx="1874519" cy="411480"/>
          </a:xfrm>
          <a:prstGeom prst="rect">
            <a:avLst/>
          </a:prstGeom>
          <a:solidFill>
            <a:srgbClr val="D0C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관점 ② 가치 창출 (신규 서비스)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532888"/>
            <a:ext cx="187451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기반 신규 고객 서비스로</a:t>
            </a:r>
          </a:p>
          <a:p>
            <a:pPr algn="ctr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경험·매출 가치 창출</a:t>
            </a:r>
          </a:p>
          <a:p>
            <a:pPr algn="ctr"/>
            <a:r>
              <a:rPr sz="1100" b="1" i="0" u="none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→ 객단가·재방문율 제고</a:t>
            </a:r>
          </a:p>
        </p:txBody>
      </p:sp>
      <p:sp>
        <p:nvSpPr>
          <p:cNvPr id="19" name="Oval 18"/>
          <p:cNvSpPr/>
          <p:nvPr/>
        </p:nvSpPr>
        <p:spPr>
          <a:xfrm>
            <a:off x="3557016" y="2770632"/>
            <a:ext cx="292608" cy="292608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4251960"/>
            <a:ext cx="1371600" cy="64008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Value Chain 기반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핵심업무 도출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251960"/>
            <a:ext cx="2606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7대 Value Chain 진단으로 업무량·Pain Point·데이터 기준 핵심 영역 3~4개 선정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983480"/>
            <a:ext cx="1371600" cy="64008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현업 참여형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발굴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983480"/>
            <a:ext cx="2606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두 관점별 현업 워크샵으로 실행력·수용성 높은 과제 Long-list 도출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5715000"/>
            <a:ext cx="1371600" cy="64008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Prototype-First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5715000"/>
            <a:ext cx="2606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/>
            <a:r>
              <a:rPr sz="10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n8n·바이브 코딩으로 4주 내 작동하는 화면을 구현해 현업 시연으로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536192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4주 단계별 추진 내용</a:t>
            </a:r>
          </a:p>
        </p:txBody>
      </p:sp>
      <p:pic>
        <p:nvPicPr>
          <p:cNvPr id="27" name="Picture 26" descr="ic_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463040"/>
            <a:ext cx="411480" cy="4114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17920" y="1965960"/>
            <a:ext cx="5623560" cy="4480560"/>
          </a:xfrm>
          <a:prstGeom prst="rect">
            <a:avLst/>
          </a:prstGeom>
          <a:solidFill>
            <a:srgbClr val="EDEDED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629400" y="3291840"/>
            <a:ext cx="9144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29400" y="3291840"/>
            <a:ext cx="0" cy="246888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629400" y="5760720"/>
            <a:ext cx="9144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 rot="16200000">
            <a:off x="5148072" y="4379976"/>
            <a:ext cx="25603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현업 워크샵 ↔ 프로토타입 반복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12280" y="2075688"/>
            <a:ext cx="4892040" cy="32918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/>
            <a:r>
              <a:rPr sz="11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Phase 1  |  </a:t>
            </a:r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착수·현황 진단</a:t>
            </a:r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(W1)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441448"/>
            <a:ext cx="2331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Value Chain 진단을 통한</a:t>
            </a:r>
          </a:p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핵심 업무 영역 선정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81160" y="2487168"/>
            <a:ext cx="0" cy="56692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372600" y="2441448"/>
            <a:ext cx="2331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착수 보고 및 Value Chain 정의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경영진·실무자 인터뷰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핵심 업무 영역 3~4개 선정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3172968"/>
            <a:ext cx="4892040" cy="32918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/>
            <a:r>
              <a:rPr sz="11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Phase 2  |  </a:t>
            </a:r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과제 발굴</a:t>
            </a:r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(W2)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538727"/>
            <a:ext cx="2331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두 관점 현업 워크샵 기반</a:t>
            </a:r>
          </a:p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과제 Long-list 도출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81160" y="3584448"/>
            <a:ext cx="0" cy="56692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72600" y="3538727"/>
            <a:ext cx="2331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트렌드·글로벌 사례 공유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관점별 현업 워크샵 (2회)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 후보 20~30개 도출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80" y="4270248"/>
            <a:ext cx="4892040" cy="32918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/>
            <a:r>
              <a:rPr sz="11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Phase 3  |  </a:t>
            </a:r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 구체화·우선순위화</a:t>
            </a:r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(W3)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636008"/>
            <a:ext cx="2331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기준 기반 우선 과제</a:t>
            </a:r>
          </a:p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선정 및 To-Be 설계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281160" y="4681728"/>
            <a:ext cx="0" cy="56692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372600" y="4636008"/>
            <a:ext cx="2331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임팩트·실현성·데이터 준비도 평가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Short-list 8~10개, To-Be 시나리오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프로토타입 대상 선정·개발 착수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5367527"/>
            <a:ext cx="4892040" cy="32918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/>
            <a:r>
              <a:rPr sz="11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Phase 4  |  </a:t>
            </a:r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프로토타입·최종 보고</a:t>
            </a:r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(W4)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733288"/>
            <a:ext cx="2331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n8n·바이브 코딩으로 핵심</a:t>
            </a:r>
          </a:p>
          <a:p>
            <a:pPr algn="l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 프로토타입 구현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81160" y="5779007"/>
            <a:ext cx="0" cy="56692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372600" y="5733288"/>
            <a:ext cx="2331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2개 + 서비스 화면 1~2개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현업 시연 및 피드백 반영</a:t>
            </a:r>
          </a:p>
          <a:p>
            <a:pPr algn="l"/>
            <a:r>
              <a:rPr sz="10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▪ </a:t>
            </a:r>
            <a:r>
              <a:rPr sz="10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실행 로드맵 수립·최종 보고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프로토타입은 샘플·마스킹 데이터 기반으로 구현하며 운영 시스템과 연동하지 않음  /  과제 수·프로토타입 범위는 착수 시 협의를 통해 확정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