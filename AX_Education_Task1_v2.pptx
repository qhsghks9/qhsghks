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1 AX교육" id="{85947941-43f0-0ae2-c365-d2ee404edf8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거버닝: 인재개발원과 그룹 공통 AX교육 체계를 마련하고, 현장 맞춤 AX 워크샵(AX Camp)으로 현업 과제를 발굴해 FDE 선제안·구축 사업으로 연계. 왼쪽: ① 그룹 공통 AI 교육(직무·계층별 교육, AX 역량 인증 제도) ② 현장 맞춤 AX 워크샵(AX Camp, FDE 선제안). 오른쪽 상단: 롯데백화점 e커머스 AX Inno-Camp 개요('26.10). 오른쪽 하단: AX Camp → FDE 선제안·AX진단 → AX-PI/ISP → 사업부 구축 사업, 각 단계가 다음 단계의 Open Door. '26.11 이후 일정은 안(案).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82880"/>
            <a:ext cx="115214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82880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① AX 변화관리를 통한 그룹사 AX 사업화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22960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인재개발원과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그룹 공통 AX교육 체계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를 마련하고,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현장 맞춤 AX 워크샵(AX Camp)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으로 현업 과제를 발굴하여 FDE 선제안·구축 사업으로 연계하는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그룹사 AX 사업화 Open Door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를 구축함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컨설팅 AX교육 서비스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865376"/>
            <a:ext cx="3931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step-1"/>
          <p:cNvSpPr/>
          <p:nvPr/>
        </p:nvSpPr>
        <p:spPr>
          <a:xfrm>
            <a:off x="320040" y="1965960"/>
            <a:ext cx="914400" cy="1225296"/>
          </a:xfrm>
          <a:prstGeom prst="flowChartOffpageConnector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965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교육</a:t>
            </a:r>
            <a:endParaRPr lang="en-US" sz="1400" dirty="0"/>
          </a:p>
        </p:txBody>
      </p:sp>
      <p:sp>
        <p:nvSpPr>
          <p:cNvPr id="8" name="step-2"/>
          <p:cNvSpPr/>
          <p:nvPr/>
        </p:nvSpPr>
        <p:spPr>
          <a:xfrm>
            <a:off x="320040" y="3127248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3127248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AX진단/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과제화</a:t>
            </a:r>
            <a:endParaRPr lang="en-US" sz="1100" dirty="0"/>
          </a:p>
        </p:txBody>
      </p:sp>
      <p:sp>
        <p:nvSpPr>
          <p:cNvPr id="10" name="step-3"/>
          <p:cNvSpPr/>
          <p:nvPr/>
        </p:nvSpPr>
        <p:spPr>
          <a:xfrm>
            <a:off x="320040" y="4288536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4288536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AX-PI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컨설팅</a:t>
            </a:r>
            <a:endParaRPr lang="en-US" sz="1100" dirty="0"/>
          </a:p>
        </p:txBody>
      </p:sp>
      <p:sp>
        <p:nvSpPr>
          <p:cNvPr id="12" name="step-4"/>
          <p:cNvSpPr/>
          <p:nvPr/>
        </p:nvSpPr>
        <p:spPr>
          <a:xfrm>
            <a:off x="320040" y="5449824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54498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구축/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Quick-Win</a:t>
            </a:r>
            <a:endParaRPr lang="en-US" sz="1100" dirty="0"/>
          </a:p>
        </p:txBody>
      </p:sp>
      <p:sp>
        <p:nvSpPr>
          <p:cNvPr id="14" name="left-box-1"/>
          <p:cNvSpPr/>
          <p:nvPr/>
        </p:nvSpPr>
        <p:spPr>
          <a:xfrm>
            <a:off x="1371600" y="1965960"/>
            <a:ext cx="2880360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65960"/>
            <a:ext cx="2880360" cy="38404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328" y="2039112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81328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공통 AI 교육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24048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인재개발원 협업 (가칭 Lotte AX Academy)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2734056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① 직무·계층별 교육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980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계층별 '변화 역할' 기반 AI 교육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직무별 현장 시나리오 기반 실습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341071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② AX 역량 인증 제도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4단계(이해→적용→구현→내재화) 인증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HR 연계 AX 성장 경로별 인증 관리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11780" y="4087368"/>
            <a:ext cx="0" cy="25603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884932" y="4096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현장 사례·Agent 반영</a:t>
            </a:r>
            <a:endParaRPr lang="en-US" sz="850" dirty="0"/>
          </a:p>
        </p:txBody>
      </p:sp>
      <p:sp>
        <p:nvSpPr>
          <p:cNvPr id="26" name="left-box-2"/>
          <p:cNvSpPr/>
          <p:nvPr/>
        </p:nvSpPr>
        <p:spPr>
          <a:xfrm>
            <a:off x="1371600" y="4361688"/>
            <a:ext cx="2880360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4361688"/>
            <a:ext cx="2880360" cy="38404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81328" y="4434840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481328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4361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현장 맞춤 AX 워크샵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480060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현업 AI 니즈 과제화 → 그룹사 선제안·사업화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512978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① AX Camp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53766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현업 참여·데이터 기반 AI 과제 발굴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분석 → 기획 → Agent 구현 실습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481328" y="580644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② FDE 선제안 (→ 구축 사업 연계)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554480" y="60533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워크샵 도출 과제 선별·진단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FDE 선제안 → 사업부 구축 사업 연계</a:t>
            </a:r>
            <a:endParaRPr lang="en-US" sz="900" dirty="0"/>
          </a:p>
        </p:txBody>
      </p:sp>
      <p:sp>
        <p:nvSpPr>
          <p:cNvPr id="36" name="right-header"/>
          <p:cNvSpPr/>
          <p:nvPr/>
        </p:nvSpPr>
        <p:spPr>
          <a:xfrm>
            <a:off x="4526280" y="1463040"/>
            <a:ext cx="7342632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26280" y="1463040"/>
            <a:ext cx="7342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AX교육 기반 사업화 방안 </a:t>
            </a:r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(예시. 롯데백화점)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526280" y="1965960"/>
            <a:ext cx="7342632" cy="23774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1965960"/>
            <a:ext cx="7342632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63440" y="1965960"/>
            <a:ext cx="7068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▪ 롯데백화점 e커머스 AX Inno-Camp 교육 개요 ('26.10)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63440" y="2395728"/>
            <a:ext cx="640080" cy="42062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6344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대상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03520" y="2395728"/>
            <a:ext cx="1965960" cy="42062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67528" y="2395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롯데백화점 이커머스부문 실무자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2852928"/>
            <a:ext cx="640080" cy="42062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63440" y="28529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콘셉트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03520" y="2852928"/>
            <a:ext cx="1965960" cy="42062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67528" y="28529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데이터로 고객 이해,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AI Agent로 고객 경험 구현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310128"/>
            <a:ext cx="640080" cy="420624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663440" y="33101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데이터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310128"/>
            <a:ext cx="1965960" cy="42062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67528" y="33101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실무 유사 가상 데이터 6종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(고객·구매·상품·마케팅 등)</a:t>
            </a:r>
            <a:endParaRPr lang="en-US" sz="850" dirty="0"/>
          </a:p>
        </p:txBody>
      </p:sp>
      <p:sp>
        <p:nvSpPr>
          <p:cNvPr id="53" name="camp-step-1"/>
          <p:cNvSpPr/>
          <p:nvPr/>
        </p:nvSpPr>
        <p:spPr>
          <a:xfrm>
            <a:off x="7434072" y="2395728"/>
            <a:ext cx="896112" cy="457200"/>
          </a:xfrm>
          <a:prstGeom prst="homePlat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70648" y="23957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01 고객 데이터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분석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452360" y="2880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3"/>
                </a:solidFill>
              </a:rPr>
              <a:t>Gemini Notebook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7452360" y="3072384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고객군·Persona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AS-IS 고객여정</a:t>
            </a:r>
            <a:endParaRPr lang="en-US" sz="800" dirty="0"/>
          </a:p>
        </p:txBody>
      </p:sp>
      <p:sp>
        <p:nvSpPr>
          <p:cNvPr id="57" name="camp-step-2"/>
          <p:cNvSpPr/>
          <p:nvPr/>
        </p:nvSpPr>
        <p:spPr>
          <a:xfrm>
            <a:off x="8302752" y="2395728"/>
            <a:ext cx="896112" cy="457200"/>
          </a:xfrm>
          <a:prstGeom prst="chevron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58200" y="239572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02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과제 도출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8321040" y="2880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3"/>
                </a:solidFill>
              </a:rPr>
              <a:t>Gemini Notebook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8321040" y="3072384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TO-BE 고객여정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Agent 후보 선정</a:t>
            </a:r>
            <a:endParaRPr lang="en-US" sz="800" dirty="0"/>
          </a:p>
        </p:txBody>
      </p:sp>
      <p:sp>
        <p:nvSpPr>
          <p:cNvPr id="61" name="camp-step-3"/>
          <p:cNvSpPr/>
          <p:nvPr/>
        </p:nvSpPr>
        <p:spPr>
          <a:xfrm>
            <a:off x="9171432" y="2395728"/>
            <a:ext cx="896112" cy="457200"/>
          </a:xfrm>
          <a:prstGeom prst="chevron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326880" y="239572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03 딥리서치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외부조사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9189720" y="2880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3"/>
                </a:solidFill>
              </a:rPr>
              <a:t>Gemini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9189720" y="3072384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유사 사례 조사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구현 방식 비교</a:t>
            </a:r>
            <a:endParaRPr lang="en-US" sz="800" dirty="0"/>
          </a:p>
        </p:txBody>
      </p:sp>
      <p:sp>
        <p:nvSpPr>
          <p:cNvPr id="65" name="camp-step-4"/>
          <p:cNvSpPr/>
          <p:nvPr/>
        </p:nvSpPr>
        <p:spPr>
          <a:xfrm>
            <a:off x="10040112" y="2395728"/>
            <a:ext cx="896112" cy="457200"/>
          </a:xfrm>
          <a:prstGeom prst="chevron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95560" y="239572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04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기획서 생성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10058400" y="2880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3"/>
                </a:solidFill>
              </a:rPr>
              <a:t>Gemini Notebook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10058400" y="3072384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기능·화면·데이터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명세화</a:t>
            </a:r>
            <a:endParaRPr lang="en-US" sz="800" dirty="0"/>
          </a:p>
        </p:txBody>
      </p:sp>
      <p:sp>
        <p:nvSpPr>
          <p:cNvPr id="69" name="camp-step-5"/>
          <p:cNvSpPr/>
          <p:nvPr/>
        </p:nvSpPr>
        <p:spPr>
          <a:xfrm>
            <a:off x="10908792" y="2395728"/>
            <a:ext cx="896112" cy="457200"/>
          </a:xfrm>
          <a:prstGeom prst="chevron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1064240" y="239572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05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개발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10927080" y="2880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3"/>
                </a:solidFill>
              </a:rPr>
              <a:t>CodeAgent/Onflow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10927080" y="3072384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서비스화면·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업무효율화 Agent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34072" y="3566160"/>
            <a:ext cx="731520" cy="6217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7434072" y="35661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산출물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220456" y="3566160"/>
            <a:ext cx="1143000" cy="62179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257032" y="3566160"/>
            <a:ext cx="1069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데이터 분석 결과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고객군·여정·인사이트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418320" y="3566160"/>
            <a:ext cx="1143000" cy="62179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454896" y="3566160"/>
            <a:ext cx="1069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AI Agent 기획서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Agent 설계 보고서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616184" y="3566160"/>
            <a:ext cx="1143000" cy="62179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652760" y="3566160"/>
            <a:ext cx="1069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Agent 완성본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서비스화면 1·레터 2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26280" y="4434840"/>
            <a:ext cx="7342632" cy="21214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26280" y="4434840"/>
            <a:ext cx="7342632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663440" y="4434840"/>
            <a:ext cx="7068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▪ AX교육 기반 사업화 프로세스 (Open Door)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10954512" y="5029200"/>
            <a:ext cx="0" cy="3474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40680" y="5029200"/>
            <a:ext cx="551383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40680" y="5029200"/>
            <a:ext cx="0" cy="3474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675120" y="4910328"/>
            <a:ext cx="3063240" cy="23774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675120" y="49103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구축 사례·Agent → 교육 콘텐츠 반영 (선순환)</a:t>
            </a:r>
            <a:endParaRPr lang="en-US" sz="900" dirty="0"/>
          </a:p>
        </p:txBody>
      </p:sp>
      <p:sp>
        <p:nvSpPr>
          <p:cNvPr id="89" name="biz-node-1"/>
          <p:cNvSpPr/>
          <p:nvPr/>
        </p:nvSpPr>
        <p:spPr>
          <a:xfrm>
            <a:off x="4754880" y="5376672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754880" y="5376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AX Camp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'26.10</a:t>
            </a:r>
            <a:endParaRPr lang="en-US" sz="1050" dirty="0"/>
          </a:p>
        </p:txBody>
      </p:sp>
      <p:sp>
        <p:nvSpPr>
          <p:cNvPr id="91" name="Text 89"/>
          <p:cNvSpPr txBox="1"/>
          <p:nvPr/>
        </p:nvSpPr>
        <p:spPr>
          <a:xfrm>
            <a:off x="4709160" y="5980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현업 참여 AI 과제 발굴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Agent 기획서·프로토타입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153912" y="5650992"/>
            <a:ext cx="4114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3" name="Text 91"/>
          <p:cNvSpPr txBox="1"/>
          <p:nvPr/>
        </p:nvSpPr>
        <p:spPr>
          <a:xfrm>
            <a:off x="6126480" y="5340096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94" name="biz-node-2"/>
          <p:cNvSpPr/>
          <p:nvPr/>
        </p:nvSpPr>
        <p:spPr>
          <a:xfrm>
            <a:off x="6592824" y="5376672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592824" y="5376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FDE 선제안·AX진단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'26.11~</a:t>
            </a:r>
            <a:endParaRPr lang="en-US" sz="1050" dirty="0"/>
          </a:p>
        </p:txBody>
      </p:sp>
      <p:sp>
        <p:nvSpPr>
          <p:cNvPr id="96" name="Text 94"/>
          <p:cNvSpPr txBox="1"/>
          <p:nvPr/>
        </p:nvSpPr>
        <p:spPr>
          <a:xfrm>
            <a:off x="6547104" y="5980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도출 과제 선별·진단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AX-PI / Quick-Win 분류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991856" y="5650992"/>
            <a:ext cx="4114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8" name="Text 96"/>
          <p:cNvSpPr txBox="1"/>
          <p:nvPr/>
        </p:nvSpPr>
        <p:spPr>
          <a:xfrm>
            <a:off x="7964424" y="5340096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99" name="biz-node-3"/>
          <p:cNvSpPr/>
          <p:nvPr/>
        </p:nvSpPr>
        <p:spPr>
          <a:xfrm>
            <a:off x="8430768" y="5376672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430768" y="5376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AX-PI / ISP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'27.1Q~</a:t>
            </a:r>
            <a:endParaRPr lang="en-US" sz="1050" dirty="0"/>
          </a:p>
        </p:txBody>
      </p:sp>
      <p:sp>
        <p:nvSpPr>
          <p:cNvPr id="101" name="Text 99"/>
          <p:cNvSpPr txBox="1"/>
          <p:nvPr/>
        </p:nvSpPr>
        <p:spPr>
          <a:xfrm>
            <a:off x="8385048" y="5980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온/오프 통합 To-Be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구축 요건·RFP 정의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829800" y="5650992"/>
            <a:ext cx="4114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3" name="Text 101"/>
          <p:cNvSpPr txBox="1"/>
          <p:nvPr/>
        </p:nvSpPr>
        <p:spPr>
          <a:xfrm>
            <a:off x="9802368" y="5340096"/>
            <a:ext cx="46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104" name="biz-node-4"/>
          <p:cNvSpPr/>
          <p:nvPr/>
        </p:nvSpPr>
        <p:spPr>
          <a:xfrm>
            <a:off x="10268712" y="5376672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268712" y="5376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구축 사업 (사업부)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'27</a:t>
            </a:r>
            <a:endParaRPr lang="en-US" sz="1050" dirty="0"/>
          </a:p>
        </p:txBody>
      </p:sp>
      <p:sp>
        <p:nvSpPr>
          <p:cNvPr id="106" name="Text 104"/>
          <p:cNvSpPr txBox="1"/>
          <p:nvPr/>
        </p:nvSpPr>
        <p:spPr>
          <a:xfrm>
            <a:off x="10222992" y="5980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AI 기반 온/오프 통합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e커머스 서비스 구축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B2A6F"/>
      </a:accent1>
      <a:accent2>
        <a:srgbClr val="DCE6F5"/>
      </a:accent2>
      <a:accent3>
        <a:srgbClr val="1F3FB0"/>
      </a:accent3>
      <a:accent4>
        <a:srgbClr val="D9D9D9"/>
      </a:accent4>
      <a:accent5>
        <a:srgbClr val="7F7F7F"/>
      </a:accent5>
      <a:accent6>
        <a:srgbClr val="BFBFBF"/>
      </a:accent6>
      <a:hlink>
        <a:srgbClr val="1F3FB0"/>
      </a:hlink>
      <a:folHlink>
        <a:srgbClr val="0B2A6F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2026-10-31T07:31:16Z</dcterms:created>
  <dcterms:modified xsi:type="dcterms:W3CDTF">2026-10-31T07:31:16Z</dcterms:modified>
</cp:coreProperties>
</file>