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760720" cy="1828800"/>
  <p:notesSz cx="1828800" cy="57607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표"/>
          <p:cNvSpPr/>
          <p:nvPr/>
        </p:nvSpPr>
        <p:spPr>
          <a:xfrm>
            <a:off x="45720" y="73152"/>
            <a:ext cx="155448" cy="155448"/>
          </a:xfrm>
          <a:prstGeom prst="rect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  <a:effectLst>
            <a:outerShdw sx="100000" sy="100000" kx="0" ky="0" algn="bl" rotWithShape="0" blurRad="12700" dist="19050" dir="2700000">
              <a:srgbClr val="7F7F7F">
                <a:alpha val="6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292608" y="18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</a:rPr>
              <a:t>그룹사 적용 및 기대효과</a:t>
            </a:r>
            <a:endParaRPr lang="en-US" sz="1250" dirty="0"/>
          </a:p>
        </p:txBody>
      </p:sp>
      <p:sp>
        <p:nvSpPr>
          <p:cNvPr id="4" name="연결 화살표"/>
          <p:cNvSpPr/>
          <p:nvPr/>
        </p:nvSpPr>
        <p:spPr>
          <a:xfrm>
            <a:off x="2743200" y="54864"/>
            <a:ext cx="292608" cy="310896"/>
          </a:xfrm>
          <a:prstGeom prst="down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090672" y="914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95959"/>
                </a:solidFill>
              </a:rPr>
              <a:t>MVP 구축 · 운영 이관</a:t>
            </a:r>
            <a:endParaRPr lang="en-US" sz="900" dirty="0"/>
          </a:p>
        </p:txBody>
      </p:sp>
      <p:sp>
        <p:nvSpPr>
          <p:cNvPr id="6" name="기대효과 박스"/>
          <p:cNvSpPr/>
          <p:nvPr/>
        </p:nvSpPr>
        <p:spPr>
          <a:xfrm>
            <a:off x="27432" y="411480"/>
            <a:ext cx="570585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1F3FA8"/>
            </a:solidFill>
            <a:prstDash val="solid"/>
          </a:ln>
        </p:spPr>
      </p:sp>
      <p:sp>
        <p:nvSpPr>
          <p:cNvPr id="7" name="그룹사"/>
          <p:cNvSpPr txBox="1"/>
          <p:nvPr/>
        </p:nvSpPr>
        <p:spPr>
          <a:xfrm>
            <a:off x="109728" y="502920"/>
            <a:ext cx="914400" cy="658368"/>
          </a:xfrm>
          <a:prstGeom prst="rect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그룹사</a:t>
            </a:r>
            <a:endParaRPr lang="en-US" sz="12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현장 적용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9728" y="1197864"/>
            <a:ext cx="914400" cy="16459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95959"/>
                </a:solidFill>
              </a:rPr>
              <a:t>호텔 · 백화점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09728" y="1380744"/>
            <a:ext cx="914400" cy="16459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95959"/>
                </a:solidFill>
              </a:rPr>
              <a:t>물산 · 컬처웍스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109728" y="1563624"/>
            <a:ext cx="914400" cy="16459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95959"/>
                </a:solidFill>
              </a:rPr>
              <a:t>건설 · 유통 …</a:t>
            </a:r>
            <a:endParaRPr lang="en-US" sz="700" dirty="0"/>
          </a:p>
        </p:txBody>
      </p:sp>
      <p:sp>
        <p:nvSpPr>
          <p:cNvPr id="11" name="효과 화살표"/>
          <p:cNvSpPr/>
          <p:nvPr/>
        </p:nvSpPr>
        <p:spPr>
          <a:xfrm>
            <a:off x="1069848" y="941832"/>
            <a:ext cx="128016" cy="274320"/>
          </a:xfrm>
          <a:prstGeom prst="chevron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2" name="카드 1"/>
          <p:cNvSpPr/>
          <p:nvPr/>
        </p:nvSpPr>
        <p:spPr>
          <a:xfrm>
            <a:off x="1243584" y="502920"/>
            <a:ext cx="1435608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43584" y="502920"/>
            <a:ext cx="1435608" cy="274320"/>
          </a:xfrm>
          <a:prstGeom prst="rect">
            <a:avLst/>
          </a:prstGeom>
          <a:solidFill>
            <a:srgbClr val="5959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① 실행력 강화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89304" y="822960"/>
            <a:ext cx="1344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62626"/>
                </a:solidFill>
              </a:rPr>
              <a:t>발굴 과제(108건)를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62626"/>
                </a:solidFill>
              </a:rPr>
              <a:t>MVP·구축까지 연결</a:t>
            </a:r>
            <a:endParaRPr lang="en-US" sz="850" dirty="0"/>
          </a:p>
        </p:txBody>
      </p:sp>
      <p:sp>
        <p:nvSpPr>
          <p:cNvPr id="15" name="카드 구분선 1"/>
          <p:cNvSpPr/>
          <p:nvPr/>
        </p:nvSpPr>
        <p:spPr>
          <a:xfrm>
            <a:off x="1380744" y="1344168"/>
            <a:ext cx="116128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1243584" y="1389888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FA8"/>
                </a:solidFill>
              </a:rPr>
              <a:t>적용 2건 → 확대</a:t>
            </a:r>
            <a:endParaRPr lang="en-US" sz="950" dirty="0"/>
          </a:p>
        </p:txBody>
      </p:sp>
      <p:sp>
        <p:nvSpPr>
          <p:cNvPr id="17" name="카드 2"/>
          <p:cNvSpPr/>
          <p:nvPr/>
        </p:nvSpPr>
        <p:spPr>
          <a:xfrm>
            <a:off x="2734056" y="502920"/>
            <a:ext cx="1435608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34056" y="502920"/>
            <a:ext cx="1435608" cy="274320"/>
          </a:xfrm>
          <a:prstGeom prst="rect">
            <a:avLst/>
          </a:prstGeom>
          <a:solidFill>
            <a:srgbClr val="5959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② 역량 내재화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779776" y="822960"/>
            <a:ext cx="1344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62626"/>
                </a:solidFill>
              </a:rPr>
              <a:t>Biz + AI 엔지니어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62626"/>
                </a:solidFill>
              </a:rPr>
              <a:t>협업 모델 그룹 내재화</a:t>
            </a:r>
            <a:endParaRPr lang="en-US" sz="850" dirty="0"/>
          </a:p>
        </p:txBody>
      </p:sp>
      <p:sp>
        <p:nvSpPr>
          <p:cNvPr id="20" name="카드 구분선 2"/>
          <p:cNvSpPr/>
          <p:nvPr/>
        </p:nvSpPr>
        <p:spPr>
          <a:xfrm>
            <a:off x="2871216" y="1344168"/>
            <a:ext cx="116128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2734056" y="1389888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FA8"/>
                </a:solidFill>
              </a:rPr>
              <a:t>외부 의존 ↓ · 자산 축적</a:t>
            </a:r>
            <a:endParaRPr lang="en-US" sz="950" dirty="0"/>
          </a:p>
        </p:txBody>
      </p:sp>
      <p:sp>
        <p:nvSpPr>
          <p:cNvPr id="22" name="카드 3"/>
          <p:cNvSpPr/>
          <p:nvPr/>
        </p:nvSpPr>
        <p:spPr>
          <a:xfrm>
            <a:off x="4224528" y="502920"/>
            <a:ext cx="1435608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24528" y="502920"/>
            <a:ext cx="1435608" cy="274320"/>
          </a:xfrm>
          <a:prstGeom prst="rect">
            <a:avLst/>
          </a:prstGeom>
          <a:solidFill>
            <a:srgbClr val="5959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③ 사업 확대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270248" y="822960"/>
            <a:ext cx="1344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62626"/>
                </a:solidFill>
              </a:rPr>
              <a:t>컨설팅 → 구축사업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62626"/>
                </a:solidFill>
              </a:rPr>
              <a:t>연계 확산</a:t>
            </a:r>
            <a:endParaRPr lang="en-US" sz="850" dirty="0"/>
          </a:p>
        </p:txBody>
      </p:sp>
      <p:sp>
        <p:nvSpPr>
          <p:cNvPr id="25" name="카드 구분선 3"/>
          <p:cNvSpPr/>
          <p:nvPr/>
        </p:nvSpPr>
        <p:spPr>
          <a:xfrm>
            <a:off x="4361688" y="1344168"/>
            <a:ext cx="116128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4224528" y="1389888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FA8"/>
                </a:solidFill>
              </a:rPr>
              <a:t>'27 인벤토리 8.6억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 Consulting">
  <a:themeElements>
    <a:clrScheme name="AX Consulting">
      <a:dk1>
        <a:srgbClr val="1F2329"/>
      </a:dk1>
      <a:lt1>
        <a:srgbClr val="FFFFFF"/>
      </a:lt1>
      <a:dk2>
        <a:srgbClr val="404040"/>
      </a:dk2>
      <a:lt2>
        <a:srgbClr val="F2F2F2"/>
      </a:lt2>
      <a:accent1>
        <a:srgbClr val="1F3FA8"/>
      </a:accent1>
      <a:accent2>
        <a:srgbClr val="595959"/>
      </a:accent2>
      <a:accent3>
        <a:srgbClr val="A6A6A6"/>
      </a:accent3>
      <a:accent4>
        <a:srgbClr val="D9D9D9"/>
      </a:accent4>
      <a:accent5>
        <a:srgbClr val="7F7F7F"/>
      </a:accent5>
      <a:accent6>
        <a:srgbClr val="404040"/>
      </a:accent6>
      <a:hlink>
        <a:srgbClr val="1F3FA8"/>
      </a:hlink>
      <a:folHlink>
        <a:srgbClr val="595959"/>
      </a:folHlink>
    </a:clrScheme>
    <a:fontScheme name="AX Consulting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2026-10-29T02:48:58Z</dcterms:created>
  <dcterms:modified xsi:type="dcterms:W3CDTF">2026-10-29T02:48:58Z</dcterms:modified>
</cp:coreProperties>
</file>