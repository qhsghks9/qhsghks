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201168"/>
            <a:ext cx="11430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Agent 운영 전환 및 발굴 역량 내재화 (案)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914400"/>
            <a:ext cx="11750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040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AI혁신센터는 IS팀의 안정적인 운영 전환을 지원하고, AX컨설팅팀은 현업이 스스로 Agent Use case를 발굴할 수 있도록 교육·워크샵을 수행함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783080"/>
            <a:ext cx="5486400" cy="457200"/>
          </a:xfrm>
          <a:prstGeom prst="round2SameRect">
            <a:avLst>
              <a:gd name="adj" fmla="val 50000"/>
            </a:avLst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AI혁신센터 → IS팀 운영 전환 지원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240280"/>
            <a:ext cx="5486400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2377440"/>
            <a:ext cx="868680" cy="868680"/>
          </a:xfrm>
          <a:prstGeom prst="ellipse">
            <a:avLst/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596896"/>
            <a:ext cx="429768" cy="4297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20040" y="32918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AI혁신센터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377440"/>
            <a:ext cx="868680" cy="86868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2596896"/>
            <a:ext cx="429768" cy="4297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2918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IS팀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600200" y="2587752"/>
            <a:ext cx="987552" cy="457200"/>
          </a:xfrm>
          <a:prstGeom prst="homePlate">
            <a:avLst/>
          </a:prstGeom>
          <a:solidFill>
            <a:srgbClr val="8FAADC"/>
          </a:solidFill>
          <a:ln w="12700">
            <a:solidFill>
              <a:srgbClr val="8FAAD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691640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 운영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615184" y="2587752"/>
            <a:ext cx="987552" cy="457200"/>
          </a:xfrm>
          <a:prstGeom prst="chevron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706624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운영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3630168" y="2587752"/>
            <a:ext cx="987552" cy="457200"/>
          </a:xfrm>
          <a:prstGeom prst="chevron">
            <a:avLst/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721608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 운영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365760" y="3611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주도권을 단계적으로 IS팀에 이관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02920" y="4133088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133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914400" y="404164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자산 이관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아키텍처·소스·프롬프트 및 운영 매뉴얼(Runbook) 인계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02920" y="4608576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914400" y="451713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모니터링·품질 관리 체계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성능·비용·응답 품질 지표 및 장애 대응 절차 수립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02920" y="5084064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02920" y="5084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914400" y="4992624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교육 및 공동 운영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플랫폼·LLMOps 교육, 공동 운영 기간 운영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502920" y="5559552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5559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914400" y="54681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후 기술 지원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안정화 기간 2선 지원 및 고도화 요청 대응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365760" y="6080760"/>
            <a:ext cx="548640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EAF0F8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5760" y="6080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B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 </a:t>
            </a:r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매뉴얼, 모니터링 체계, 운영 이관 확인서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6336792" y="1783080"/>
            <a:ext cx="5486400" cy="457200"/>
          </a:xfrm>
          <a:prstGeom prst="round2SameRect">
            <a:avLst>
              <a:gd name="adj" fmla="val 50000"/>
            </a:avLst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336792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AX컨설팅팀 → 현업 Use case 발굴 교육·워크샵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6336792" y="2240280"/>
            <a:ext cx="5486400" cy="1691640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565392" y="2377440"/>
            <a:ext cx="868680" cy="868680"/>
          </a:xfrm>
          <a:prstGeom prst="ellipse">
            <a:avLst/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2596896"/>
            <a:ext cx="429768" cy="42976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6291072" y="32918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AX컨설팅팀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10725912" y="2377440"/>
            <a:ext cx="868680" cy="86868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45368" y="2596896"/>
            <a:ext cx="429768" cy="429768"/>
          </a:xfrm>
          <a:prstGeom prst="rect">
            <a:avLst/>
          </a:prstGeom>
        </p:spPr>
      </p:pic>
      <p:sp>
        <p:nvSpPr>
          <p:cNvPr id="42" name="Text 36"/>
          <p:cNvSpPr txBox="1"/>
          <p:nvPr/>
        </p:nvSpPr>
        <p:spPr>
          <a:xfrm>
            <a:off x="10451592" y="32918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7571232" y="2587752"/>
            <a:ext cx="987552" cy="457200"/>
          </a:xfrm>
          <a:prstGeom prst="homePlate">
            <a:avLst/>
          </a:prstGeom>
          <a:solidFill>
            <a:srgbClr val="8FAADC"/>
          </a:solidFill>
          <a:ln w="12700">
            <a:solidFill>
              <a:srgbClr val="8FAADC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7662672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</a:t>
            </a:r>
            <a:endParaRPr lang="en-US" sz="1150" dirty="0"/>
          </a:p>
        </p:txBody>
      </p:sp>
      <p:sp>
        <p:nvSpPr>
          <p:cNvPr id="45" name="Shape 39"/>
          <p:cNvSpPr/>
          <p:nvPr/>
        </p:nvSpPr>
        <p:spPr>
          <a:xfrm>
            <a:off x="8586216" y="2587752"/>
            <a:ext cx="987552" cy="457200"/>
          </a:xfrm>
          <a:prstGeom prst="chevron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8677656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워크샵</a:t>
            </a:r>
            <a:endParaRPr lang="en-US" sz="1150" dirty="0"/>
          </a:p>
        </p:txBody>
      </p:sp>
      <p:sp>
        <p:nvSpPr>
          <p:cNvPr id="47" name="Shape 41"/>
          <p:cNvSpPr/>
          <p:nvPr/>
        </p:nvSpPr>
        <p:spPr>
          <a:xfrm>
            <a:off x="9601200" y="2587752"/>
            <a:ext cx="987552" cy="457200"/>
          </a:xfrm>
          <a:prstGeom prst="chevron">
            <a:avLst/>
          </a:prstGeom>
          <a:solidFill>
            <a:srgbClr val="243F60"/>
          </a:solidFill>
          <a:ln w="12700">
            <a:solidFill>
              <a:srgbClr val="243F60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9692640" y="2587752"/>
            <a:ext cx="804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과제화</a:t>
            </a:r>
            <a:endParaRPr lang="en-US" sz="1150" dirty="0"/>
          </a:p>
        </p:txBody>
      </p:sp>
      <p:sp>
        <p:nvSpPr>
          <p:cNvPr id="49" name="Text 43"/>
          <p:cNvSpPr txBox="1"/>
          <p:nvPr/>
        </p:nvSpPr>
        <p:spPr>
          <a:xfrm>
            <a:off x="6336792" y="3611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현업이 직접 Agent 과제를 발굴하는 역량 확보</a:t>
            </a:r>
            <a:endParaRPr lang="en-US" sz="1100" dirty="0"/>
          </a:p>
        </p:txBody>
      </p:sp>
      <p:sp>
        <p:nvSpPr>
          <p:cNvPr id="50" name="Shape 44"/>
          <p:cNvSpPr/>
          <p:nvPr/>
        </p:nvSpPr>
        <p:spPr>
          <a:xfrm>
            <a:off x="6473952" y="4133088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73952" y="4133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2" name="Text 46"/>
          <p:cNvSpPr txBox="1"/>
          <p:nvPr/>
        </p:nvSpPr>
        <p:spPr>
          <a:xfrm>
            <a:off x="6885432" y="404164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Agent 이해 교육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Agent 개념·적용 사례, Agent 적용이 가능한 업무 유형</a:t>
            </a:r>
            <a:endParaRPr lang="en-US" sz="1300" dirty="0"/>
          </a:p>
        </p:txBody>
      </p:sp>
      <p:sp>
        <p:nvSpPr>
          <p:cNvPr id="53" name="Shape 47"/>
          <p:cNvSpPr/>
          <p:nvPr/>
        </p:nvSpPr>
        <p:spPr>
          <a:xfrm>
            <a:off x="6473952" y="4608576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473952" y="4608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49"/>
          <p:cNvSpPr txBox="1"/>
          <p:nvPr/>
        </p:nvSpPr>
        <p:spPr>
          <a:xfrm>
            <a:off x="6885432" y="451713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 case 발굴 방법론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Pain Point 도출 → 업무 분해 → Agent 적합성 체크리스트</a:t>
            </a:r>
            <a:endParaRPr lang="en-US" sz="1300" dirty="0"/>
          </a:p>
        </p:txBody>
      </p:sp>
      <p:sp>
        <p:nvSpPr>
          <p:cNvPr id="56" name="Shape 50"/>
          <p:cNvSpPr/>
          <p:nvPr/>
        </p:nvSpPr>
        <p:spPr>
          <a:xfrm>
            <a:off x="6473952" y="5084064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6473952" y="5084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8" name="Text 52"/>
          <p:cNvSpPr txBox="1"/>
          <p:nvPr/>
        </p:nvSpPr>
        <p:spPr>
          <a:xfrm>
            <a:off x="6885432" y="4992624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부서별 실습 워크샵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업무 기반 Use case 도출 및 우선순위화(Canvas 활용)</a:t>
            </a:r>
            <a:endParaRPr lang="en-US" sz="1300" dirty="0"/>
          </a:p>
        </p:txBody>
      </p:sp>
      <p:sp>
        <p:nvSpPr>
          <p:cNvPr id="59" name="Shape 53"/>
          <p:cNvSpPr/>
          <p:nvPr/>
        </p:nvSpPr>
        <p:spPr>
          <a:xfrm>
            <a:off x="6473952" y="5559552"/>
            <a:ext cx="274320" cy="274320"/>
          </a:xfrm>
          <a:prstGeom prst="ellipse">
            <a:avLst/>
          </a:prstGeom>
          <a:solidFill>
            <a:srgbClr val="4A7BC8"/>
          </a:solidFill>
          <a:ln w="12700">
            <a:solidFill>
              <a:srgbClr val="4A7BC8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473952" y="55595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61" name="Text 55"/>
          <p:cNvSpPr txBox="1"/>
          <p:nvPr/>
        </p:nvSpPr>
        <p:spPr>
          <a:xfrm>
            <a:off x="6885432" y="5468112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 결과 과제 연계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후보 리스트로 Phase 1에 연계, 우수 사례 확산</a:t>
            </a:r>
            <a:endParaRPr lang="en-US" sz="1300" dirty="0"/>
          </a:p>
        </p:txBody>
      </p:sp>
      <p:sp>
        <p:nvSpPr>
          <p:cNvPr id="62" name="Shape 56"/>
          <p:cNvSpPr/>
          <p:nvPr/>
        </p:nvSpPr>
        <p:spPr>
          <a:xfrm>
            <a:off x="6336792" y="6080760"/>
            <a:ext cx="5486400" cy="457200"/>
          </a:xfrm>
          <a:prstGeom prst="rect">
            <a:avLst/>
          </a:prstGeom>
          <a:solidFill>
            <a:srgbClr val="EAF0F8"/>
          </a:solidFill>
          <a:ln w="12700">
            <a:solidFill>
              <a:srgbClr val="EAF0F8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336792" y="60807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7BC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 </a:t>
            </a:r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 case 발굴 Canvas, 교육 자료, 과제 후보 리스트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2026-10-01T04:58:47Z</dcterms:created>
  <dcterms:modified xsi:type="dcterms:W3CDTF">2026-10-01T04:58:47Z</dcterms:modified>
</cp:coreProperties>
</file>