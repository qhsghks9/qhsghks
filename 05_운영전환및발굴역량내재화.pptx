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82880"/>
            <a:ext cx="1152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Agent 운영 전환 및 발굴 역량 내재화 (案)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41248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Agent의 지속 가능한 운영과 확산을 위해, </a:t>
            </a:r>
            <a:pPr indent="0" marL="0">
              <a:buNone/>
            </a:pPr>
            <a:r>
              <a:rPr lang="en-US" sz="1600" b="1" u="sng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IS팀 운영 전환 지원과 현업 Use case 발굴 역량 내재화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추진하고자 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73736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07592"/>
            <a:ext cx="5212080" cy="429768"/>
          </a:xfrm>
          <a:prstGeom prst="round2SameRect">
            <a:avLst>
              <a:gd name="adj" fmla="val 17021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07592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IS팀 운영 전환 지원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자산 이관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아키텍처·소스·프롬프트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Runbook 인계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31720" y="1874520"/>
            <a:ext cx="1645920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3172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모니터링·품질 관리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31720" y="2377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성능·비용·품질 지표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대응 절차 수립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1874520"/>
            <a:ext cx="1645920" cy="5029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0" y="1874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교육·안정화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23774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2377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플랫폼·LLMOps 교육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후 2선 기술 지원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V="1">
            <a:off x="548640" y="2971800"/>
            <a:ext cx="5212080" cy="228600"/>
          </a:xfrm>
          <a:prstGeom prst="trapezoid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321868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 운영 → 전환 운영 → 독립 운영 단계를 거친</a:t>
            </a:r>
            <a:endParaRPr lang="en-US" sz="15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IS팀 중심의 안정적 Agent 운영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31920"/>
            <a:ext cx="5212080" cy="411480"/>
          </a:xfrm>
          <a:prstGeom prst="round2SameRect">
            <a:avLst>
              <a:gd name="adj" fmla="val 22222"/>
            </a:avLst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931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</a:t>
            </a:r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기반의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운영 이관 체계 확보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874520" y="4526280"/>
            <a:ext cx="2606040" cy="731520"/>
          </a:xfrm>
          <a:prstGeom prst="leftArrow">
            <a:avLst/>
          </a:prstGeom>
          <a:solidFill>
            <a:srgbClr val="D6DCE5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240280" y="4526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자산 이관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교육 · 2선 지원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0" y="5577840"/>
            <a:ext cx="2606040" cy="731520"/>
          </a:xfrm>
          <a:prstGeom prst="rightArrow">
            <a:avLst/>
          </a:prstGeom>
          <a:solidFill>
            <a:srgbClr val="F6DADA"/>
          </a:solidFill>
          <a:ln w="12700">
            <a:solidFill>
              <a:srgbClr val="F6DA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48840" y="5577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이슈 공유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i="1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 요청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011680" y="5303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Partnership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846320"/>
            <a:ext cx="1463040" cy="1463040"/>
          </a:xfrm>
          <a:prstGeom prst="ellipse">
            <a:avLst/>
          </a:prstGeom>
          <a:solidFill>
            <a:srgbClr val="F4DCDC"/>
          </a:solidFill>
          <a:ln w="12700">
            <a:solidFill>
              <a:srgbClr val="F4DC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8463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IS팀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60520" y="4297680"/>
            <a:ext cx="1463040" cy="1463040"/>
          </a:xfrm>
          <a:prstGeom prst="ellipse">
            <a:avLst/>
          </a:prstGeom>
          <a:solidFill>
            <a:srgbClr val="DAE3F3"/>
          </a:solidFill>
          <a:ln w="12700">
            <a:solidFill>
              <a:srgbClr val="DAE3F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60520" y="42976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혁신센터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217920" y="1737360"/>
            <a:ext cx="566928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1307592"/>
            <a:ext cx="5212080" cy="429768"/>
          </a:xfrm>
          <a:prstGeom prst="round2SameRect">
            <a:avLst>
              <a:gd name="adj" fmla="val 17021"/>
            </a:avLst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1307592"/>
            <a:ext cx="52120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현업 Use case 발굴 교육·워크샵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355080" y="19659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49440" y="1965960"/>
            <a:ext cx="1600200" cy="685800"/>
          </a:xfrm>
          <a:prstGeom prst="homePlate">
            <a:avLst/>
          </a:prstGeom>
          <a:solidFill>
            <a:srgbClr val="EEF1F7"/>
          </a:solidFill>
          <a:ln w="12700">
            <a:solidFill>
              <a:srgbClr val="B4C0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4088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이해 교육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67728" y="182880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967728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1965960"/>
            <a:ext cx="1600200" cy="685800"/>
          </a:xfrm>
          <a:prstGeom prst="chevron">
            <a:avLst/>
          </a:prstGeom>
          <a:solidFill>
            <a:srgbClr val="EEF1F7"/>
          </a:solidFill>
          <a:ln w="12700">
            <a:solidFill>
              <a:srgbClr val="B4C0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7824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 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 워크샵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522208" y="182880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22208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058400" y="1965960"/>
            <a:ext cx="1600200" cy="685800"/>
          </a:xfrm>
          <a:prstGeom prst="chevron">
            <a:avLst/>
          </a:prstGeom>
          <a:solidFill>
            <a:srgbClr val="EEF1F7"/>
          </a:solidFill>
          <a:ln w="12700">
            <a:solidFill>
              <a:srgbClr val="B4C0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332720" y="1965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과제화 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우수사례 확산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076688" y="182880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076688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37960" y="288036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7960" y="28803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903720" y="2834640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개념·적용 사례 및 Agent 적용 가능 업무 유형 이해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37960" y="324612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37960" y="32461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903720" y="3200400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 Point 도출 → 업무 분해 → Agent 적합성 판단으로 Use case 도출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37960" y="3611880"/>
            <a:ext cx="246888" cy="24688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537960" y="361188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90372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실무자 주도 Use case 우선순위화 + 과제 후보 리스트 등록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3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Phase 1 과제 발굴과 연계, 타 부서·계열사 전파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46520" y="4251960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46520" y="425196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현업의 실제 업무와 Pain Point 중심의 Use case 발굴</a:t>
            </a:r>
            <a:endParaRPr lang="en-US" sz="1350" dirty="0"/>
          </a:p>
        </p:txBody>
      </p:sp>
      <p:sp>
        <p:nvSpPr>
          <p:cNvPr id="60" name="Shape 58"/>
          <p:cNvSpPr/>
          <p:nvPr/>
        </p:nvSpPr>
        <p:spPr>
          <a:xfrm>
            <a:off x="6446520" y="4818888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46520" y="48188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영역별 Agent 적용 사례 및 발굴 Canvas 제공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446520" y="5385816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46520" y="538581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 주도 실습을 통한 실행 가능한 과제 후보 도출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6446520" y="5952744"/>
            <a:ext cx="5212080" cy="475488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46520" y="595274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AX컨설턴트·AI 전문가의 현장 코칭 및 기술 적합성 검토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2026-10-01T05:05:14Z</dcterms:created>
  <dcterms:modified xsi:type="dcterms:W3CDTF">2026-10-01T05:05:14Z</dcterms:modified>
</cp:coreProperties>
</file>