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669280" cy="4846320"/>
  <p:notesSz cx="4846320" cy="56692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추진 배경</a:t>
            </a:r>
            <a:endParaRPr lang="en-US" sz="1500" dirty="0"/>
          </a:p>
        </p:txBody>
      </p:sp>
      <p:sp>
        <p:nvSpPr>
          <p:cNvPr id="3" name="구역선"/>
          <p:cNvSpPr/>
          <p:nvPr/>
        </p:nvSpPr>
        <p:spPr>
          <a:xfrm>
            <a:off x="18288" y="365760"/>
            <a:ext cx="5632704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" y="4389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</a:rPr>
              <a:t>※ FDE 정의 : 고객 현장에 밀착하여 문제 정의부터 구축·이관까지 책임지는 AX 모델</a:t>
            </a:r>
            <a:endParaRPr lang="en-US" sz="1000" dirty="0"/>
          </a:p>
        </p:txBody>
      </p:sp>
      <p:sp>
        <p:nvSpPr>
          <p:cNvPr id="5" name="단계 문제"/>
          <p:cNvSpPr txBox="1"/>
          <p:nvPr/>
        </p:nvSpPr>
        <p:spPr>
          <a:xfrm>
            <a:off x="45720" y="786384"/>
            <a:ext cx="658368" cy="896112"/>
          </a:xfrm>
          <a:prstGeom prst="roundRect">
            <a:avLst>
              <a:gd name="adj" fmla="val 8333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문제</a:t>
            </a:r>
            <a:endParaRPr lang="en-US" sz="1200" dirty="0"/>
          </a:p>
        </p:txBody>
      </p:sp>
      <p:sp>
        <p:nvSpPr>
          <p:cNvPr id="6" name="흐름 1"/>
          <p:cNvSpPr/>
          <p:nvPr/>
        </p:nvSpPr>
        <p:spPr>
          <a:xfrm rot="10800000">
            <a:off x="274320" y="1700784"/>
            <a:ext cx="201168" cy="82296"/>
          </a:xfrm>
          <a:prstGeom prst="triangl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822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컨설팅과 구축이 분리되어 그룹사 AI 과제의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Lead Time 장기화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188720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- 호텔 '객실요금 최적화' : 컨설팅('25.11) → 구축 착수('26.11), 약 1년 소요</a:t>
            </a:r>
            <a:endParaRPr lang="en-US" sz="950" dirty="0"/>
          </a:p>
        </p:txBody>
      </p:sp>
      <p:sp>
        <p:nvSpPr>
          <p:cNvPr id="9" name="구분선 1"/>
          <p:cNvSpPr/>
          <p:nvPr/>
        </p:nvSpPr>
        <p:spPr>
          <a:xfrm>
            <a:off x="804672" y="1741932"/>
            <a:ext cx="48463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10" name="단계 현황"/>
          <p:cNvSpPr txBox="1"/>
          <p:nvPr/>
        </p:nvSpPr>
        <p:spPr>
          <a:xfrm>
            <a:off x="45720" y="1801368"/>
            <a:ext cx="658368" cy="896112"/>
          </a:xfrm>
          <a:prstGeom prst="roundRect">
            <a:avLst>
              <a:gd name="adj" fmla="val 8333"/>
            </a:avLst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현황</a:t>
            </a:r>
            <a:endParaRPr lang="en-US" sz="1200" dirty="0"/>
          </a:p>
        </p:txBody>
      </p:sp>
      <p:sp>
        <p:nvSpPr>
          <p:cNvPr id="11" name="흐름 2"/>
          <p:cNvSpPr/>
          <p:nvPr/>
        </p:nvSpPr>
        <p:spPr>
          <a:xfrm rot="10800000">
            <a:off x="274320" y="2715768"/>
            <a:ext cx="201168" cy="82296"/>
          </a:xfrm>
          <a:prstGeom prst="triangl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37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AX 실행의 출발점인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Biz 문제 정의·과제 Target 기반은 확보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203704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- 그룹사 PI/ISP 및 17개사 AI컨설팅 수행으로 업무·과제 이해 축적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  (AI 과제 108건 발굴)</a:t>
            </a:r>
            <a:endParaRPr lang="en-US" sz="950" dirty="0"/>
          </a:p>
        </p:txBody>
      </p:sp>
      <p:sp>
        <p:nvSpPr>
          <p:cNvPr id="14" name="구분선 2"/>
          <p:cNvSpPr/>
          <p:nvPr/>
        </p:nvSpPr>
        <p:spPr>
          <a:xfrm>
            <a:off x="804672" y="2756916"/>
            <a:ext cx="484632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15" name="단계 필요"/>
          <p:cNvSpPr txBox="1"/>
          <p:nvPr/>
        </p:nvSpPr>
        <p:spPr>
          <a:xfrm>
            <a:off x="45720" y="2816352"/>
            <a:ext cx="658368" cy="896112"/>
          </a:xfrm>
          <a:prstGeom prst="roundRect">
            <a:avLst>
              <a:gd name="adj" fmla="val 8333"/>
            </a:avLst>
          </a:prstGeom>
          <a:solidFill>
            <a:srgbClr val="1F3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필요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8529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그러나 엔지니어 부재 →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구현 인력 확보·역량 교육 필요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18688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- 구축 연계 기회는 확대 중이나, 컨설팅 조직 內 구현은 외부 의존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  (신분당선 컨설팅('26.3) → AI 사업 12.5억)</a:t>
            </a:r>
            <a:endParaRPr lang="en-US" sz="950" dirty="0"/>
          </a:p>
        </p:txBody>
      </p:sp>
      <p:sp>
        <p:nvSpPr>
          <p:cNvPr id="18" name="사례 박스"/>
          <p:cNvSpPr/>
          <p:nvPr/>
        </p:nvSpPr>
        <p:spPr>
          <a:xfrm>
            <a:off x="18288" y="3840480"/>
            <a:ext cx="5632704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" y="3886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※ FDE 체계 전환 사례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" y="414223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그룹 IT社 주도로 FDE 체계 전환 본격화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" y="4306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※ SK AX (全 개발 직군 FDE 직무 전환), 삼성SDS (AI 플랫폼 기반 FDE 컨설팅)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" y="4471416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</a:rPr>
              <a:t>- 글로벌 선도社 Biz + 엔지니어 결합형으로 FDE 조직화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" y="463600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</a:rPr>
              <a:t>※ Palantir (컨설턴트(Echo)·엔지니어(Delta) 배치), Accenture×MS (FDE 공동 출범)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404040"/>
      </a:dk2>
      <a:lt2>
        <a:srgbClr val="F2F2F2"/>
      </a:lt2>
      <a:accent1>
        <a:srgbClr val="1F3FA8"/>
      </a:accent1>
      <a:accent2>
        <a:srgbClr val="595959"/>
      </a:accent2>
      <a:accent3>
        <a:srgbClr val="A6A6A6"/>
      </a:accent3>
      <a:accent4>
        <a:srgbClr val="D9D9D9"/>
      </a:accent4>
      <a:accent5>
        <a:srgbClr val="7F7F7F"/>
      </a:accent5>
      <a:accent6>
        <a:srgbClr val="404040"/>
      </a:accent6>
      <a:hlink>
        <a:srgbClr val="1F3FA8"/>
      </a:hlink>
      <a:folHlink>
        <a:srgbClr val="595959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2026-10-29T06:53:54Z</dcterms:created>
  <dcterms:modified xsi:type="dcterms:W3CDTF">2026-10-29T06:53:54Z</dcterms:modified>
</cp:coreProperties>
</file>