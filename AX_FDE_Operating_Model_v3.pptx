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X 전환 성공 조건" id="{d23d07f1-73dd-f2cb-c6f0-1b8cafce723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[도입배경] PoC 이후 확산 실패: 파일럿이 운영 전환·성과로 이어지지 못하는 'PoC의 늪' 반복 / 전략–실행 단절: 전략·자문은 있으나 현업 프로세스·데이터·시스템에 연결해 구현할 역량 부족 / 극단적인 인력 운영: 소수 AI 인력 집중 또는 대규모 외주 의존으로 융합형 인력 부재 / 유지보수 비용 지속 지출: 현장 적합성 부족으로 구축 후 수정·SM 비용 지속, 성과 측정 미흡.
[엑센츄어] 고객별 소규모·상시·성과책임형 Pod가 문제 정의→현장 공동설계→신속 프로토타입→운영환경 배포→성과 측정→표준화 확산을 수행. 수개월 로드맵 대신 짧은 주기 반복, 코드·플레이북·AI 에이전트 스킬 자산화.
[삼성SDS] FDE One Pod(Biz·프로세스·IT·AI·Data·고객)가 짧은 Sprint로 Discovery(개선기회·과제 선정)→Re-Design(프로세스·Infra/Data/보안 설계)→Activate(개발 Agent 협업·대시보드 모니터링)→Scale(성과 측정·운영체계 수립) 수행. '26년 내 FDE 200명 양성·현장 배치 목표.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 AX 전환 성공 조건 &gt; 사례 3. 엑센츄어, 삼성 SDS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성공의 관건은 기술이 아닌 '현장 실행력'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현장 투입형 FDE 운영 모델 도입 필요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3258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도입 배경 및 수행 방안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73352"/>
            <a:ext cx="61722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0" y="1325880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: FDE 운영 모델 비교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673352"/>
            <a:ext cx="505663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01368"/>
            <a:ext cx="502920" cy="14630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801368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</a:t>
            </a:r>
            <a:endParaRPr lang="en-US" sz="1400" dirty="0"/>
          </a:p>
        </p:txBody>
      </p:sp>
      <p:sp>
        <p:nvSpPr>
          <p:cNvPr id="10" name="bg-1"/>
          <p:cNvSpPr/>
          <p:nvPr/>
        </p:nvSpPr>
        <p:spPr>
          <a:xfrm>
            <a:off x="941832" y="1801368"/>
            <a:ext cx="2761488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1801368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이후 확산 실패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파일럿에 그치고 운영 전환 미흡</a:t>
            </a:r>
            <a:endParaRPr lang="en-US" sz="1500" dirty="0"/>
          </a:p>
        </p:txBody>
      </p:sp>
      <p:sp>
        <p:nvSpPr>
          <p:cNvPr id="12" name="bg-2"/>
          <p:cNvSpPr/>
          <p:nvPr/>
        </p:nvSpPr>
        <p:spPr>
          <a:xfrm>
            <a:off x="3776472" y="1801368"/>
            <a:ext cx="2761488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76472" y="1801368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전략–실행 단절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전략은 있으나 구현 역량 부재</a:t>
            </a:r>
            <a:endParaRPr lang="en-US" sz="1500" dirty="0"/>
          </a:p>
        </p:txBody>
      </p:sp>
      <p:sp>
        <p:nvSpPr>
          <p:cNvPr id="14" name="bg-3"/>
          <p:cNvSpPr/>
          <p:nvPr/>
        </p:nvSpPr>
        <p:spPr>
          <a:xfrm>
            <a:off x="941832" y="2569464"/>
            <a:ext cx="2761488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2569464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극단적인 인력 운영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인력 편중 · 외주 의존</a:t>
            </a:r>
            <a:endParaRPr lang="en-US" sz="1500" dirty="0"/>
          </a:p>
        </p:txBody>
      </p:sp>
      <p:sp>
        <p:nvSpPr>
          <p:cNvPr id="16" name="bg-4"/>
          <p:cNvSpPr/>
          <p:nvPr/>
        </p:nvSpPr>
        <p:spPr>
          <a:xfrm>
            <a:off x="3776472" y="2569464"/>
            <a:ext cx="2761488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76472" y="2569464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비용 지속 지출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후 비용↑ · 성과 측정↓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3319272"/>
            <a:ext cx="4526280" cy="640080"/>
          </a:xfrm>
          <a:prstGeom prst="flowChartMerg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374136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적용 중심의 FDE 운영 모델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995928"/>
            <a:ext cx="502920" cy="199339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3995928"/>
            <a:ext cx="5029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</a:t>
            </a:r>
            <a:endParaRPr lang="en-US" sz="1400" dirty="0"/>
          </a:p>
        </p:txBody>
      </p:sp>
      <p:sp>
        <p:nvSpPr>
          <p:cNvPr id="22" name="ex-title-1"/>
          <p:cNvSpPr/>
          <p:nvPr/>
        </p:nvSpPr>
        <p:spPr>
          <a:xfrm>
            <a:off x="941832" y="3995928"/>
            <a:ext cx="2148840" cy="457200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1832" y="39959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현장 밀착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45536" y="3995928"/>
            <a:ext cx="33924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82696" y="39959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상주, 실데이터·시스템 기반 개발</a:t>
            </a:r>
            <a:endParaRPr lang="en-US" sz="1250" dirty="0"/>
          </a:p>
        </p:txBody>
      </p:sp>
      <p:sp>
        <p:nvSpPr>
          <p:cNvPr id="26" name="ex-title-2"/>
          <p:cNvSpPr/>
          <p:nvPr/>
        </p:nvSpPr>
        <p:spPr>
          <a:xfrm>
            <a:off x="941832" y="4507992"/>
            <a:ext cx="2148840" cy="457200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1832" y="45079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전략–엔지니어링 통합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45536" y="4507992"/>
            <a:ext cx="33924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82696" y="450799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전략을 시스템·프로세스로 즉시 구현</a:t>
            </a:r>
            <a:endParaRPr lang="en-US" sz="1250" dirty="0"/>
          </a:p>
        </p:txBody>
      </p:sp>
      <p:sp>
        <p:nvSpPr>
          <p:cNvPr id="30" name="ex-title-3"/>
          <p:cNvSpPr/>
          <p:nvPr/>
        </p:nvSpPr>
        <p:spPr>
          <a:xfrm>
            <a:off x="941832" y="5020056"/>
            <a:ext cx="2148840" cy="457200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1832" y="502005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산업·기능 전문성 결합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145536" y="5020056"/>
            <a:ext cx="33924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82696" y="5020056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Biz·IT·AI·Data 융합 One Pod 운영</a:t>
            </a:r>
            <a:endParaRPr lang="en-US" sz="1250" dirty="0"/>
          </a:p>
        </p:txBody>
      </p:sp>
      <p:sp>
        <p:nvSpPr>
          <p:cNvPr id="34" name="ex-title-4"/>
          <p:cNvSpPr/>
          <p:nvPr/>
        </p:nvSpPr>
        <p:spPr>
          <a:xfrm>
            <a:off x="941832" y="5532120"/>
            <a:ext cx="2148840" cy="457200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1832" y="5532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책임 · 자산화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145536" y="5532120"/>
            <a:ext cx="33924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82696" y="55321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KPI로 성과 측정, 자산화 후 전사 확산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180136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accenture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1801368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상주 · 성과책임형 FDE Pod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766560" y="2185416"/>
            <a:ext cx="347472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9712" y="2258568"/>
            <a:ext cx="21945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39712" y="2258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2240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현장 투입 · 실행 사이클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876288" y="2551176"/>
            <a:ext cx="704088" cy="320040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76288" y="2551176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98664" y="2711196"/>
            <a:ext cx="109728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726680" y="2551176"/>
            <a:ext cx="704088" cy="320040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26680" y="2551176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공동설계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449056" y="2711196"/>
            <a:ext cx="109728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577072" y="2551176"/>
            <a:ext cx="704088" cy="320040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577072" y="2551176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프로토타입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99448" y="2711196"/>
            <a:ext cx="109728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427464" y="2551176"/>
            <a:ext cx="704088" cy="320040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427464" y="2551176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배포·성과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766560" y="3035808"/>
            <a:ext cx="347472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39712" y="3108960"/>
            <a:ext cx="21945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839712" y="3108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7132320" y="30906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자산화 · 표준화 확산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876288" y="3401568"/>
            <a:ext cx="75895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876288" y="3401568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708392" y="3401568"/>
            <a:ext cx="75895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708392" y="3401568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플레이북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8540496" y="3401568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372600" y="3401568"/>
            <a:ext cx="75895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372600" y="3401568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스킬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0561320" y="2185416"/>
            <a:ext cx="1261872" cy="1627632"/>
          </a:xfrm>
          <a:prstGeom prst="rect">
            <a:avLst/>
          </a:prstGeom>
          <a:solidFill>
            <a:srgbClr val="DAE3F3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634472" y="2258568"/>
            <a:ext cx="21945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634472" y="2258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0963656" y="2276856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pic>
        <p:nvPicPr>
          <p:cNvPr id="70" name="Image 0" descr="/tmp/claude-0/-home-user-qhsghks/bd147a9d-e025-5cd1-aa7e-d391ccb85bb6/scratchpad/icon-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2386584"/>
            <a:ext cx="237744" cy="237744"/>
          </a:xfrm>
          <a:prstGeom prst="rect">
            <a:avLst/>
          </a:prstGeom>
        </p:spPr>
      </p:pic>
      <p:sp>
        <p:nvSpPr>
          <p:cNvPr id="71" name="Text 68"/>
          <p:cNvSpPr txBox="1"/>
          <p:nvPr/>
        </p:nvSpPr>
        <p:spPr>
          <a:xfrm>
            <a:off x="10561320" y="276148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Pod</a:t>
            </a:r>
            <a:endParaRPr lang="en-US" sz="1150" dirty="0"/>
          </a:p>
        </p:txBody>
      </p:sp>
      <p:sp>
        <p:nvSpPr>
          <p:cNvPr id="72" name="Text 69"/>
          <p:cNvSpPr txBox="1"/>
          <p:nvPr/>
        </p:nvSpPr>
        <p:spPr>
          <a:xfrm>
            <a:off x="10561320" y="30083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엔지니어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아키텍트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제품관리자</a:t>
            </a:r>
            <a:endParaRPr lang="en-US" sz="950" dirty="0"/>
          </a:p>
        </p:txBody>
      </p:sp>
      <p:sp>
        <p:nvSpPr>
          <p:cNvPr id="73" name="Text 70"/>
          <p:cNvSpPr txBox="1"/>
          <p:nvPr/>
        </p:nvSpPr>
        <p:spPr>
          <a:xfrm>
            <a:off x="10561320" y="348386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책임</a:t>
            </a:r>
            <a:endParaRPr lang="en-US" sz="1150" dirty="0"/>
          </a:p>
        </p:txBody>
      </p:sp>
      <p:sp>
        <p:nvSpPr>
          <p:cNvPr id="74" name="Shape 71"/>
          <p:cNvSpPr/>
          <p:nvPr/>
        </p:nvSpPr>
        <p:spPr>
          <a:xfrm flipH="1" flipV="1">
            <a:off x="10268712" y="2574036"/>
            <a:ext cx="292608" cy="425196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75" name="Shape 72"/>
          <p:cNvSpPr/>
          <p:nvPr/>
        </p:nvSpPr>
        <p:spPr>
          <a:xfrm flipH="1">
            <a:off x="10268712" y="2999232"/>
            <a:ext cx="292608" cy="425196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76" name="Shape 73"/>
          <p:cNvSpPr/>
          <p:nvPr/>
        </p:nvSpPr>
        <p:spPr>
          <a:xfrm>
            <a:off x="6766560" y="3895344"/>
            <a:ext cx="505663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dash"/>
          </a:ln>
        </p:spPr>
      </p:sp>
      <p:sp>
        <p:nvSpPr>
          <p:cNvPr id="77" name="Text 74"/>
          <p:cNvSpPr txBox="1"/>
          <p:nvPr/>
        </p:nvSpPr>
        <p:spPr>
          <a:xfrm>
            <a:off x="6766560" y="39776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SAMSUNG SDS</a:t>
            </a:r>
            <a:endParaRPr lang="en-US" sz="1500" dirty="0"/>
          </a:p>
        </p:txBody>
      </p:sp>
      <p:sp>
        <p:nvSpPr>
          <p:cNvPr id="78" name="Text 75"/>
          <p:cNvSpPr txBox="1"/>
          <p:nvPr/>
        </p:nvSpPr>
        <p:spPr>
          <a:xfrm>
            <a:off x="8412480" y="397764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방법론 · Agent 기반 FDE One Pod</a:t>
            </a:r>
            <a:endParaRPr lang="en-US" sz="1250" dirty="0"/>
          </a:p>
        </p:txBody>
      </p:sp>
      <p:sp>
        <p:nvSpPr>
          <p:cNvPr id="79" name="Shape 76"/>
          <p:cNvSpPr/>
          <p:nvPr/>
        </p:nvSpPr>
        <p:spPr>
          <a:xfrm>
            <a:off x="6766560" y="4361688"/>
            <a:ext cx="347472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6839712" y="4434840"/>
            <a:ext cx="21945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6839712" y="4434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Text 79"/>
          <p:cNvSpPr txBox="1"/>
          <p:nvPr/>
        </p:nvSpPr>
        <p:spPr>
          <a:xfrm>
            <a:off x="7132320" y="44165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방법론 (짧은 Sprint 반복)</a:t>
            </a:r>
            <a:endParaRPr lang="en-US" sz="1150" dirty="0"/>
          </a:p>
        </p:txBody>
      </p:sp>
      <p:sp>
        <p:nvSpPr>
          <p:cNvPr id="83" name="Shape 80"/>
          <p:cNvSpPr/>
          <p:nvPr/>
        </p:nvSpPr>
        <p:spPr>
          <a:xfrm>
            <a:off x="6876288" y="4727448"/>
            <a:ext cx="704088" cy="320040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6876288" y="4727448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7598664" y="4887468"/>
            <a:ext cx="109728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86" name="Shape 83"/>
          <p:cNvSpPr/>
          <p:nvPr/>
        </p:nvSpPr>
        <p:spPr>
          <a:xfrm>
            <a:off x="7726680" y="4727448"/>
            <a:ext cx="704088" cy="320040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726680" y="4727448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Re-Design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8449056" y="4887468"/>
            <a:ext cx="109728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89" name="Shape 86"/>
          <p:cNvSpPr/>
          <p:nvPr/>
        </p:nvSpPr>
        <p:spPr>
          <a:xfrm>
            <a:off x="8577072" y="4727448"/>
            <a:ext cx="704088" cy="320040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8577072" y="4727448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Activate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9299448" y="4887468"/>
            <a:ext cx="109728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92" name="Shape 89"/>
          <p:cNvSpPr/>
          <p:nvPr/>
        </p:nvSpPr>
        <p:spPr>
          <a:xfrm>
            <a:off x="9427464" y="4727448"/>
            <a:ext cx="704088" cy="320040"/>
          </a:xfrm>
          <a:prstGeom prst="rect">
            <a:avLst/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9427464" y="4727448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Scale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6766560" y="5212080"/>
            <a:ext cx="347472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6839712" y="5285232"/>
            <a:ext cx="21945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6839712" y="5285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97" name="Text 94"/>
          <p:cNvSpPr txBox="1"/>
          <p:nvPr/>
        </p:nvSpPr>
        <p:spPr>
          <a:xfrm>
            <a:off x="7132320" y="5266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 · Agent 기반 가속</a:t>
            </a:r>
            <a:endParaRPr lang="en-US" sz="1150" dirty="0"/>
          </a:p>
        </p:txBody>
      </p:sp>
      <p:sp>
        <p:nvSpPr>
          <p:cNvPr id="98" name="Shape 95"/>
          <p:cNvSpPr/>
          <p:nvPr/>
        </p:nvSpPr>
        <p:spPr>
          <a:xfrm>
            <a:off x="6876288" y="5577840"/>
            <a:ext cx="75895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6876288" y="5577840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 활용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7708392" y="5577840"/>
            <a:ext cx="75895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7708392" y="5577840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Agent</a:t>
            </a:r>
            <a:endParaRPr lang="en-US" sz="1000" dirty="0"/>
          </a:p>
        </p:txBody>
      </p:sp>
      <p:sp>
        <p:nvSpPr>
          <p:cNvPr id="102" name="Text 99"/>
          <p:cNvSpPr txBox="1"/>
          <p:nvPr/>
        </p:nvSpPr>
        <p:spPr>
          <a:xfrm>
            <a:off x="8540496" y="5577840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</a:t>
            </a:r>
            <a:endParaRPr lang="en-US" sz="1600" dirty="0"/>
          </a:p>
        </p:txBody>
      </p:sp>
      <p:sp>
        <p:nvSpPr>
          <p:cNvPr id="103" name="Shape 100"/>
          <p:cNvSpPr/>
          <p:nvPr/>
        </p:nvSpPr>
        <p:spPr>
          <a:xfrm>
            <a:off x="9372600" y="5577840"/>
            <a:ext cx="75895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9372600" y="5577840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10561320" y="4361688"/>
            <a:ext cx="1261872" cy="1627632"/>
          </a:xfrm>
          <a:prstGeom prst="rect">
            <a:avLst/>
          </a:prstGeom>
          <a:solidFill>
            <a:srgbClr val="DAE3F3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10634472" y="4434840"/>
            <a:ext cx="21945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10634472" y="4434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08" name="Shape 105"/>
          <p:cNvSpPr/>
          <p:nvPr/>
        </p:nvSpPr>
        <p:spPr>
          <a:xfrm>
            <a:off x="10963656" y="4453128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pic>
        <p:nvPicPr>
          <p:cNvPr id="109" name="Image 1" descr="/tmp/claude-0/-home-user-qhsghks/bd147a9d-e025-5cd1-aa7e-d391ccb85bb6/scratchpad/icon-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384" y="4562856"/>
            <a:ext cx="237744" cy="237744"/>
          </a:xfrm>
          <a:prstGeom prst="rect">
            <a:avLst/>
          </a:prstGeom>
        </p:spPr>
      </p:pic>
      <p:sp>
        <p:nvSpPr>
          <p:cNvPr id="110" name="Text 106"/>
          <p:cNvSpPr txBox="1"/>
          <p:nvPr/>
        </p:nvSpPr>
        <p:spPr>
          <a:xfrm>
            <a:off x="10561320" y="493776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One Pod</a:t>
            </a:r>
            <a:endParaRPr lang="en-US" sz="1150" dirty="0"/>
          </a:p>
        </p:txBody>
      </p:sp>
      <p:sp>
        <p:nvSpPr>
          <p:cNvPr id="111" name="Text 107"/>
          <p:cNvSpPr txBox="1"/>
          <p:nvPr/>
        </p:nvSpPr>
        <p:spPr>
          <a:xfrm>
            <a:off x="10561320" y="51846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Biz·프로세스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IT·AI·Data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고객</a:t>
            </a:r>
            <a:endParaRPr lang="en-US" sz="950" dirty="0"/>
          </a:p>
        </p:txBody>
      </p:sp>
      <p:sp>
        <p:nvSpPr>
          <p:cNvPr id="112" name="Text 108"/>
          <p:cNvSpPr txBox="1"/>
          <p:nvPr/>
        </p:nvSpPr>
        <p:spPr>
          <a:xfrm>
            <a:off x="10561320" y="56601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'26년 200명</a:t>
            </a:r>
            <a:endParaRPr lang="en-US" sz="1150" dirty="0"/>
          </a:p>
        </p:txBody>
      </p:sp>
      <p:sp>
        <p:nvSpPr>
          <p:cNvPr id="113" name="Shape 109"/>
          <p:cNvSpPr/>
          <p:nvPr/>
        </p:nvSpPr>
        <p:spPr>
          <a:xfrm flipH="1" flipV="1">
            <a:off x="10268712" y="4750308"/>
            <a:ext cx="292608" cy="425196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14" name="Shape 110"/>
          <p:cNvSpPr/>
          <p:nvPr/>
        </p:nvSpPr>
        <p:spPr>
          <a:xfrm flipH="1">
            <a:off x="10268712" y="5175504"/>
            <a:ext cx="292608" cy="425196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15" name="implication"/>
          <p:cNvSpPr/>
          <p:nvPr/>
        </p:nvSpPr>
        <p:spPr>
          <a:xfrm>
            <a:off x="365760" y="6117336"/>
            <a:ext cx="11457432" cy="457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6" name="Text 112"/>
          <p:cNvSpPr txBox="1"/>
          <p:nvPr/>
        </p:nvSpPr>
        <p:spPr>
          <a:xfrm>
            <a:off x="548640" y="611733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 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투입형 융합 Pod로 </a:t>
            </a:r>
            <a:pPr algn="ctr" indent="0" marL="0">
              <a:buNone/>
            </a:pPr>
            <a:r>
              <a:rPr lang="en-US" sz="150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'빠른 실행 → 성과 책임 → 확산'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구조 확보가 AX 성공의 관건</a:t>
            </a:r>
            <a:endParaRPr lang="en-US" sz="1500" dirty="0"/>
          </a:p>
        </p:txBody>
      </p:sp>
      <p:sp>
        <p:nvSpPr>
          <p:cNvPr id="117" name="Text 113"/>
          <p:cNvSpPr txBox="1"/>
          <p:nvPr/>
        </p:nvSpPr>
        <p:spPr>
          <a:xfrm>
            <a:off x="365760" y="6611112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FDE(Forward Deployed Engineer): 고객 현장에 상주하며 성과까지 책임지는 융합형 엔지니어   |   출처: Accenture 공개자료, Real Summit 2026 삼성SDS 대표이사 기조연설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FDE">
  <a:themeElements>
    <a:clrScheme name="AX FDE">
      <a:dk1>
        <a:srgbClr val="000000"/>
      </a:dk1>
      <a:lt1>
        <a:srgbClr val="FFFFFF"/>
      </a:lt1>
      <a:dk2>
        <a:srgbClr val="1F2A44"/>
      </a:dk2>
      <a:lt2>
        <a:srgbClr val="F2F2F2"/>
      </a:lt2>
      <a:accent1>
        <a:srgbClr val="2F5597"/>
      </a:accent1>
      <a:accent2>
        <a:srgbClr val="4A5674"/>
      </a:accent2>
      <a:accent3>
        <a:srgbClr val="595959"/>
      </a:accent3>
      <a:accent4>
        <a:srgbClr val="E8ECF4"/>
      </a:accent4>
      <a:accent5>
        <a:srgbClr val="FFD966"/>
      </a:accent5>
      <a:accent6>
        <a:srgbClr val="A100FF"/>
      </a:accent6>
      <a:hlink>
        <a:srgbClr val="2F5597"/>
      </a:hlink>
      <a:folHlink>
        <a:srgbClr val="4A5674"/>
      </a:folHlink>
    </a:clrScheme>
    <a:fontScheme name="AX F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전환 성공 조건 - FDE 운영 모델 (임원 보고)</dc:title>
  <dc:subject>PptxGenJS Presentation</dc:subject>
  <dc:creator>PptxGenJS</dc:creator>
  <cp:lastModifiedBy>PptxGenJS</cp:lastModifiedBy>
  <cp:revision>1</cp:revision>
  <dcterms:created xsi:type="dcterms:W3CDTF">2026-10-19T04:18:12Z</dcterms:created>
  <dcterms:modified xsi:type="dcterms:W3CDTF">2026-10-19T04:18:12Z</dcterms:modified>
</cp:coreProperties>
</file>