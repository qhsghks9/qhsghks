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03. 프로젝트 추진방안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롯데월드 Value Chain 내 핵심 업무 영역을 도출하고, '업무 재설계(Agent 도입)'와 '신규 서비스(가치 창출)' 두 관점으로 AI 과제를 발굴하며, 핵심 과제는 프로토타입으로 구현해 실행 가능성을 검증함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36192"/>
            <a:ext cx="32918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과제 도출 접근 방법</a:t>
            </a:r>
          </a:p>
        </p:txBody>
      </p:sp>
      <p:sp>
        <p:nvSpPr>
          <p:cNvPr id="5" name="Pentagon 4"/>
          <p:cNvSpPr/>
          <p:nvPr/>
        </p:nvSpPr>
        <p:spPr>
          <a:xfrm>
            <a:off x="365760" y="1920240"/>
            <a:ext cx="3337560" cy="4572000"/>
          </a:xfrm>
          <a:prstGeom prst="homePlate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9C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29968"/>
            <a:ext cx="2697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[STEP 1] 핵심 업무 영역 도출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22576"/>
            <a:ext cx="26060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10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7대 Value Chain 진단으로 업무량·Pain Point·데이터 기준 핵심 영역 3~4개 선정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907792"/>
            <a:ext cx="2606040" cy="0"/>
          </a:xfrm>
          <a:prstGeom prst="line">
            <a:avLst/>
          </a:prstGeom>
          <a:ln w="9525">
            <a:solidFill>
              <a:srgbClr val="A6A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962656"/>
            <a:ext cx="2697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[STEP 2] 두 관점의 과제 도출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55264"/>
            <a:ext cx="26060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10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업무 재설계(Agent 도입)와 가치 창출(신규 서비스) 관점의 현업 워크샵으로 과제 발굴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840480"/>
            <a:ext cx="2606040" cy="0"/>
          </a:xfrm>
          <a:prstGeom prst="line">
            <a:avLst/>
          </a:prstGeom>
          <a:ln w="9525">
            <a:solidFill>
              <a:srgbClr val="A6A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895344"/>
            <a:ext cx="2697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[STEP 3] 우선순위화 및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87952"/>
            <a:ext cx="26060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10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임팩트·실현성·데이터 준비도 평가 후 핵심 과제를 n8n·바이브 코딩으로 프로토타입 구현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417320" y="4892040"/>
            <a:ext cx="822960" cy="457200"/>
          </a:xfrm>
          <a:prstGeom prst="down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440680"/>
            <a:ext cx="2880360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실행 가능성이 검증된</a:t>
            </a:r>
          </a:p>
          <a:p>
            <a:pPr algn="ctr"/>
            <a:r>
              <a:rPr sz="1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롯데월드 AI 과제 Portfolio 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1536192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롯데월드 Value Chain 기반 AI 과제 도출 체계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45920"/>
            <a:ext cx="128016" cy="128016"/>
          </a:xfrm>
          <a:prstGeom prst="rect">
            <a:avLst/>
          </a:prstGeom>
          <a:solidFill>
            <a:srgbClr val="5F6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02368" y="1572768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접점 업무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44200" y="1645920"/>
            <a:ext cx="128016" cy="128016"/>
          </a:xfrm>
          <a:prstGeom prst="rect">
            <a:avLst/>
          </a:prstGeom>
          <a:solidFill>
            <a:srgbClr val="C9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99648" y="1572768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운영·지원 업무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1920240"/>
            <a:ext cx="7909560" cy="4572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entagon 21"/>
          <p:cNvSpPr/>
          <p:nvPr/>
        </p:nvSpPr>
        <p:spPr>
          <a:xfrm>
            <a:off x="4069080" y="2057400"/>
            <a:ext cx="1088136" cy="685800"/>
          </a:xfrm>
          <a:prstGeom prst="homePlate">
            <a:avLst/>
          </a:prstGeom>
          <a:solidFill>
            <a:srgbClr val="C9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2057400"/>
            <a:ext cx="786383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상품기획·</a:t>
            </a:r>
          </a:p>
          <a:p>
            <a:pPr algn="ctr"/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마케팅</a:t>
            </a:r>
          </a:p>
        </p:txBody>
      </p:sp>
      <p:sp>
        <p:nvSpPr>
          <p:cNvPr id="24" name="Chevron 23"/>
          <p:cNvSpPr/>
          <p:nvPr/>
        </p:nvSpPr>
        <p:spPr>
          <a:xfrm>
            <a:off x="5138928" y="2057400"/>
            <a:ext cx="1088136" cy="685800"/>
          </a:xfrm>
          <a:prstGeom prst="chevron">
            <a:avLst/>
          </a:prstGeom>
          <a:solidFill>
            <a:srgbClr val="5F6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2057400"/>
            <a:ext cx="786383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판매·</a:t>
            </a:r>
          </a:p>
          <a:p>
            <a:pPr algn="ctr"/>
            <a:r>
              <a:rPr sz="10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예약</a:t>
            </a:r>
          </a:p>
        </p:txBody>
      </p:sp>
      <p:sp>
        <p:nvSpPr>
          <p:cNvPr id="26" name="Chevron 25"/>
          <p:cNvSpPr/>
          <p:nvPr/>
        </p:nvSpPr>
        <p:spPr>
          <a:xfrm>
            <a:off x="6208776" y="2057400"/>
            <a:ext cx="1088136" cy="685800"/>
          </a:xfrm>
          <a:prstGeom prst="chevron">
            <a:avLst/>
          </a:prstGeom>
          <a:solidFill>
            <a:srgbClr val="5F6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2057400"/>
            <a:ext cx="786383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입장·</a:t>
            </a:r>
          </a:p>
          <a:p>
            <a:pPr algn="ctr"/>
            <a:r>
              <a:rPr sz="10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고객응대</a:t>
            </a:r>
          </a:p>
        </p:txBody>
      </p:sp>
      <p:sp>
        <p:nvSpPr>
          <p:cNvPr id="28" name="Chevron 27"/>
          <p:cNvSpPr/>
          <p:nvPr/>
        </p:nvSpPr>
        <p:spPr>
          <a:xfrm>
            <a:off x="7278624" y="2057400"/>
            <a:ext cx="1088136" cy="685800"/>
          </a:xfrm>
          <a:prstGeom prst="chevron">
            <a:avLst/>
          </a:prstGeom>
          <a:solidFill>
            <a:srgbClr val="5F6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6" y="2057400"/>
            <a:ext cx="786383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어트랙션·</a:t>
            </a:r>
          </a:p>
          <a:p>
            <a:pPr algn="ctr"/>
            <a:r>
              <a:rPr sz="10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공연 운영</a:t>
            </a:r>
          </a:p>
        </p:txBody>
      </p:sp>
      <p:sp>
        <p:nvSpPr>
          <p:cNvPr id="30" name="Chevron 29"/>
          <p:cNvSpPr/>
          <p:nvPr/>
        </p:nvSpPr>
        <p:spPr>
          <a:xfrm>
            <a:off x="8348471" y="2057400"/>
            <a:ext cx="1088136" cy="685800"/>
          </a:xfrm>
          <a:prstGeom prst="chevron">
            <a:avLst/>
          </a:prstGeom>
          <a:solidFill>
            <a:srgbClr val="5F6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13063" y="2057400"/>
            <a:ext cx="786383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F&amp;B·</a:t>
            </a:r>
          </a:p>
          <a:p>
            <a:pPr algn="ctr"/>
            <a:r>
              <a:rPr sz="10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MD</a:t>
            </a:r>
          </a:p>
        </p:txBody>
      </p:sp>
      <p:sp>
        <p:nvSpPr>
          <p:cNvPr id="32" name="Chevron 31"/>
          <p:cNvSpPr/>
          <p:nvPr/>
        </p:nvSpPr>
        <p:spPr>
          <a:xfrm>
            <a:off x="9418320" y="2057400"/>
            <a:ext cx="1088136" cy="685800"/>
          </a:xfrm>
          <a:prstGeom prst="chevron">
            <a:avLst/>
          </a:prstGeom>
          <a:solidFill>
            <a:srgbClr val="C9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82912" y="2057400"/>
            <a:ext cx="786383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시설·</a:t>
            </a:r>
          </a:p>
          <a:p>
            <a:pPr algn="ctr"/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안전관리</a:t>
            </a:r>
          </a:p>
        </p:txBody>
      </p:sp>
      <p:sp>
        <p:nvSpPr>
          <p:cNvPr id="34" name="Chevron 33"/>
          <p:cNvSpPr/>
          <p:nvPr/>
        </p:nvSpPr>
        <p:spPr>
          <a:xfrm>
            <a:off x="10488167" y="2057400"/>
            <a:ext cx="1088136" cy="685800"/>
          </a:xfrm>
          <a:prstGeom prst="chevron">
            <a:avLst/>
          </a:prstGeom>
          <a:solidFill>
            <a:srgbClr val="C9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52759" y="2057400"/>
            <a:ext cx="786383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경영</a:t>
            </a:r>
          </a:p>
          <a:p>
            <a:pPr algn="ctr"/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지원</a:t>
            </a:r>
          </a:p>
        </p:txBody>
      </p:sp>
      <p:sp>
        <p:nvSpPr>
          <p:cNvPr id="36" name="Trapezoid 35"/>
          <p:cNvSpPr/>
          <p:nvPr/>
        </p:nvSpPr>
        <p:spPr>
          <a:xfrm rot="10800000">
            <a:off x="4983480" y="2788920"/>
            <a:ext cx="6675120" cy="320040"/>
          </a:xfrm>
          <a:prstGeom prst="trapezoid">
            <a:avLst/>
          </a:prstGeom>
          <a:solidFill>
            <a:srgbClr val="DC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3480" y="2788920"/>
            <a:ext cx="6675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STEP 1 · Value Chain 진단으로 핵심 업무 영역 3~4개 선정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3480" y="3200400"/>
            <a:ext cx="3108960" cy="5486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STEP 2  </a:t>
            </a:r>
            <a:r>
              <a:rPr sz="15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Agent 도입</a:t>
            </a:r>
          </a:p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(업무 재설계)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3200400"/>
            <a:ext cx="3108960" cy="5486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STEP 2  </a:t>
            </a:r>
            <a:r>
              <a:rPr sz="15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 서비스</a:t>
            </a:r>
          </a:p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(가치 창출)</a:t>
            </a:r>
          </a:p>
        </p:txBody>
      </p:sp>
      <p:sp>
        <p:nvSpPr>
          <p:cNvPr id="40" name="Oval 39"/>
          <p:cNvSpPr/>
          <p:nvPr/>
        </p:nvSpPr>
        <p:spPr>
          <a:xfrm>
            <a:off x="8165592" y="3310128"/>
            <a:ext cx="329184" cy="329184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7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3813048"/>
            <a:ext cx="30175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반복·판단 업무를 Agent가 수행하도록</a:t>
            </a:r>
          </a:p>
          <a:p>
            <a:pPr algn="l"/>
            <a:r>
              <a:rPr sz="110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업무 흐름 재설계 → 처리시간·인력 절감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983480" y="4544568"/>
            <a:ext cx="3108960" cy="0"/>
          </a:xfrm>
          <a:prstGeom prst="line">
            <a:avLst/>
          </a:prstGeom>
          <a:ln w="9525">
            <a:solidFill>
              <a:srgbClr val="A6A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983480" y="4636008"/>
            <a:ext cx="3108960" cy="1216152"/>
          </a:xfrm>
          <a:prstGeom prst="rect">
            <a:avLst/>
          </a:prstGeom>
          <a:solidFill>
            <a:srgbClr val="FFFFFF"/>
          </a:solidFill>
          <a:ln w="3175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93208" y="4681728"/>
            <a:ext cx="2926079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[고객 응대] VOC 분류·답변 초안 Agent</a:t>
            </a:r>
          </a:p>
          <a:p>
            <a:pPr algn="l">
              <a:spcAft>
                <a:spcPts val="200"/>
              </a:spcAft>
            </a:pPr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[판매·예약] 단체·제휴 예약 처리 Agent</a:t>
            </a:r>
          </a:p>
          <a:p>
            <a:pPr algn="l">
              <a:spcAft>
                <a:spcPts val="200"/>
              </a:spcAft>
            </a:pPr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[시설·안전] 점검·정비 이력 분석 Agent</a:t>
            </a:r>
          </a:p>
          <a:p>
            <a:pPr algn="ctr">
              <a:spcAft>
                <a:spcPts val="2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83480" y="5943600"/>
            <a:ext cx="3108960" cy="411480"/>
          </a:xfrm>
          <a:prstGeom prst="round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 u="none">
                <a:solidFill>
                  <a:srgbClr val="FFE600"/>
                </a:solidFill>
                <a:latin typeface="맑은 고딕"/>
                <a:ea typeface="맑은 고딕"/>
                <a:cs typeface="맑은 고딕"/>
              </a:rPr>
              <a:t>STEP 3  </a:t>
            </a:r>
            <a:r>
              <a:rPr sz="11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n8n 기반 업무 자동화 Agent 워크플로우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813048"/>
            <a:ext cx="30175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기반 신규 고객 서비스로 경험·매출</a:t>
            </a:r>
          </a:p>
          <a:p>
            <a:pPr algn="l"/>
            <a:r>
              <a:rPr sz="110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가치 창출 → 객단가·재방문율 제고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549640" y="4544568"/>
            <a:ext cx="3108960" cy="0"/>
          </a:xfrm>
          <a:prstGeom prst="line">
            <a:avLst/>
          </a:prstGeom>
          <a:ln w="9525">
            <a:solidFill>
              <a:srgbClr val="A6A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549640" y="4636008"/>
            <a:ext cx="3108960" cy="1216152"/>
          </a:xfrm>
          <a:prstGeom prst="rect">
            <a:avLst/>
          </a:prstGeom>
          <a:solidFill>
            <a:srgbClr val="FFFFFF"/>
          </a:solidFill>
          <a:ln w="3175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59367" y="4681728"/>
            <a:ext cx="2926079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[고객 경험] 대기시간 기반 AI 컨시어지</a:t>
            </a:r>
          </a:p>
          <a:p>
            <a:pPr algn="l">
              <a:spcAft>
                <a:spcPts val="200"/>
              </a:spcAft>
            </a:pPr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[IP] 로티·로리 AI 대화 캐릭터</a:t>
            </a:r>
          </a:p>
          <a:p>
            <a:pPr algn="l">
              <a:spcAft>
                <a:spcPts val="200"/>
              </a:spcAft>
            </a:pPr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[MD] AI 포토·영상 굿즈</a:t>
            </a:r>
          </a:p>
          <a:p>
            <a:pPr algn="ctr">
              <a:spcAft>
                <a:spcPts val="200"/>
              </a:spcAft>
            </a:pPr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⋮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49640" y="5943600"/>
            <a:ext cx="3108960" cy="411480"/>
          </a:xfrm>
          <a:prstGeom prst="round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 u="none">
                <a:solidFill>
                  <a:srgbClr val="FFE600"/>
                </a:solidFill>
                <a:latin typeface="맑은 고딕"/>
                <a:ea typeface="맑은 고딕"/>
                <a:cs typeface="맑은 고딕"/>
              </a:rPr>
              <a:t>STEP 3  </a:t>
            </a:r>
            <a:r>
              <a:rPr sz="11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바이브 코딩 기반 고객 서비스 화면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0" y="3813048"/>
            <a:ext cx="86868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3360" y="4636008"/>
            <a:ext cx="868680" cy="12161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과제</a:t>
            </a:r>
          </a:p>
          <a:p>
            <a:pPr algn="ctr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23360" y="5943600"/>
            <a:ext cx="8686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프로토</a:t>
            </a:r>
          </a:p>
          <a:p>
            <a:pPr algn="ctr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타입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※ 과제 예시는 가설이며, 실제 과제는 현황 진단 및 현업 워크샵을 통해 도출  /  프로토타입은 샘플·마스킹 데이터 기반으로 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