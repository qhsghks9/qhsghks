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[현업 역할] 꼭 필요한 활동에만 표기</a:t>
            </a:r>
          </a:p>
          <a:p>
            <a:r>
              <a:t>P1 의견 청취 - Pain Point 제공: 현업 인터뷰를 통해 실제 문제를 제기</a:t>
            </a:r>
          </a:p>
          <a:p>
            <a:r>
              <a:t>P2 As-Is 분석 - 업무 흐름 설명: 실제 업무 흐름과 예외 사례를 설명</a:t>
            </a:r>
          </a:p>
          <a:p>
            <a:r>
              <a:t>P3 기술 타당성 검증 - 업무 데이터 제공: 검증용 데이터·샘플 제공</a:t>
            </a:r>
          </a:p>
          <a:p>
            <a:r>
              <a:t>P3 과제 확정 - 과제 Owner 지정: 과제별 현업 책임자 지정</a:t>
            </a:r>
          </a:p>
          <a:p>
            <a:r>
              <a:t>P4 사용자 테스트 - 사용자 테스트 수행: 직접 테스트하고 개선 요구사항 제기</a:t>
            </a:r>
          </a:p>
          <a:p>
            <a:r>
              <a:t>P5 KPI 확정 - KPI 목표 합의: 성과 목표를 현업과 합의</a:t>
            </a:r>
          </a:p>
          <a:p>
            <a:r>
              <a:t>P5 운영 이관 - 운영 인수·정착: 운영 인수 및 현장 활용 정착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 추진 역할 및 조직 (案)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그룹사 Agent 적용방안 기반에 AX컨설팅팀, AI혁신센터, IS팀, 현업 등 역할을 나누어 실행력 확보가 필요함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691640"/>
          <a:ext cx="11365992" cy="4983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4507992"/>
                <a:gridCol w="1234440"/>
                <a:gridCol w="1234440"/>
                <a:gridCol w="1234440"/>
                <a:gridCol w="17373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5720" marR="45720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활동</a:t>
                      </a:r>
                    </a:p>
                  </a:txBody>
                  <a:tcPr marL="45720" marR="45720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AX컨설팅팀</a:t>
                      </a:r>
                    </a:p>
                  </a:txBody>
                  <a:tcPr marL="45720" marR="45720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AI혁신센터</a:t>
                      </a:r>
                    </a:p>
                  </a:txBody>
                  <a:tcPr marL="45720" marR="45720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IS팀</a:t>
                      </a:r>
                    </a:p>
                  </a:txBody>
                  <a:tcPr marL="45720" marR="45720" marT="18288" marB="18288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현업</a:t>
                      </a:r>
                    </a:p>
                  </a:txBody>
                  <a:tcPr marL="45720" marR="45720" marT="18288" marB="18288" anchor="ctr">
                    <a:solidFill>
                      <a:srgbClr val="203864"/>
                    </a:solidFill>
                  </a:tcPr>
                </a:tc>
              </a:tr>
              <a:tr h="301752">
                <a:tc rowSpan="3">
                  <a:txBody>
                    <a:bodyPr wrap="square"/>
                    <a:lstStyle/>
                    <a:p>
                      <a:pPr algn="ctr"/>
                      <a:r>
                        <a:rPr sz="1100" b="0" i="1" u="none">
                          <a:solidFill>
                            <a:srgbClr val="D9D9D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1</a:t>
                      </a:r>
                    </a:p>
                    <a:p>
                      <a:pPr algn="ctr"/>
                      <a:r>
                        <a:rPr sz="12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 정의 · 발굴</a:t>
                      </a:r>
                    </a:p>
                  </a:txBody>
                  <a:tcPr marL="45720" marR="45720" marT="18288" marB="18288" anchor="ctr">
                    <a:solidFill>
                      <a:srgbClr val="7F7F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유관 조직 경영진 및 실무자 의견 청취</a:t>
                      </a:r>
                    </a:p>
                  </a:txBody>
                  <a:tcPr marL="10972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</a:p>
                  </a:txBody>
                  <a:tcPr marL="45720" marR="45720" marT="18288" marB="18288" anchor="ctr">
                    <a:solidFill>
                      <a:srgbClr val="1F3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협업</a:t>
                      </a:r>
                    </a:p>
                  </a:txBody>
                  <a:tcPr marL="45720" marR="45720" marT="18288" marB="18288" anchor="ctr">
                    <a:solidFill>
                      <a:srgbClr val="5B8E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 u="none">
                          <a:solidFill>
                            <a:srgbClr val="1F3F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Pain Point 제공</a:t>
                      </a:r>
                    </a:p>
                  </a:txBody>
                  <a:tcPr marL="45720" marR="45720" marT="18288" marB="18288" anchor="ctr">
                    <a:solidFill>
                      <a:srgbClr val="EAF0F8"/>
                    </a:solidFill>
                  </a:tcPr>
                </a:tc>
              </a:tr>
              <a:tr h="30175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 정의 및 핵심 기대효과</a:t>
                      </a:r>
                      <a:r>
                        <a:rPr sz="11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(KPI) 가설 수립</a:t>
                      </a:r>
                    </a:p>
                  </a:txBody>
                  <a:tcPr marL="10972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</a:p>
                  </a:txBody>
                  <a:tcPr marL="45720" marR="45720" marT="18288" marB="18288" anchor="ctr">
                    <a:solidFill>
                      <a:srgbClr val="1F3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8C8C8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45720" marR="45720" marT="18288" marB="18288" anchor="ctr">
                    <a:solidFill>
                      <a:srgbClr val="DCE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 u="none">
                          <a:solidFill>
                            <a:srgbClr val="1F3F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 과제 후보 선정</a:t>
                      </a:r>
                      <a:r>
                        <a:rPr sz="11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(AI Agent 적용 가능성 초기 검토)</a:t>
                      </a:r>
                    </a:p>
                  </a:txBody>
                  <a:tcPr marL="10972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</a:p>
                  </a:txBody>
                  <a:tcPr marL="45720" marR="45720" marT="18288" marB="18288" anchor="ctr">
                    <a:solidFill>
                      <a:srgbClr val="1F3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8C8C8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45720" marR="45720" marT="18288" marB="18288" anchor="ctr">
                    <a:solidFill>
                      <a:srgbClr val="DCE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8C8C8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45720" marR="45720" marT="18288" marB="18288" anchor="ctr">
                    <a:solidFill>
                      <a:srgbClr val="DCE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 u="none">
                          <a:solidFill>
                            <a:srgbClr val="1F3F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 rowSpan="3">
                  <a:txBody>
                    <a:bodyPr wrap="square"/>
                    <a:lstStyle/>
                    <a:p>
                      <a:pPr algn="ctr"/>
                      <a:r>
                        <a:rPr sz="1100" b="0" i="1" u="none">
                          <a:solidFill>
                            <a:srgbClr val="D9D9D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2</a:t>
                      </a:r>
                    </a:p>
                    <a:p>
                      <a:pPr algn="ctr"/>
                      <a:r>
                        <a:rPr sz="12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재설계</a:t>
                      </a:r>
                    </a:p>
                  </a:txBody>
                  <a:tcPr marL="45720" marR="45720" marT="18288" marB="18288" anchor="ctr">
                    <a:solidFill>
                      <a:srgbClr val="7F7F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As-Is 프로세스 분석 및 병목 진단</a:t>
                      </a:r>
                    </a:p>
                  </a:txBody>
                  <a:tcPr marL="10972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</a:p>
                  </a:txBody>
                  <a:tcPr marL="45720" marR="45720" marT="18288" marB="18288" anchor="ctr">
                    <a:solidFill>
                      <a:srgbClr val="1F3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8C8C8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45720" marR="45720" marT="18288" marB="18288" anchor="ctr">
                    <a:solidFill>
                      <a:srgbClr val="DCE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 u="none">
                          <a:solidFill>
                            <a:srgbClr val="1F3F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흐름 설명</a:t>
                      </a:r>
                    </a:p>
                  </a:txBody>
                  <a:tcPr marL="45720" marR="45720" marT="18288" marB="18288" anchor="ctr">
                    <a:solidFill>
                      <a:srgbClr val="EAF0F8"/>
                    </a:solidFill>
                  </a:tcPr>
                </a:tc>
              </a:tr>
              <a:tr h="30175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To-Be Workflow 설계</a:t>
                      </a:r>
                      <a:r>
                        <a:rPr sz="11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(사람·Agent·시스템 역할 분담)</a:t>
                      </a:r>
                    </a:p>
                  </a:txBody>
                  <a:tcPr marL="10972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</a:p>
                  </a:txBody>
                  <a:tcPr marL="45720" marR="45720" marT="18288" marB="18288" anchor="ctr">
                    <a:solidFill>
                      <a:srgbClr val="1F3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협업</a:t>
                      </a:r>
                    </a:p>
                  </a:txBody>
                  <a:tcPr marL="45720" marR="45720" marT="18288" marB="18288" anchor="ctr">
                    <a:solidFill>
                      <a:srgbClr val="5B8E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8C8C8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45720" marR="45720" marT="18288" marB="18288" anchor="ctr">
                    <a:solidFill>
                      <a:srgbClr val="DCE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 u="none">
                          <a:solidFill>
                            <a:srgbClr val="1F3F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레거시 시스템 연계 및 제약 사항 검토</a:t>
                      </a:r>
                    </a:p>
                  </a:txBody>
                  <a:tcPr marL="10972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8C8C8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45720" marR="45720" marT="18288" marB="18288" anchor="ctr">
                    <a:solidFill>
                      <a:srgbClr val="DCE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협업</a:t>
                      </a:r>
                    </a:p>
                  </a:txBody>
                  <a:tcPr marL="45720" marR="45720" marT="18288" marB="18288" anchor="ctr">
                    <a:solidFill>
                      <a:srgbClr val="5B8E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</a:p>
                  </a:txBody>
                  <a:tcPr marL="45720" marR="45720" marT="18288" marB="18288" anchor="ctr">
                    <a:solidFill>
                      <a:srgbClr val="1F3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 u="none">
                          <a:solidFill>
                            <a:srgbClr val="1F3F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 rowSpan="3">
                  <a:txBody>
                    <a:bodyPr wrap="square"/>
                    <a:lstStyle/>
                    <a:p>
                      <a:pPr algn="ctr"/>
                      <a:r>
                        <a:rPr sz="1100" b="0" i="1" u="none">
                          <a:solidFill>
                            <a:srgbClr val="D9D9D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3</a:t>
                      </a:r>
                    </a:p>
                    <a:p>
                      <a:pPr algn="ctr"/>
                      <a:r>
                        <a:rPr sz="12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· 과제화</a:t>
                      </a:r>
                    </a:p>
                  </a:txBody>
                  <a:tcPr marL="45720" marR="45720" marT="18288" marB="18288" anchor="ctr">
                    <a:solidFill>
                      <a:srgbClr val="7F7F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To-Be 설계 기술 타당성 검증</a:t>
                      </a:r>
                      <a:r>
                        <a:rPr sz="11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(Agent 구축 가능성)</a:t>
                      </a:r>
                    </a:p>
                  </a:txBody>
                  <a:tcPr marL="10972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8C8C8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45720" marR="45720" marT="18288" marB="18288" anchor="ctr">
                    <a:solidFill>
                      <a:srgbClr val="DCE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</a:p>
                  </a:txBody>
                  <a:tcPr marL="45720" marR="45720" marT="18288" marB="18288" anchor="ctr">
                    <a:solidFill>
                      <a:srgbClr val="1F3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8C8C8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45720" marR="45720" marT="18288" marB="18288" anchor="ctr">
                    <a:solidFill>
                      <a:srgbClr val="DCE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 u="none">
                          <a:solidFill>
                            <a:srgbClr val="1F3F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데이터 제공</a:t>
                      </a:r>
                    </a:p>
                  </a:txBody>
                  <a:tcPr marL="45720" marR="45720" marT="18288" marB="18288" anchor="ctr">
                    <a:solidFill>
                      <a:srgbClr val="EAF0F8"/>
                    </a:solidFill>
                  </a:tcPr>
                </a:tc>
              </a:tr>
              <a:tr h="30175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 우선순위화 및 과제 확정</a:t>
                      </a:r>
                    </a:p>
                  </a:txBody>
                  <a:tcPr marL="10972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</a:p>
                  </a:txBody>
                  <a:tcPr marL="45720" marR="45720" marT="18288" marB="18288" anchor="ctr">
                    <a:solidFill>
                      <a:srgbClr val="1F3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협업</a:t>
                      </a:r>
                    </a:p>
                  </a:txBody>
                  <a:tcPr marL="45720" marR="45720" marT="18288" marB="18288" anchor="ctr">
                    <a:solidFill>
                      <a:srgbClr val="5B8E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 u="none">
                          <a:solidFill>
                            <a:srgbClr val="1F3F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Owner 지정</a:t>
                      </a:r>
                    </a:p>
                  </a:txBody>
                  <a:tcPr marL="45720" marR="45720" marT="18288" marB="18288" anchor="ctr">
                    <a:solidFill>
                      <a:srgbClr val="EAF0F8"/>
                    </a:solidFill>
                  </a:tcPr>
                </a:tc>
              </a:tr>
              <a:tr h="30175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ROI 산정, KPI 초안 및 Baseline 산정</a:t>
                      </a:r>
                    </a:p>
                  </a:txBody>
                  <a:tcPr marL="10972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</a:p>
                  </a:txBody>
                  <a:tcPr marL="45720" marR="45720" marT="18288" marB="18288" anchor="ctr">
                    <a:solidFill>
                      <a:srgbClr val="1F3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8C8C8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45720" marR="45720" marT="18288" marB="18288" anchor="ctr">
                    <a:solidFill>
                      <a:srgbClr val="DCE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8C8C8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45720" marR="45720" marT="18288" marB="18288" anchor="ctr">
                    <a:solidFill>
                      <a:srgbClr val="DCE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 u="none">
                          <a:solidFill>
                            <a:srgbClr val="1F3F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 rowSpan="3">
                  <a:txBody>
                    <a:bodyPr wrap="square"/>
                    <a:lstStyle/>
                    <a:p>
                      <a:pPr algn="ctr"/>
                      <a:r>
                        <a:rPr sz="1100" b="0" i="1" u="none">
                          <a:solidFill>
                            <a:srgbClr val="D9D9D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4</a:t>
                      </a:r>
                    </a:p>
                    <a:p>
                      <a:pPr algn="ctr"/>
                      <a:r>
                        <a:rPr sz="12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 구축</a:t>
                      </a:r>
                    </a:p>
                  </a:txBody>
                  <a:tcPr marL="45720" marR="45720" marT="18288" marB="18288" anchor="ctr">
                    <a:solidFill>
                      <a:srgbClr val="7F7F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 아키텍처 설계 및 개발</a:t>
                      </a:r>
                    </a:p>
                  </a:txBody>
                  <a:tcPr marL="10972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8C8C8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45720" marR="45720" marT="18288" marB="18288" anchor="ctr">
                    <a:solidFill>
                      <a:srgbClr val="DCE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</a:p>
                  </a:txBody>
                  <a:tcPr marL="45720" marR="45720" marT="18288" marB="18288" anchor="ctr">
                    <a:solidFill>
                      <a:srgbClr val="1F3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 u="none">
                          <a:solidFill>
                            <a:srgbClr val="1F3F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시스템 연동 및 운영 환경 준비</a:t>
                      </a:r>
                    </a:p>
                  </a:txBody>
                  <a:tcPr marL="10972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협업</a:t>
                      </a:r>
                    </a:p>
                  </a:txBody>
                  <a:tcPr marL="45720" marR="45720" marT="18288" marB="18288" anchor="ctr">
                    <a:solidFill>
                      <a:srgbClr val="5B8E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</a:p>
                  </a:txBody>
                  <a:tcPr marL="45720" marR="45720" marT="18288" marB="18288" anchor="ctr">
                    <a:solidFill>
                      <a:srgbClr val="1F3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 u="none">
                          <a:solidFill>
                            <a:srgbClr val="1F3F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현업 사용자 테스트 및 요구사항 적합성 검토</a:t>
                      </a:r>
                    </a:p>
                  </a:txBody>
                  <a:tcPr marL="10972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</a:p>
                  </a:txBody>
                  <a:tcPr marL="45720" marR="45720" marT="18288" marB="18288" anchor="ctr">
                    <a:solidFill>
                      <a:srgbClr val="1F3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협업</a:t>
                      </a:r>
                    </a:p>
                  </a:txBody>
                  <a:tcPr marL="45720" marR="45720" marT="18288" marB="18288" anchor="ctr">
                    <a:solidFill>
                      <a:srgbClr val="5B8E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8C8C8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45720" marR="45720" marT="18288" marB="18288" anchor="ctr">
                    <a:solidFill>
                      <a:srgbClr val="DCE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 u="none">
                          <a:solidFill>
                            <a:srgbClr val="1F3F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테스트 수행</a:t>
                      </a:r>
                    </a:p>
                  </a:txBody>
                  <a:tcPr marL="45720" marR="45720" marT="18288" marB="18288" anchor="ctr">
                    <a:solidFill>
                      <a:srgbClr val="EAF0F8"/>
                    </a:solidFill>
                  </a:tcPr>
                </a:tc>
              </a:tr>
              <a:tr h="301752">
                <a:tc rowSpan="3">
                  <a:txBody>
                    <a:bodyPr wrap="square"/>
                    <a:lstStyle/>
                    <a:p>
                      <a:pPr algn="ctr"/>
                      <a:r>
                        <a:rPr sz="1100" b="0" i="1" u="none">
                          <a:solidFill>
                            <a:srgbClr val="D9D9D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5</a:t>
                      </a:r>
                    </a:p>
                    <a:p>
                      <a:pPr algn="ctr"/>
                      <a:r>
                        <a:rPr sz="1250" b="1" i="0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체계 수립</a:t>
                      </a:r>
                    </a:p>
                  </a:txBody>
                  <a:tcPr marL="45720" marR="45720" marT="18288" marB="18288" anchor="ctr">
                    <a:solidFill>
                      <a:srgbClr val="7F7F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성공기준 및 KPI 확정</a:t>
                      </a:r>
                    </a:p>
                  </a:txBody>
                  <a:tcPr marL="10972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</a:p>
                  </a:txBody>
                  <a:tcPr marL="45720" marR="45720" marT="18288" marB="18288" anchor="ctr">
                    <a:solidFill>
                      <a:srgbClr val="1F3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협업</a:t>
                      </a:r>
                    </a:p>
                  </a:txBody>
                  <a:tcPr marL="45720" marR="45720" marT="18288" marB="18288" anchor="ctr">
                    <a:solidFill>
                      <a:srgbClr val="5B8E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8C8C8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45720" marR="45720" marT="18288" marB="18288" anchor="ctr">
                    <a:solidFill>
                      <a:srgbClr val="DCE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 u="none">
                          <a:solidFill>
                            <a:srgbClr val="1F3F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KPI 목표 합의</a:t>
                      </a:r>
                    </a:p>
                  </a:txBody>
                  <a:tcPr marL="45720" marR="45720" marT="18288" marB="18288" anchor="ctr">
                    <a:solidFill>
                      <a:srgbClr val="EAF0F8"/>
                    </a:solidFill>
                  </a:tcPr>
                </a:tc>
              </a:tr>
              <a:tr h="30175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모델 설계</a:t>
                      </a:r>
                      <a:r>
                        <a:rPr sz="1100" b="0" i="0" u="none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(운영 조직/프로세스 정의)</a:t>
                      </a:r>
                    </a:p>
                  </a:txBody>
                  <a:tcPr marL="10972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</a:p>
                  </a:txBody>
                  <a:tcPr marL="45720" marR="45720" marT="18288" marB="18288" anchor="ctr">
                    <a:solidFill>
                      <a:srgbClr val="1F3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8C8C8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45720" marR="45720" marT="18288" marB="18288" anchor="ctr">
                    <a:solidFill>
                      <a:srgbClr val="DCE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협업</a:t>
                      </a:r>
                    </a:p>
                  </a:txBody>
                  <a:tcPr marL="45720" marR="45720" marT="18288" marB="18288" anchor="ctr">
                    <a:solidFill>
                      <a:srgbClr val="5B8E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 u="none">
                          <a:solidFill>
                            <a:srgbClr val="1F3F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이관 협의</a:t>
                      </a:r>
                    </a:p>
                  </a:txBody>
                  <a:tcPr marL="109728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8C8C8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</a:p>
                  </a:txBody>
                  <a:tcPr marL="45720" marR="45720" marT="18288" marB="18288" anchor="ctr">
                    <a:solidFill>
                      <a:srgbClr val="DCE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협업</a:t>
                      </a:r>
                    </a:p>
                  </a:txBody>
                  <a:tcPr marL="45720" marR="45720" marT="18288" marB="18288" anchor="ctr">
                    <a:solidFill>
                      <a:srgbClr val="5B8E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1" u="none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</a:p>
                  </a:txBody>
                  <a:tcPr marL="45720" marR="45720" marT="18288" marB="18288" anchor="ctr">
                    <a:solidFill>
                      <a:srgbClr val="1F3F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 u="none">
                          <a:solidFill>
                            <a:srgbClr val="1F3F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인수·정착</a:t>
                      </a:r>
                    </a:p>
                  </a:txBody>
                  <a:tcPr marL="45720" marR="45720" marT="18288" marB="18288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5. Agent 운영 전환 및 발굴 역량 내재화 (案)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841248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Agent의 지속 가능한 운영과 확산을 위해, </a:t>
            </a:r>
            <a:r>
              <a:rPr sz="1600" b="1" i="0" u="sng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IS팀 운영 전환 지원과 현업 Use case 발굴 역량 내재화</a:t>
            </a:r>
            <a:r>
              <a:rPr sz="1600" b="1" i="0" u="none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를 추진하고자 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737360"/>
            <a:ext cx="56692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548640" y="1307592"/>
            <a:ext cx="5212080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IS팀 운영 전환 지원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645920" cy="5029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자산 이관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아키텍처·소스·프롬프트</a:t>
            </a:r>
          </a:p>
          <a:p>
            <a:pPr algn="ctr"/>
            <a:r>
              <a:rPr sz="10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Runbook 인계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874519"/>
            <a:ext cx="1645920" cy="5029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모니터링·품질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성능·비용·품질 지표</a:t>
            </a:r>
          </a:p>
          <a:p>
            <a:pPr algn="ctr"/>
            <a:r>
              <a:rPr sz="10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장애 대응 절차 수립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874519"/>
            <a:ext cx="1645920" cy="5029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기술 교육·안정화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Agent 플랫폼·LLMOps 교육</a:t>
            </a:r>
          </a:p>
          <a:p>
            <a:pPr algn="ctr"/>
            <a:r>
              <a:rPr sz="10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이관 후 2선 기술 지원</a:t>
            </a:r>
          </a:p>
        </p:txBody>
      </p:sp>
      <p:sp>
        <p:nvSpPr>
          <p:cNvPr id="12" name="Trapezoid 11"/>
          <p:cNvSpPr/>
          <p:nvPr/>
        </p:nvSpPr>
        <p:spPr>
          <a:xfrm rot="10800000">
            <a:off x="548640" y="2971800"/>
            <a:ext cx="5212080" cy="228600"/>
          </a:xfrm>
          <a:prstGeom prst="trapezoid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218688"/>
            <a:ext cx="5669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공동 운영 → 전환 운영 → 독립 운영 단계를 거친</a:t>
            </a:r>
          </a:p>
          <a:p>
            <a:pPr algn="ctr"/>
            <a:r>
              <a:rPr sz="1700" b="1" i="0" u="none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IS팀 중심의 안정적 Agent 운영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5212080" cy="25603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548640" y="3931920"/>
            <a:ext cx="5212080" cy="411480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역할 분담</a:t>
            </a:r>
            <a:r>
              <a:rPr sz="1450" b="0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기반의 </a:t>
            </a:r>
            <a:r>
              <a:rPr sz="145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단계적 운영 이관 체계 확보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1874519" y="4526280"/>
            <a:ext cx="2606040" cy="731520"/>
          </a:xfrm>
          <a:prstGeom prst="leftArrow">
            <a:avLst/>
          </a:prstGeom>
          <a:solidFill>
            <a:srgbClr val="D6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452628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1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운영 자산 이관</a:t>
            </a:r>
          </a:p>
          <a:p>
            <a:pPr algn="ctr"/>
            <a:r>
              <a:rPr sz="1100" b="1" i="1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기술 교육 · 2선 지원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828800" y="5577840"/>
            <a:ext cx="2606040" cy="731520"/>
          </a:xfrm>
          <a:prstGeom prst="rightArrow">
            <a:avLst/>
          </a:prstGeom>
          <a:solidFill>
            <a:srgbClr val="F6D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55778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1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운영 이슈 공유</a:t>
            </a:r>
          </a:p>
          <a:p>
            <a:pPr algn="ctr"/>
            <a:r>
              <a:rPr sz="1100" b="1" i="1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고도화 요청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303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Partnership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846320"/>
            <a:ext cx="1463040" cy="1463040"/>
          </a:xfrm>
          <a:prstGeom prst="ellipse">
            <a:avLst/>
          </a:prstGeom>
          <a:solidFill>
            <a:srgbClr val="F4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IS팀</a:t>
            </a:r>
          </a:p>
        </p:txBody>
      </p:sp>
      <p:sp>
        <p:nvSpPr>
          <p:cNvPr id="22" name="Oval 21"/>
          <p:cNvSpPr/>
          <p:nvPr/>
        </p:nvSpPr>
        <p:spPr>
          <a:xfrm>
            <a:off x="4160520" y="4297680"/>
            <a:ext cx="1463040" cy="1463040"/>
          </a:xfrm>
          <a:prstGeom prst="ellipse">
            <a:avLst/>
          </a:prstGeom>
          <a:solidFill>
            <a:srgbClr val="DA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</a:t>
            </a:r>
          </a:p>
          <a:p>
            <a:pPr algn="ctr"/>
            <a:r>
              <a:rPr sz="18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혁신센터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737360"/>
            <a:ext cx="56692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6446520" y="1307592"/>
            <a:ext cx="5212080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현업 Use case 발굴 교육·워크샵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965960"/>
            <a:ext cx="548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추진</a:t>
            </a:r>
          </a:p>
          <a:p>
            <a:pPr algn="ctr"/>
            <a:r>
              <a:rPr sz="1200" b="1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과정</a:t>
            </a:r>
          </a:p>
        </p:txBody>
      </p:sp>
      <p:sp>
        <p:nvSpPr>
          <p:cNvPr id="26" name="Pentagon 25"/>
          <p:cNvSpPr/>
          <p:nvPr/>
        </p:nvSpPr>
        <p:spPr>
          <a:xfrm>
            <a:off x="6949440" y="1965960"/>
            <a:ext cx="1600200" cy="685800"/>
          </a:xfrm>
          <a:prstGeom prst="homePlate">
            <a:avLst/>
          </a:prstGeom>
          <a:solidFill>
            <a:srgbClr val="EEF1F7"/>
          </a:solidFill>
          <a:ln w="12700">
            <a:solidFill>
              <a:srgbClr val="B4C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79" y="1965960"/>
            <a:ext cx="1097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Agent</a:t>
            </a:r>
          </a:p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이해 교육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7" y="1828800"/>
            <a:ext cx="246888" cy="24688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9" name="Chevron 28"/>
          <p:cNvSpPr/>
          <p:nvPr/>
        </p:nvSpPr>
        <p:spPr>
          <a:xfrm>
            <a:off x="8503919" y="1965960"/>
            <a:ext cx="1600200" cy="685800"/>
          </a:xfrm>
          <a:prstGeom prst="chevron">
            <a:avLst/>
          </a:prstGeom>
          <a:solidFill>
            <a:srgbClr val="EEF1F7"/>
          </a:solidFill>
          <a:ln w="12700">
            <a:solidFill>
              <a:srgbClr val="B4C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1965960"/>
            <a:ext cx="1097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Use case</a:t>
            </a:r>
          </a:p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발굴 워크샵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22207" y="1828800"/>
            <a:ext cx="246888" cy="24688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2" name="Chevron 31"/>
          <p:cNvSpPr/>
          <p:nvPr/>
        </p:nvSpPr>
        <p:spPr>
          <a:xfrm>
            <a:off x="10058400" y="1965960"/>
            <a:ext cx="1600200" cy="685800"/>
          </a:xfrm>
          <a:prstGeom prst="chevron">
            <a:avLst/>
          </a:prstGeom>
          <a:solidFill>
            <a:srgbClr val="EEF1F7"/>
          </a:solidFill>
          <a:ln w="12700">
            <a:solidFill>
              <a:srgbClr val="B4C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0" y="1965960"/>
            <a:ext cx="1097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과제화 및</a:t>
            </a:r>
          </a:p>
          <a:p>
            <a:pPr algn="ctr"/>
            <a:r>
              <a:rPr sz="12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우수사례 확산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76688" y="1828800"/>
            <a:ext cx="246888" cy="24688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59" y="2880360"/>
            <a:ext cx="246888" cy="24688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834640"/>
            <a:ext cx="48463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Agent 개념·적용 사례 및 Agent 적용 가능 업무 유형 이해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59" y="3246120"/>
            <a:ext cx="246888" cy="24688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200400"/>
            <a:ext cx="48463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Pain Point 도출 → 업무 분해 → Agent 적합성 판단으로 Use case 도출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59" y="3611879"/>
            <a:ext cx="246888" cy="24688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56616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실무자 주도 Use case 우선순위화 + 과제 후보 리스트 등록</a:t>
            </a:r>
          </a:p>
          <a:p>
            <a:pPr algn="l"/>
            <a:r>
              <a:rPr sz="1100" b="0" i="0" u="none">
                <a:solidFill>
                  <a:srgbClr val="1F3FBF"/>
                </a:solidFill>
                <a:latin typeface="맑은 고딕"/>
                <a:ea typeface="맑은 고딕"/>
                <a:cs typeface="맑은 고딕"/>
              </a:rPr>
              <a:t>→ Phase 1 과제 발굴과 연계, 타 부서·계열사 전파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4251960"/>
            <a:ext cx="5212080" cy="475488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현업의 실제 업무와 Pain Point 중심의 Use case 발굴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4818888"/>
            <a:ext cx="5212080" cy="475488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업무 영역별 Agent 적용 사례 및 발굴 Canvas 제공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46520" y="5385816"/>
            <a:ext cx="5212080" cy="475488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참가자 주도 실습을 통한 실행 가능한 과제 후보 도출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46520" y="5952744"/>
            <a:ext cx="5212080" cy="475488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AX컨설턴트·AI 전문가의 현장 코칭 및 기술 적합성 검토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