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EY×SEU AI Innovation Camp(인재개발원 운영 + 현업 과제 발의 + 경영혁신 확산, Co-Creation, 영역별 차수, 솔루션 검토)를 벤치마크하여, 그룹 AX Camp를 인재개발원·그룹사 현업·컨설팅부문 3자 구조로 운영하고 FDE를 통해 구축사업으로 연계.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LOTTE AI Innovation Camp(가칭) 운영안: 목적·시행 개요·R&amp;R(인재개발원/이노베이트/그룹사), 3단계 추진 과정, 산출물, 기대효과 및 FDE 사업화 연계. EY×SEU AI Innovation Camp 운영 세부 계획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④ AX 변화관리(교육)를 통한 AX 사업화</a:t>
            </a:r>
            <a:endParaRPr lang="en-US" sz="2600" dirty="0"/>
          </a:p>
        </p:txBody>
      </p:sp>
      <p:sp>
        <p:nvSpPr>
          <p:cNvPr id="3" name="거버닝 메시지"/>
          <p:cNvSpPr txBox="1"/>
          <p:nvPr/>
        </p:nvSpPr>
        <p:spPr>
          <a:xfrm>
            <a:off x="365760" y="987552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인재개발원의 교육 체계와 컨설팅부문의 문제해결·구현 역량을 결합한 현업 참여형 AI Innovation Camp로 그룹사 AX 사업 발굴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5727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추진 배경 및 벤치마크</a:t>
            </a:r>
            <a:endParaRPr lang="en-US" sz="1500" dirty="0"/>
          </a:p>
        </p:txBody>
      </p:sp>
      <p:sp>
        <p:nvSpPr>
          <p:cNvPr id="5" name="구역선"/>
          <p:cNvSpPr/>
          <p:nvPr/>
        </p:nvSpPr>
        <p:spPr>
          <a:xfrm>
            <a:off x="365760" y="1920240"/>
            <a:ext cx="557784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6" name="방안 패널"/>
          <p:cNvSpPr/>
          <p:nvPr/>
        </p:nvSpPr>
        <p:spPr>
          <a:xfrm>
            <a:off x="6172200" y="1956816"/>
            <a:ext cx="5650992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7" name="방안 헤더"/>
          <p:cNvSpPr txBox="1"/>
          <p:nvPr/>
        </p:nvSpPr>
        <p:spPr>
          <a:xfrm>
            <a:off x="6172200" y="1572768"/>
            <a:ext cx="5650992" cy="384048"/>
          </a:xfrm>
          <a:prstGeom prst="round2SameRect">
            <a:avLst>
              <a:gd name="adj" fmla="val 19048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LOTTE AI Innovation Camp(가칭) 운영 및 사업화 방안</a:t>
            </a:r>
            <a:endParaRPr lang="en-US" sz="1500" dirty="0"/>
          </a:p>
        </p:txBody>
      </p:sp>
      <p:sp>
        <p:nvSpPr>
          <p:cNvPr id="8" name="머리표"/>
          <p:cNvSpPr/>
          <p:nvPr/>
        </p:nvSpPr>
        <p:spPr>
          <a:xfrm>
            <a:off x="384048" y="2093976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1792" y="202996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AI 교육 → </a:t>
            </a:r>
            <a:pPr indent="0" marL="0">
              <a:buNone/>
            </a:pPr>
            <a:r>
              <a:rPr lang="en-US" sz="1250" b="1" dirty="0">
                <a:solidFill>
                  <a:srgbClr val="1F3FA8"/>
                </a:solidFill>
              </a:rPr>
              <a:t>현업 참여형 AX 솔루션 발굴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로 전환 필요</a:t>
            </a:r>
            <a:endParaRPr lang="en-US" sz="1250" dirty="0"/>
          </a:p>
        </p:txBody>
      </p:sp>
      <p:sp>
        <p:nvSpPr>
          <p:cNvPr id="10" name="배경 칩 1"/>
          <p:cNvSpPr txBox="1"/>
          <p:nvPr/>
        </p:nvSpPr>
        <p:spPr>
          <a:xfrm>
            <a:off x="457200" y="2377440"/>
            <a:ext cx="1737360" cy="475488"/>
          </a:xfrm>
          <a:prstGeom prst="rect">
            <a:avLst/>
          </a:prstGeom>
          <a:solidFill>
            <a:srgbClr val="E7E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실무자의 AI 활용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니즈 증가</a:t>
            </a:r>
            <a:endParaRPr lang="en-US" sz="1000" dirty="0"/>
          </a:p>
        </p:txBody>
      </p:sp>
      <p:sp>
        <p:nvSpPr>
          <p:cNvPr id="11" name="배경 칩 2"/>
          <p:cNvSpPr txBox="1"/>
          <p:nvPr/>
        </p:nvSpPr>
        <p:spPr>
          <a:xfrm>
            <a:off x="2267712" y="2377440"/>
            <a:ext cx="1737360" cy="475488"/>
          </a:xfrm>
          <a:prstGeom prst="rect">
            <a:avLst/>
          </a:prstGeom>
          <a:solidFill>
            <a:srgbClr val="E7E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Agent 교육의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성과 미연결</a:t>
            </a:r>
            <a:endParaRPr lang="en-US" sz="1000" dirty="0"/>
          </a:p>
        </p:txBody>
      </p:sp>
      <p:sp>
        <p:nvSpPr>
          <p:cNvPr id="12" name="배경 칩 3"/>
          <p:cNvSpPr txBox="1"/>
          <p:nvPr/>
        </p:nvSpPr>
        <p:spPr>
          <a:xfrm>
            <a:off x="4078224" y="2377440"/>
            <a:ext cx="1737360" cy="475488"/>
          </a:xfrm>
          <a:prstGeom prst="rect">
            <a:avLst/>
          </a:prstGeom>
          <a:solidFill>
            <a:srgbClr val="E7E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그룹사 AI 과제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실행 단절</a:t>
            </a:r>
            <a:endParaRPr lang="en-US" sz="1000" dirty="0"/>
          </a:p>
        </p:txBody>
      </p:sp>
      <p:sp>
        <p:nvSpPr>
          <p:cNvPr id="13" name="배경 화살표"/>
          <p:cNvSpPr/>
          <p:nvPr/>
        </p:nvSpPr>
        <p:spPr>
          <a:xfrm>
            <a:off x="3017520" y="2889504"/>
            <a:ext cx="274320" cy="182880"/>
          </a:xfrm>
          <a:prstGeom prst="downArrow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4" name="배경 결론"/>
          <p:cNvSpPr txBox="1"/>
          <p:nvPr/>
        </p:nvSpPr>
        <p:spPr>
          <a:xfrm>
            <a:off x="457200" y="3099816"/>
            <a:ext cx="5394960" cy="329184"/>
          </a:xfrm>
          <a:prstGeom prst="rect">
            <a:avLst/>
          </a:prstGeom>
          <a:noFill/>
          <a:ln w="15875">
            <a:solidFill>
              <a:srgbClr val="1F3F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현업이 직접 과제를 발의하고 </a:t>
            </a:r>
            <a:pPr algn="ctr" indent="0" marL="0">
              <a:buNone/>
            </a:pPr>
            <a:r>
              <a:rPr lang="en-US" sz="1100" b="1" dirty="0">
                <a:solidFill>
                  <a:srgbClr val="1F3FA8"/>
                </a:solidFill>
              </a:rPr>
              <a:t>구현·사업화까지 이어지는 구조</a:t>
            </a:r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 필요</a:t>
            </a:r>
            <a:endParaRPr lang="en-US" sz="1100" dirty="0"/>
          </a:p>
        </p:txBody>
      </p:sp>
      <p:sp>
        <p:nvSpPr>
          <p:cNvPr id="15" name="머리표"/>
          <p:cNvSpPr/>
          <p:nvPr/>
        </p:nvSpPr>
        <p:spPr>
          <a:xfrm>
            <a:off x="384048" y="3630168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1792" y="3566160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벤치마크 : 삼성전자 인재개발원 × EY 'AI Innovation Camp'</a:t>
            </a:r>
            <a:endParaRPr lang="en-US" sz="1250" dirty="0"/>
          </a:p>
        </p:txBody>
      </p:sp>
      <p:sp>
        <p:nvSpPr>
          <p:cNvPr id="17" name="벤치마크 역할 인재개발원"/>
          <p:cNvSpPr txBox="1"/>
          <p:nvPr/>
        </p:nvSpPr>
        <p:spPr>
          <a:xfrm>
            <a:off x="457200" y="3913632"/>
            <a:ext cx="1627632" cy="475488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인재개발원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과정 설계·운영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84832" y="3913632"/>
            <a:ext cx="201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7F7F"/>
                </a:solidFill>
              </a:rPr>
              <a:t>+</a:t>
            </a:r>
            <a:endParaRPr lang="en-US" sz="1400" dirty="0"/>
          </a:p>
        </p:txBody>
      </p:sp>
      <p:sp>
        <p:nvSpPr>
          <p:cNvPr id="19" name="벤치마크 역할 현업"/>
          <p:cNvSpPr txBox="1"/>
          <p:nvPr/>
        </p:nvSpPr>
        <p:spPr>
          <a:xfrm>
            <a:off x="2286000" y="3913632"/>
            <a:ext cx="1627632" cy="475488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현업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업무 지식·과제 발의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3913632"/>
            <a:ext cx="201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7F7F"/>
                </a:solidFill>
              </a:rPr>
              <a:t>+</a:t>
            </a:r>
            <a:endParaRPr lang="en-US" sz="1400" dirty="0"/>
          </a:p>
        </p:txBody>
      </p:sp>
      <p:sp>
        <p:nvSpPr>
          <p:cNvPr id="21" name="벤치마크 역할 경영혁신"/>
          <p:cNvSpPr txBox="1"/>
          <p:nvPr/>
        </p:nvSpPr>
        <p:spPr>
          <a:xfrm>
            <a:off x="4114800" y="3913632"/>
            <a:ext cx="1627632" cy="475488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경영혁신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현장 도입·확산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4805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·  참가자 + 퍼실리테이터 + AI 전문가 + 업무 혁신 전문가의 Co-Creation 구조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72744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·  AX 기대효과 높은 업무 영역 선별, 영역별 차수 운영 (CRM 마케팅, Contents Creative)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97433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·  사용자 적합성·기술 가용성·실현 가능성 검토로 구현 가능한 솔루션 확보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349240"/>
            <a:ext cx="777240" cy="274320"/>
          </a:xfrm>
          <a:prstGeom prst="rect">
            <a:avLst/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시사점</a:t>
            </a:r>
            <a:endParaRPr lang="en-US" sz="1000" dirty="0"/>
          </a:p>
        </p:txBody>
      </p:sp>
      <p:sp>
        <p:nvSpPr>
          <p:cNvPr id="26" name="시사점"/>
          <p:cNvSpPr txBox="1"/>
          <p:nvPr/>
        </p:nvSpPr>
        <p:spPr>
          <a:xfrm>
            <a:off x="457200" y="5650992"/>
            <a:ext cx="5394960" cy="54864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교육을 '솔루션 발굴 → 현장 도입·확산'까지 연결하는 구조가 핵심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FA8"/>
                </a:solidFill>
              </a:rPr>
              <a:t>→ 그룹 내 컨설팅부문이 퍼실리테이터·AI 전문가·구현(FDE) 역할을 수행 가능</a:t>
            </a:r>
            <a:endParaRPr lang="en-US" sz="1050" dirty="0"/>
          </a:p>
        </p:txBody>
      </p:sp>
      <p:sp>
        <p:nvSpPr>
          <p:cNvPr id="27" name="머리표"/>
          <p:cNvSpPr/>
          <p:nvPr/>
        </p:nvSpPr>
        <p:spPr>
          <a:xfrm>
            <a:off x="6300216" y="2093976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37960" y="202996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운영 구조 : 3자 Co-Creation</a:t>
            </a:r>
            <a:endParaRPr lang="en-US" sz="1250" dirty="0"/>
          </a:p>
        </p:txBody>
      </p:sp>
      <p:sp>
        <p:nvSpPr>
          <p:cNvPr id="29" name="운영 주체 인재개발원"/>
          <p:cNvSpPr txBox="1"/>
          <p:nvPr/>
        </p:nvSpPr>
        <p:spPr>
          <a:xfrm>
            <a:off x="6281928" y="2377440"/>
            <a:ext cx="1688592" cy="658368"/>
          </a:xfrm>
          <a:prstGeom prst="roundRect">
            <a:avLst>
              <a:gd name="adj" fmla="val 8333"/>
            </a:avLst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C8A"/>
                </a:solidFill>
              </a:rPr>
              <a:t>인재개발원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5C8A"/>
                </a:solidFill>
              </a:rPr>
              <a:t>과정 설계·운영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5C8A"/>
                </a:solidFill>
              </a:rPr>
              <a:t>참가자 모집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970520" y="237744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7F7F"/>
                </a:solidFill>
              </a:rPr>
              <a:t>+</a:t>
            </a:r>
            <a:endParaRPr lang="en-US" sz="1400" dirty="0"/>
          </a:p>
        </p:txBody>
      </p:sp>
      <p:sp>
        <p:nvSpPr>
          <p:cNvPr id="31" name="운영 주체 그룹사 현업"/>
          <p:cNvSpPr txBox="1"/>
          <p:nvPr/>
        </p:nvSpPr>
        <p:spPr>
          <a:xfrm>
            <a:off x="8153400" y="2377440"/>
            <a:ext cx="1688592" cy="658368"/>
          </a:xfrm>
          <a:prstGeom prst="roundRect">
            <a:avLst>
              <a:gd name="adj" fmla="val 8333"/>
            </a:avLst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C8A"/>
                </a:solidFill>
              </a:rPr>
              <a:t>그룹사 현업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5C8A"/>
                </a:solidFill>
              </a:rPr>
              <a:t>업무 지식 투입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5C8A"/>
                </a:solidFill>
              </a:rPr>
              <a:t>과제 발의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841992" y="237744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7F7F"/>
                </a:solidFill>
              </a:rPr>
              <a:t>+</a:t>
            </a:r>
            <a:endParaRPr lang="en-US" sz="1400" dirty="0"/>
          </a:p>
        </p:txBody>
      </p:sp>
      <p:sp>
        <p:nvSpPr>
          <p:cNvPr id="33" name="운영 주체 컨설팅부문"/>
          <p:cNvSpPr txBox="1"/>
          <p:nvPr/>
        </p:nvSpPr>
        <p:spPr>
          <a:xfrm>
            <a:off x="10024872" y="2377440"/>
            <a:ext cx="1688592" cy="658368"/>
          </a:xfrm>
          <a:prstGeom prst="roundRect">
            <a:avLst>
              <a:gd name="adj" fmla="val 8333"/>
            </a:avLst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컨설팅부문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퍼실리테이션·AI 설계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FDE 구축 연계</a:t>
            </a:r>
            <a:endParaRPr lang="en-US" sz="1100" dirty="0"/>
          </a:p>
        </p:txBody>
      </p:sp>
      <p:sp>
        <p:nvSpPr>
          <p:cNvPr id="34" name="머리표"/>
          <p:cNvSpPr/>
          <p:nvPr/>
        </p:nvSpPr>
        <p:spPr>
          <a:xfrm>
            <a:off x="6300216" y="3246120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537960" y="318211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운영 프로세스</a:t>
            </a:r>
            <a:endParaRPr lang="en-US" sz="1250" dirty="0"/>
          </a:p>
        </p:txBody>
      </p:sp>
      <p:sp>
        <p:nvSpPr>
          <p:cNvPr id="36" name="프로세스 1"/>
          <p:cNvSpPr txBox="1"/>
          <p:nvPr/>
        </p:nvSpPr>
        <p:spPr>
          <a:xfrm>
            <a:off x="6281928" y="3529584"/>
            <a:ext cx="1392174" cy="347472"/>
          </a:xfrm>
          <a:prstGeom prst="homePlate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① 영역 선별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327648" y="391363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AX 기대효과 높은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업무 영역 선정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(과제 Pool 108건 활용)</a:t>
            </a:r>
            <a:endParaRPr lang="en-US" sz="850" dirty="0"/>
          </a:p>
        </p:txBody>
      </p:sp>
      <p:sp>
        <p:nvSpPr>
          <p:cNvPr id="38" name="프로세스 2"/>
          <p:cNvSpPr txBox="1"/>
          <p:nvPr/>
        </p:nvSpPr>
        <p:spPr>
          <a:xfrm>
            <a:off x="7628382" y="3529584"/>
            <a:ext cx="1392174" cy="347472"/>
          </a:xfrm>
          <a:prstGeom prst="chevron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② Innov. Camp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74102" y="391363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현업 참여형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과제 발의·구체화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(차수별 3주)</a:t>
            </a:r>
            <a:endParaRPr lang="en-US" sz="850" dirty="0"/>
          </a:p>
        </p:txBody>
      </p:sp>
      <p:sp>
        <p:nvSpPr>
          <p:cNvPr id="40" name="프로세스 3"/>
          <p:cNvSpPr txBox="1"/>
          <p:nvPr/>
        </p:nvSpPr>
        <p:spPr>
          <a:xfrm>
            <a:off x="8974836" y="3529584"/>
            <a:ext cx="1392174" cy="347472"/>
          </a:xfrm>
          <a:prstGeom prst="chevron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솔루션 검토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020556" y="391363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사용자 적합성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기술 가용성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</a:rPr>
              <a:t>실현 가능성</a:t>
            </a:r>
            <a:endParaRPr lang="en-US" sz="850" dirty="0"/>
          </a:p>
        </p:txBody>
      </p:sp>
      <p:sp>
        <p:nvSpPr>
          <p:cNvPr id="42" name="프로세스 4"/>
          <p:cNvSpPr txBox="1"/>
          <p:nvPr/>
        </p:nvSpPr>
        <p:spPr>
          <a:xfrm>
            <a:off x="10321290" y="3529584"/>
            <a:ext cx="1392174" cy="347472"/>
          </a:xfrm>
          <a:prstGeom prst="chevron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④ FDE 사업화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367010" y="391363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FA8"/>
                </a:solidFill>
              </a:rPr>
              <a:t>우수 과제 MVP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F3FA8"/>
                </a:solidFill>
              </a:rPr>
              <a:t>→ 구축사업 연계</a:t>
            </a:r>
            <a:endParaRPr lang="en-US" sz="850" dirty="0"/>
          </a:p>
        </p:txBody>
      </p:sp>
      <p:sp>
        <p:nvSpPr>
          <p:cNvPr id="44" name="머리표"/>
          <p:cNvSpPr/>
          <p:nvPr/>
        </p:nvSpPr>
        <p:spPr>
          <a:xfrm>
            <a:off x="6300216" y="4654296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537960" y="459028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AX 사업화 연계 및 기대효과</a:t>
            </a:r>
            <a:endParaRPr lang="en-US" sz="1250" dirty="0"/>
          </a:p>
        </p:txBody>
      </p:sp>
      <p:sp>
        <p:nvSpPr>
          <p:cNvPr id="46" name="효과 카드 그룹사"/>
          <p:cNvSpPr/>
          <p:nvPr/>
        </p:nvSpPr>
        <p:spPr>
          <a:xfrm>
            <a:off x="6281928" y="4937760"/>
            <a:ext cx="16885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81928" y="4937760"/>
            <a:ext cx="1688592" cy="256032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그룹사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355080" y="5230368"/>
            <a:ext cx="1578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· 단기 내 업무 혁신 기회 파악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· 검증된 AX 솔루션 확보</a:t>
            </a:r>
            <a:endParaRPr lang="en-US" sz="900" dirty="0"/>
          </a:p>
        </p:txBody>
      </p:sp>
      <p:sp>
        <p:nvSpPr>
          <p:cNvPr id="49" name="효과 카드 인재개발원"/>
          <p:cNvSpPr/>
          <p:nvPr/>
        </p:nvSpPr>
        <p:spPr>
          <a:xfrm>
            <a:off x="8153400" y="4937760"/>
            <a:ext cx="16885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53400" y="4937760"/>
            <a:ext cx="1688592" cy="256032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인재개발원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226552" y="5230368"/>
            <a:ext cx="1578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· 교육 → 현업 성과 연결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· 현장 사례 기반 콘텐츠 축적</a:t>
            </a:r>
            <a:endParaRPr lang="en-US" sz="900" dirty="0"/>
          </a:p>
        </p:txBody>
      </p:sp>
      <p:sp>
        <p:nvSpPr>
          <p:cNvPr id="52" name="효과 카드 컨설팅부문"/>
          <p:cNvSpPr/>
          <p:nvPr/>
        </p:nvSpPr>
        <p:spPr>
          <a:xfrm>
            <a:off x="10024872" y="4937760"/>
            <a:ext cx="16885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024872" y="4937760"/>
            <a:ext cx="1688592" cy="256032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컨설팅부문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098024" y="5230368"/>
            <a:ext cx="1578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A8"/>
                </a:solidFill>
              </a:rPr>
              <a:t>· Camp → FDE → 구축사업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3FA8"/>
                </a:solidFill>
              </a:rPr>
              <a:t>· 사업 파이프라인 확보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281928" y="5989320"/>
            <a:ext cx="543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※ 벤치마크 : 삼성전자 인재개발원(SEU) × EY 'AI Innovation Camp' 프로그램 구성 참고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④-1 LOTTE AI Innovation Camp (가칭)</a:t>
            </a:r>
            <a:endParaRPr lang="en-US" sz="2600" dirty="0"/>
          </a:p>
        </p:txBody>
      </p:sp>
      <p:sp>
        <p:nvSpPr>
          <p:cNvPr id="3" name="거버닝 메시지"/>
          <p:cNvSpPr txBox="1"/>
          <p:nvPr/>
        </p:nvSpPr>
        <p:spPr>
          <a:xfrm>
            <a:off x="365760" y="987552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Bottom-up 방식으로 현업 실무자가 직접 AI 과제를 '발굴 → 설계 → 검증'하고, 우수 과제는 FDE로 구축사업까지 연계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5727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개 요</a:t>
            </a:r>
            <a:endParaRPr lang="en-US" sz="1500" dirty="0"/>
          </a:p>
        </p:txBody>
      </p:sp>
      <p:sp>
        <p:nvSpPr>
          <p:cNvPr id="5" name="구역선"/>
          <p:cNvSpPr/>
          <p:nvPr/>
        </p:nvSpPr>
        <p:spPr>
          <a:xfrm>
            <a:off x="365760" y="1920240"/>
            <a:ext cx="557784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6" name="세부 패널"/>
          <p:cNvSpPr/>
          <p:nvPr/>
        </p:nvSpPr>
        <p:spPr>
          <a:xfrm>
            <a:off x="6172200" y="1956816"/>
            <a:ext cx="5650992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7" name="세부 헤더"/>
          <p:cNvSpPr txBox="1"/>
          <p:nvPr/>
        </p:nvSpPr>
        <p:spPr>
          <a:xfrm>
            <a:off x="6172200" y="1572768"/>
            <a:ext cx="5650992" cy="384048"/>
          </a:xfrm>
          <a:prstGeom prst="round2SameRect">
            <a:avLst>
              <a:gd name="adj" fmla="val 19048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워크숍 세부내용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•  추진 목적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8600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Bottom-up 방식으로 </a:t>
            </a:r>
            <a:pPr indent="0" marL="0">
              <a:buNone/>
            </a:pPr>
            <a:r>
              <a:rPr lang="en-US" sz="1050" b="1" dirty="0">
                <a:solidFill>
                  <a:srgbClr val="1F3FA8"/>
                </a:solidFill>
              </a:rPr>
              <a:t>현업 실무자가 직접 AI 과제를 '발굴 → 설계 → 검증'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할 수 있도록 교육 과정 신설, 우수 과제는 현장 도입·사업화 연계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889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•  시행 개요 (안)</a:t>
            </a:r>
            <a:endParaRPr lang="en-US" sz="1200" dirty="0"/>
          </a:p>
        </p:txBody>
      </p:sp>
      <p:graphicFrame>
        <p:nvGraphicFramePr>
          <p:cNvPr id="3" name="시행 개요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72384"/>
          <a:ext cx="5440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4348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참석 대상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 공통 직군별 실무자 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F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(책임/대리급)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방식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인사·영업·구매·마케팅 등 직군별 차수 운영 → 직군 특화 AI 과제 발굴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추진 기간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차수별 3주 (현장 워크숍 3日 포함)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추진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현장에서 빠르게 적용 가능한 AI/DT 업무 효율화 과제 발굴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2245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•  R&amp;R</a:t>
            </a:r>
            <a:endParaRPr lang="en-US" sz="1200" dirty="0"/>
          </a:p>
        </p:txBody>
      </p:sp>
      <p:graphicFrame>
        <p:nvGraphicFramePr>
          <p:cNvPr id="5" name="R&amp;R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98848"/>
          <a:ext cx="5440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4348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역할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인재개발원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Innovation Camp 프로그램 주관 · 기획/운영, 참가자 모집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F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이노베이트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F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(컨설팅부문)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퍼실리테이션, 비즈니스 특화 AI 소개, 기술 도입 검토·구현 가이드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F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우수 과제 FDE(MVP) 및 구축사업 연계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이해도가 높고 과제 탐색·기획이 가능한 실무자 참여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57200" y="587044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※ 차수별 투입(안) : Advisor 1 · Facilitator 3 · AI 전문가 1 (EY 운영 사례 참고)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6281928" y="2029968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•  프로그램 추진 과정 (차수별 3주)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81928" y="2304288"/>
            <a:ext cx="5431536" cy="23774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95959"/>
                </a:solidFill>
              </a:rPr>
              <a:t>사전 준비 : 공통 과정 설계 (인터뷰·교육자료) → 운영 준비 (AI Use Case 리서치·진행자료·리허설)</a:t>
            </a:r>
            <a:endParaRPr lang="en-US" sz="850" dirty="0"/>
          </a:p>
        </p:txBody>
      </p:sp>
      <p:sp>
        <p:nvSpPr>
          <p:cNvPr id="17" name="단계 1"/>
          <p:cNvSpPr txBox="1"/>
          <p:nvPr/>
        </p:nvSpPr>
        <p:spPr>
          <a:xfrm>
            <a:off x="6281928" y="2633472"/>
            <a:ext cx="1143000" cy="603504"/>
          </a:xfrm>
          <a:prstGeom prst="rect">
            <a:avLst/>
          </a:prstGeom>
          <a:solidFill>
            <a:srgbClr val="8C8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아이디어·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시나리오 발굴</a:t>
            </a:r>
            <a:endParaRPr lang="en-US" sz="1000" dirty="0"/>
          </a:p>
        </p:txBody>
      </p:sp>
      <p:sp>
        <p:nvSpPr>
          <p:cNvPr id="18" name="흐름 1"/>
          <p:cNvSpPr/>
          <p:nvPr/>
        </p:nvSpPr>
        <p:spPr>
          <a:xfrm rot="10800000">
            <a:off x="6739128" y="3236976"/>
            <a:ext cx="228600" cy="64008"/>
          </a:xfrm>
          <a:prstGeom prst="triangl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516368" y="2633472"/>
            <a:ext cx="4197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62626"/>
                </a:solidFill>
              </a:rPr>
              <a:t>· 대외/해외 업무 도메인별 우수 AI 과제 사례 Study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62626"/>
                </a:solidFill>
              </a:rPr>
              <a:t>· 사별 본업 프로세스와 Fit한 AI 과제 시나리오 작성</a:t>
            </a:r>
            <a:endParaRPr lang="en-US" sz="950" dirty="0"/>
          </a:p>
        </p:txBody>
      </p:sp>
      <p:sp>
        <p:nvSpPr>
          <p:cNvPr id="20" name="구분선 1"/>
          <p:cNvSpPr/>
          <p:nvPr/>
        </p:nvSpPr>
        <p:spPr>
          <a:xfrm>
            <a:off x="7516368" y="3273552"/>
            <a:ext cx="419709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21" name="단계 2"/>
          <p:cNvSpPr txBox="1"/>
          <p:nvPr/>
        </p:nvSpPr>
        <p:spPr>
          <a:xfrm>
            <a:off x="6281928" y="3310128"/>
            <a:ext cx="1143000" cy="603504"/>
          </a:xfrm>
          <a:prstGeom prst="rect">
            <a:avLst/>
          </a:prstGeom>
          <a:solidFill>
            <a:srgbClr val="8C8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중점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과제 발굴</a:t>
            </a:r>
            <a:endParaRPr lang="en-US" sz="1000" dirty="0"/>
          </a:p>
        </p:txBody>
      </p:sp>
      <p:sp>
        <p:nvSpPr>
          <p:cNvPr id="22" name="흐름 2"/>
          <p:cNvSpPr/>
          <p:nvPr/>
        </p:nvSpPr>
        <p:spPr>
          <a:xfrm rot="10800000">
            <a:off x="6739128" y="3913632"/>
            <a:ext cx="228600" cy="64008"/>
          </a:xfrm>
          <a:prstGeom prst="triangl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516368" y="3310128"/>
            <a:ext cx="4197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62626"/>
                </a:solidFill>
              </a:rPr>
              <a:t>· AI 과제 설계 / 구현 방안 구체화 (검토 및 보완)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62626"/>
                </a:solidFill>
              </a:rPr>
              <a:t>· 기술성 검토 및 기대효과 산출로 실효성 검토</a:t>
            </a:r>
            <a:endParaRPr lang="en-US" sz="950" dirty="0"/>
          </a:p>
        </p:txBody>
      </p:sp>
      <p:sp>
        <p:nvSpPr>
          <p:cNvPr id="24" name="구분선 2"/>
          <p:cNvSpPr/>
          <p:nvPr/>
        </p:nvSpPr>
        <p:spPr>
          <a:xfrm>
            <a:off x="7516368" y="3950208"/>
            <a:ext cx="419709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25" name="단계 3"/>
          <p:cNvSpPr txBox="1"/>
          <p:nvPr/>
        </p:nvSpPr>
        <p:spPr>
          <a:xfrm>
            <a:off x="6281928" y="3986784"/>
            <a:ext cx="1143000" cy="603504"/>
          </a:xfrm>
          <a:prstGeom prst="rect">
            <a:avLst/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결과보고·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Feedback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7516368" y="3986784"/>
            <a:ext cx="4197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62626"/>
                </a:solidFill>
              </a:rPr>
              <a:t>· 정량·정성 도입효과 산정, 담당임원 의견 문서화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62626"/>
                </a:solidFill>
              </a:rPr>
              <a:t>· 인재개발원 공유 → 타계열사 전파 및 교육 활용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6281928" y="4690872"/>
            <a:ext cx="1143000" cy="256032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산출물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7516368" y="4690872"/>
            <a:ext cx="1344168" cy="256032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</a:rPr>
              <a:t>혁신 기회·문제해결 아이디어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8915400" y="4690872"/>
            <a:ext cx="1344168" cy="256032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</a:rPr>
              <a:t>솔루션 컨셉·설계/운영 방안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10314432" y="4690872"/>
            <a:ext cx="1344168" cy="256032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C8A"/>
                </a:solidFill>
              </a:rPr>
              <a:t>종료 보고서</a:t>
            </a:r>
            <a:endParaRPr lang="en-US" sz="850" dirty="0"/>
          </a:p>
        </p:txBody>
      </p:sp>
      <p:sp>
        <p:nvSpPr>
          <p:cNvPr id="31" name="기대효과 박스"/>
          <p:cNvSpPr/>
          <p:nvPr/>
        </p:nvSpPr>
        <p:spPr>
          <a:xfrm>
            <a:off x="6281928" y="5029200"/>
            <a:ext cx="5431536" cy="12984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55080" y="5056632"/>
            <a:ext cx="5431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•  기대효과 및 사업화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6464808" y="5330952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① 업무에 직접 도움이 되는 AI 과제 발굴 및 업무 개선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6464808" y="5573268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② 타계열사·타직군으로 AI 과제 전파 및 표준화 용이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6464808" y="5815584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③ 현업 Bottom-up 과제 발굴로 전사 임원의 AI 과제 관심도 제고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6464808" y="6057900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FA8"/>
                </a:solidFill>
              </a:rPr>
              <a:t>④ 우수 과제 → FDE(MVP) → 구축사업 연계로 그룹사 AX 사업화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2026-10-31T01:51:16Z</dcterms:created>
  <dcterms:modified xsi:type="dcterms:W3CDTF">2026-10-31T01:51:16Z</dcterms:modified>
</cp:coreProperties>
</file>