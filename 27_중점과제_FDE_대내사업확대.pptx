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Biz컨설팅팀(도메인 전문가)과 AX컨설팅팀(AI컨설팅 경험·산출물·엔지니어)이 FDE 공동 TF로 그룹사 과제를 발굴~운영 이관까지 수행. 설계·구축 역량 보강을 위해 '27년 AI 엔지니어 2명 경력 채용.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2PANEL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914400"/>
            <a:ext cx="11457432" cy="0"/>
          </a:xfrm>
          <a:prstGeom prst="line">
            <a:avLst/>
          </a:prstGeom>
          <a:noFill/>
          <a:ln w="12700">
            <a:solidFill>
              <a:srgbClr val="D5D9E0"/>
            </a:solidFill>
            <a:prstDash val="solid"/>
          </a:ln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9966960" y="651052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chemeClr val="accent3"/>
                </a:solidFill>
              </a:rPr>
              <a:t>AX컨설팅팀</a:t>
            </a:r>
            <a:endParaRPr lang="en-US" sz="9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'27년 중점추진과제  &gt;  </a:t>
            </a:r>
            <a:pPr algn="l"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③ FDE를 통한 대내 사업 확대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102412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과제 수행 방향 요약</a:t>
            </a:r>
            <a:endParaRPr lang="en-US" sz="1300" dirty="0"/>
          </a:p>
        </p:txBody>
      </p:sp>
      <p:sp>
        <p:nvSpPr>
          <p:cNvPr id="4" name="방향 요약"/>
          <p:cNvSpPr txBox="1"/>
          <p:nvPr/>
        </p:nvSpPr>
        <p:spPr>
          <a:xfrm>
            <a:off x="2194560" y="1005840"/>
            <a:ext cx="9628632" cy="512064"/>
          </a:xfrm>
          <a:prstGeom prst="rect">
            <a:avLst/>
          </a:prstGeom>
          <a:solidFill>
            <a:schemeClr val="accent4"/>
          </a:solidFill>
          <a:ln/>
        </p:spPr>
        <p:txBody>
          <a:bodyPr wrap="square" lIns="0" tIns="101600" rIns="10160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2"/>
                </a:solidFill>
              </a:rPr>
              <a:t>Biz컨설팅팀의 도메인 전문성 + AX컨설팅팀의 AI컨설팅 수행 경험·산출물(과제 108건)·엔지니어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→ 그룹사 과제를 빠르게 Target하여 MVP 및 운영 이관 설계까지 수행, 구축사업화의 Open door 역할</a:t>
            </a:r>
            <a:endParaRPr lang="en-US" sz="1150" dirty="0"/>
          </a:p>
        </p:txBody>
      </p:sp>
      <p:sp>
        <p:nvSpPr>
          <p:cNvPr id="5" name="구역 추진 전략"/>
          <p:cNvSpPr txBox="1"/>
          <p:nvPr/>
        </p:nvSpPr>
        <p:spPr>
          <a:xfrm>
            <a:off x="365760" y="1645920"/>
            <a:ext cx="5623560" cy="310896"/>
          </a:xfrm>
          <a:prstGeom prst="rect">
            <a:avLst/>
          </a:prstGeom>
          <a:solidFill>
            <a:srgbClr val="EEF0F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추진 전략</a:t>
            </a:r>
            <a:endParaRPr lang="en-US" sz="1300" dirty="0"/>
          </a:p>
        </p:txBody>
      </p:sp>
      <p:sp>
        <p:nvSpPr>
          <p:cNvPr id="6" name="구역 추진 계획"/>
          <p:cNvSpPr txBox="1"/>
          <p:nvPr/>
        </p:nvSpPr>
        <p:spPr>
          <a:xfrm>
            <a:off x="6199632" y="1645920"/>
            <a:ext cx="5623560" cy="310896"/>
          </a:xfrm>
          <a:prstGeom prst="rect">
            <a:avLst/>
          </a:prstGeom>
          <a:solidFill>
            <a:srgbClr val="EEF0F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추진 계획</a:t>
            </a:r>
            <a:endParaRPr lang="en-US" sz="1300" dirty="0"/>
          </a:p>
        </p:txBody>
      </p:sp>
      <p:sp>
        <p:nvSpPr>
          <p:cNvPr id="7" name="머리표 구성 전략 (Vertical 협업)"/>
          <p:cNvSpPr/>
          <p:nvPr/>
        </p:nvSpPr>
        <p:spPr>
          <a:xfrm>
            <a:off x="438912" y="2103120"/>
            <a:ext cx="164592" cy="164592"/>
          </a:xfrm>
          <a:prstGeom prst="rect">
            <a:avLst/>
          </a:prstGeom>
          <a:solidFill>
            <a:schemeClr val="bg1"/>
          </a:solidFill>
          <a:ln w="15875">
            <a:solidFill>
              <a:schemeClr val="tx1"/>
            </a:solidFill>
            <a:prstDash val="solid"/>
          </a:ln>
          <a:effectLst>
            <a:outerShdw sx="100000" sy="100000" kx="0" ky="0" algn="bl" rotWithShape="0" blurRad="12700" dist="19050" dir="2700000">
              <a:srgbClr val="7F7F7F">
                <a:alpha val="6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85800" y="2029968"/>
            <a:ext cx="5166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구성 전략 (Vertical 협업)</a:t>
            </a:r>
            <a:endParaRPr lang="en-US" sz="1300" dirty="0"/>
          </a:p>
        </p:txBody>
      </p:sp>
      <p:sp>
        <p:nvSpPr>
          <p:cNvPr id="9" name="공동 TF"/>
          <p:cNvSpPr txBox="1"/>
          <p:nvPr/>
        </p:nvSpPr>
        <p:spPr>
          <a:xfrm>
            <a:off x="1463040" y="2377440"/>
            <a:ext cx="3657600" cy="219456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FDE 공동 TF</a:t>
            </a:r>
            <a:endParaRPr lang="en-US" sz="1000" dirty="0"/>
          </a:p>
        </p:txBody>
      </p:sp>
      <p:sp>
        <p:nvSpPr>
          <p:cNvPr id="10" name="팀 AX컨설팅팀"/>
          <p:cNvSpPr/>
          <p:nvPr/>
        </p:nvSpPr>
        <p:spPr>
          <a:xfrm>
            <a:off x="1463040" y="2633472"/>
            <a:ext cx="1783080" cy="420624"/>
          </a:xfrm>
          <a:prstGeom prst="roundRect">
            <a:avLst>
              <a:gd name="adj" fmla="val 13043"/>
            </a:avLst>
          </a:prstGeom>
          <a:solidFill>
            <a:schemeClr val="bg1"/>
          </a:solidFill>
          <a:ln w="15875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AX컨설팅팀</a:t>
            </a:r>
            <a:endParaRPr lang="en-US" sz="1100" dirty="0"/>
          </a:p>
          <a:p>
            <a:pPr algn="ctr" indent="0" marL="0">
              <a:buNone/>
            </a:pPr>
            <a:r>
              <a:rPr lang="en-US" sz="850" dirty="0">
                <a:solidFill>
                  <a:schemeClr val="accent5"/>
                </a:solidFill>
              </a:rPr>
              <a:t>AI컨설팅 경험·산출물·엔지니어</a:t>
            </a:r>
            <a:endParaRPr lang="en-US" sz="1100" dirty="0"/>
          </a:p>
        </p:txBody>
      </p:sp>
      <p:sp>
        <p:nvSpPr>
          <p:cNvPr id="11" name="팀 Biz컨설팅팀"/>
          <p:cNvSpPr/>
          <p:nvPr/>
        </p:nvSpPr>
        <p:spPr>
          <a:xfrm>
            <a:off x="3337560" y="2633472"/>
            <a:ext cx="1783080" cy="420624"/>
          </a:xfrm>
          <a:prstGeom prst="roundRect">
            <a:avLst>
              <a:gd name="adj" fmla="val 13043"/>
            </a:avLst>
          </a:prstGeom>
          <a:solidFill>
            <a:schemeClr val="bg1"/>
          </a:solidFill>
          <a:ln w="15875">
            <a:solidFill>
              <a:schemeClr val="accent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6"/>
                </a:solidFill>
              </a:rPr>
              <a:t>Biz컨설팅팀</a:t>
            </a:r>
            <a:endParaRPr lang="en-US" sz="1100" dirty="0"/>
          </a:p>
          <a:p>
            <a:pPr algn="ctr" indent="0" marL="0">
              <a:buNone/>
            </a:pPr>
            <a:r>
              <a:rPr lang="en-US" sz="850" dirty="0">
                <a:solidFill>
                  <a:schemeClr val="accent5"/>
                </a:solidFill>
              </a:rPr>
              <a:t>업종·업무 도메인 전문가</a:t>
            </a:r>
            <a:endParaRPr lang="en-US" sz="1100" dirty="0"/>
          </a:p>
        </p:txBody>
      </p:sp>
      <p:sp>
        <p:nvSpPr>
          <p:cNvPr id="12" name="단계 1"/>
          <p:cNvSpPr/>
          <p:nvPr/>
        </p:nvSpPr>
        <p:spPr>
          <a:xfrm>
            <a:off x="411480" y="3172968"/>
            <a:ext cx="246888" cy="246888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11480" y="3172968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1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704088" y="3127248"/>
            <a:ext cx="685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chemeClr val="tx1"/>
                </a:solidFill>
              </a:rPr>
              <a:t>과제 발굴</a:t>
            </a:r>
            <a:endParaRPr lang="en-US" sz="950" dirty="0"/>
          </a:p>
        </p:txBody>
      </p:sp>
      <p:sp>
        <p:nvSpPr>
          <p:cNvPr id="15" name="AX 과제 발굴"/>
          <p:cNvSpPr txBox="1"/>
          <p:nvPr/>
        </p:nvSpPr>
        <p:spPr>
          <a:xfrm>
            <a:off x="1463040" y="3127248"/>
            <a:ext cx="1783080" cy="338328"/>
          </a:xfrm>
          <a:prstGeom prst="rect">
            <a:avLst/>
          </a:prstGeom>
          <a:solidFill>
            <a:srgbClr val="E6ED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chemeClr val="tx1"/>
                </a:solidFill>
              </a:rPr>
              <a:t>AI과제 Pool 108건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chemeClr val="tx1"/>
                </a:solidFill>
              </a:rPr>
              <a:t>진단 방법론·SPOT 진단</a:t>
            </a:r>
            <a:endParaRPr lang="en-US" sz="850" dirty="0"/>
          </a:p>
        </p:txBody>
      </p:sp>
      <p:sp>
        <p:nvSpPr>
          <p:cNvPr id="16" name="Biz 과제 발굴"/>
          <p:cNvSpPr txBox="1"/>
          <p:nvPr/>
        </p:nvSpPr>
        <p:spPr>
          <a:xfrm>
            <a:off x="3337560" y="3127248"/>
            <a:ext cx="1783080" cy="338328"/>
          </a:xfrm>
          <a:prstGeom prst="rect">
            <a:avLst/>
          </a:prstGeom>
          <a:solidFill>
            <a:srgbClr val="E3F2E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chemeClr val="tx1"/>
                </a:solidFill>
              </a:rPr>
              <a:t>AX PI 도출 To-Be 과제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chemeClr val="tx1"/>
                </a:solidFill>
              </a:rPr>
              <a:t>그룹사 현안 과제</a:t>
            </a:r>
            <a:endParaRPr lang="en-US" sz="850" dirty="0"/>
          </a:p>
        </p:txBody>
      </p:sp>
      <p:sp>
        <p:nvSpPr>
          <p:cNvPr id="17" name="단계 2"/>
          <p:cNvSpPr/>
          <p:nvPr/>
        </p:nvSpPr>
        <p:spPr>
          <a:xfrm>
            <a:off x="411480" y="3557016"/>
            <a:ext cx="246888" cy="246888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11480" y="3557016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2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704088" y="3511296"/>
            <a:ext cx="685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chemeClr val="tx1"/>
                </a:solidFill>
              </a:rPr>
              <a:t>도메인 분석</a:t>
            </a:r>
            <a:endParaRPr lang="en-US" sz="950" dirty="0"/>
          </a:p>
        </p:txBody>
      </p:sp>
      <p:sp>
        <p:nvSpPr>
          <p:cNvPr id="20" name="AX 도메인 분석"/>
          <p:cNvSpPr txBox="1"/>
          <p:nvPr/>
        </p:nvSpPr>
        <p:spPr>
          <a:xfrm>
            <a:off x="1463040" y="3511296"/>
            <a:ext cx="1783080" cy="338328"/>
          </a:xfrm>
          <a:prstGeom prst="rect">
            <a:avLst/>
          </a:prstGeom>
          <a:solidFill>
            <a:srgbClr val="E6ED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chemeClr val="tx1"/>
                </a:solidFill>
              </a:rPr>
              <a:t>AI 적용 시나리오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chemeClr val="tx1"/>
                </a:solidFill>
              </a:rPr>
              <a:t>유사 사례·벤치마크</a:t>
            </a:r>
            <a:endParaRPr lang="en-US" sz="850" dirty="0"/>
          </a:p>
        </p:txBody>
      </p:sp>
      <p:sp>
        <p:nvSpPr>
          <p:cNvPr id="21" name="Biz 도메인 분석"/>
          <p:cNvSpPr txBox="1"/>
          <p:nvPr/>
        </p:nvSpPr>
        <p:spPr>
          <a:xfrm>
            <a:off x="3337560" y="3511296"/>
            <a:ext cx="1783080" cy="338328"/>
          </a:xfrm>
          <a:prstGeom prst="rect">
            <a:avLst/>
          </a:prstGeom>
          <a:solidFill>
            <a:srgbClr val="E3F2E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chemeClr val="tx1"/>
                </a:solidFill>
              </a:rPr>
              <a:t>Value Chain별 업무 분석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chemeClr val="tx1"/>
                </a:solidFill>
              </a:rPr>
              <a:t>(유통·식품·화학 등)</a:t>
            </a:r>
            <a:endParaRPr lang="en-US" sz="850" dirty="0"/>
          </a:p>
        </p:txBody>
      </p:sp>
      <p:sp>
        <p:nvSpPr>
          <p:cNvPr id="22" name="단계 3"/>
          <p:cNvSpPr/>
          <p:nvPr/>
        </p:nvSpPr>
        <p:spPr>
          <a:xfrm>
            <a:off x="411480" y="3941064"/>
            <a:ext cx="246888" cy="246888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11480" y="3941064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3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704088" y="3895344"/>
            <a:ext cx="685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chemeClr val="tx1"/>
                </a:solidFill>
              </a:rPr>
              <a:t>적용 설계</a:t>
            </a:r>
            <a:endParaRPr lang="en-US" sz="950" dirty="0"/>
          </a:p>
        </p:txBody>
      </p:sp>
      <p:sp>
        <p:nvSpPr>
          <p:cNvPr id="25" name="AX 적용 설계"/>
          <p:cNvSpPr txBox="1"/>
          <p:nvPr/>
        </p:nvSpPr>
        <p:spPr>
          <a:xfrm>
            <a:off x="1463040" y="3895344"/>
            <a:ext cx="1783080" cy="338328"/>
          </a:xfrm>
          <a:prstGeom prst="rect">
            <a:avLst/>
          </a:prstGeom>
          <a:solidFill>
            <a:srgbClr val="E6ED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chemeClr val="tx1"/>
                </a:solidFill>
              </a:rPr>
              <a:t>AI 아키텍처·기간계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chemeClr val="tx1"/>
                </a:solidFill>
              </a:rPr>
              <a:t>연동·데이터 설계</a:t>
            </a:r>
            <a:endParaRPr lang="en-US" sz="850" dirty="0"/>
          </a:p>
        </p:txBody>
      </p:sp>
      <p:sp>
        <p:nvSpPr>
          <p:cNvPr id="26" name="Biz 적용 설계"/>
          <p:cNvSpPr txBox="1"/>
          <p:nvPr/>
        </p:nvSpPr>
        <p:spPr>
          <a:xfrm>
            <a:off x="3337560" y="3895344"/>
            <a:ext cx="1783080" cy="338328"/>
          </a:xfrm>
          <a:prstGeom prst="rect">
            <a:avLst/>
          </a:prstGeom>
          <a:solidFill>
            <a:srgbClr val="E3F2E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chemeClr val="tx1"/>
                </a:solidFill>
              </a:rPr>
              <a:t>업무 To-Be 요건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chemeClr val="tx1"/>
                </a:solidFill>
              </a:rPr>
              <a:t>성과지표(KPI) 정의</a:t>
            </a:r>
            <a:endParaRPr lang="en-US" sz="850" dirty="0"/>
          </a:p>
        </p:txBody>
      </p:sp>
      <p:sp>
        <p:nvSpPr>
          <p:cNvPr id="27" name="단계 4"/>
          <p:cNvSpPr/>
          <p:nvPr/>
        </p:nvSpPr>
        <p:spPr>
          <a:xfrm>
            <a:off x="411480" y="4325112"/>
            <a:ext cx="246888" cy="246888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11480" y="4325112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4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704088" y="4279392"/>
            <a:ext cx="685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chemeClr val="tx1"/>
                </a:solidFill>
              </a:rPr>
              <a:t>MVP 구축</a:t>
            </a:r>
            <a:endParaRPr lang="en-US" sz="950" dirty="0"/>
          </a:p>
        </p:txBody>
      </p:sp>
      <p:sp>
        <p:nvSpPr>
          <p:cNvPr id="30" name="AX MVP 구축"/>
          <p:cNvSpPr txBox="1"/>
          <p:nvPr/>
        </p:nvSpPr>
        <p:spPr>
          <a:xfrm>
            <a:off x="1463040" y="4279392"/>
            <a:ext cx="1783080" cy="338328"/>
          </a:xfrm>
          <a:prstGeom prst="rect">
            <a:avLst/>
          </a:prstGeom>
          <a:solidFill>
            <a:srgbClr val="E6ED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chemeClr val="tx1"/>
                </a:solidFill>
              </a:rPr>
              <a:t>엔지니어 MVP 구축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chemeClr val="tx1"/>
                </a:solidFill>
              </a:rPr>
              <a:t>(L1 프로토타입~L2)</a:t>
            </a:r>
            <a:endParaRPr lang="en-US" sz="850" dirty="0"/>
          </a:p>
        </p:txBody>
      </p:sp>
      <p:sp>
        <p:nvSpPr>
          <p:cNvPr id="31" name="Biz MVP 구축"/>
          <p:cNvSpPr txBox="1"/>
          <p:nvPr/>
        </p:nvSpPr>
        <p:spPr>
          <a:xfrm>
            <a:off x="3337560" y="4279392"/>
            <a:ext cx="1783080" cy="338328"/>
          </a:xfrm>
          <a:prstGeom prst="rect">
            <a:avLst/>
          </a:prstGeom>
          <a:solidFill>
            <a:srgbClr val="E3F2E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chemeClr val="tx1"/>
                </a:solidFill>
              </a:rPr>
              <a:t>현업 검증·성과 측정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chemeClr val="tx1"/>
                </a:solidFill>
              </a:rPr>
              <a:t>변화관리</a:t>
            </a:r>
            <a:endParaRPr lang="en-US" sz="850" dirty="0"/>
          </a:p>
        </p:txBody>
      </p:sp>
      <p:sp>
        <p:nvSpPr>
          <p:cNvPr id="32" name="단계 5"/>
          <p:cNvSpPr/>
          <p:nvPr/>
        </p:nvSpPr>
        <p:spPr>
          <a:xfrm>
            <a:off x="411480" y="4709160"/>
            <a:ext cx="246888" cy="24688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11480" y="4709160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5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704088" y="4663440"/>
            <a:ext cx="685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chemeClr val="tx1"/>
                </a:solidFill>
              </a:rPr>
              <a:t>운영 이관</a:t>
            </a:r>
            <a:endParaRPr lang="en-US" sz="950" dirty="0"/>
          </a:p>
        </p:txBody>
      </p:sp>
      <p:sp>
        <p:nvSpPr>
          <p:cNvPr id="35" name="공동 운영 이관"/>
          <p:cNvSpPr txBox="1"/>
          <p:nvPr/>
        </p:nvSpPr>
        <p:spPr>
          <a:xfrm>
            <a:off x="1463040" y="4663440"/>
            <a:ext cx="3657600" cy="338328"/>
          </a:xfrm>
          <a:prstGeom prst="rect">
            <a:avLst/>
          </a:prstGeom>
          <a:solidFill>
            <a:srgbClr val="FBE7E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chemeClr val="accent2"/>
                </a:solidFill>
              </a:rPr>
              <a:t>운영 이관 설계 → 구축사업화 (IT 계열사 연계)</a:t>
            </a:r>
            <a:endParaRPr lang="en-US" sz="950" dirty="0"/>
          </a:p>
        </p:txBody>
      </p:sp>
      <p:sp>
        <p:nvSpPr>
          <p:cNvPr id="36" name="대내 고객"/>
          <p:cNvSpPr/>
          <p:nvPr/>
        </p:nvSpPr>
        <p:spPr>
          <a:xfrm>
            <a:off x="5230368" y="2633472"/>
            <a:ext cx="713232" cy="2368296"/>
          </a:xfrm>
          <a:prstGeom prst="roundRect">
            <a:avLst>
              <a:gd name="adj" fmla="val 7692"/>
            </a:avLst>
          </a:prstGeom>
          <a:solidFill>
            <a:srgbClr val="F2F3F5"/>
          </a:solidFill>
          <a:ln w="12700">
            <a:solidFill>
              <a:srgbClr val="A6ADB8"/>
            </a:solidFill>
            <a:prstDash val="dash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그룹사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현업</a:t>
            </a:r>
            <a:endParaRPr lang="en-US" sz="1000" dirty="0"/>
          </a:p>
          <a:p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(대내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고객)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411480" y="5120640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※ 컨설팅 부문 수행</a:t>
            </a:r>
            <a:endParaRPr lang="en-US" sz="1200" dirty="0"/>
          </a:p>
        </p:txBody>
      </p:sp>
      <p:graphicFrame>
        <p:nvGraphicFramePr>
          <p:cNvPr id="2" name="컨설팅 부문 수행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5440680"/>
          <a:ext cx="5532120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4389120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F232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구 분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D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F232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보유 역량 · 수행 내역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DE3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F7B6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Biz컨설팅팀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Value Chain별 도메인 전문 역량 보유, AX PI로 To-Be 과제 도출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F4E9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AX컨설팅팀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AI컨설팅 27건 수행 (그룹사 22건, 대외 5건), AI과제 Pool 108건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8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적용 2건(호텔·백화점), 수주 연계 21.1억, '27년 엔지니어 2명 확보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9" name="머리표 FDE 추진 프로세스"/>
          <p:cNvSpPr/>
          <p:nvPr/>
        </p:nvSpPr>
        <p:spPr>
          <a:xfrm>
            <a:off x="6272784" y="2103120"/>
            <a:ext cx="164592" cy="164592"/>
          </a:xfrm>
          <a:prstGeom prst="rect">
            <a:avLst/>
          </a:prstGeom>
          <a:solidFill>
            <a:schemeClr val="bg1"/>
          </a:solidFill>
          <a:ln w="15875">
            <a:solidFill>
              <a:schemeClr val="tx1"/>
            </a:solidFill>
            <a:prstDash val="solid"/>
          </a:ln>
          <a:effectLst>
            <a:outerShdw sx="100000" sy="100000" kx="0" ky="0" algn="bl" rotWithShape="0" blurRad="12700" dist="19050" dir="2700000">
              <a:srgbClr val="7F7F7F">
                <a:alpha val="60000"/>
              </a:srgbClr>
            </a:outerShdw>
          </a:effectLst>
        </p:spPr>
      </p:sp>
      <p:sp>
        <p:nvSpPr>
          <p:cNvPr id="40" name="Text 37"/>
          <p:cNvSpPr txBox="1"/>
          <p:nvPr/>
        </p:nvSpPr>
        <p:spPr>
          <a:xfrm>
            <a:off x="6519672" y="2029968"/>
            <a:ext cx="5166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FDE 추진 프로세스</a:t>
            </a:r>
            <a:endParaRPr lang="en-US" sz="1300" dirty="0"/>
          </a:p>
        </p:txBody>
      </p:sp>
      <p:sp>
        <p:nvSpPr>
          <p:cNvPr id="41" name="프로세스 1"/>
          <p:cNvSpPr/>
          <p:nvPr/>
        </p:nvSpPr>
        <p:spPr>
          <a:xfrm>
            <a:off x="6245352" y="2395728"/>
            <a:ext cx="1417320" cy="457200"/>
          </a:xfrm>
          <a:prstGeom prst="homePlate">
            <a:avLst/>
          </a:prstGeom>
          <a:solidFill>
            <a:srgbClr val="5B7FB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과제 선정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(Target)</a:t>
            </a:r>
            <a:endParaRPr lang="en-US" sz="1000" dirty="0"/>
          </a:p>
        </p:txBody>
      </p:sp>
      <p:sp>
        <p:nvSpPr>
          <p:cNvPr id="42" name="Text 39"/>
          <p:cNvSpPr txBox="1"/>
          <p:nvPr/>
        </p:nvSpPr>
        <p:spPr>
          <a:xfrm>
            <a:off x="6318504" y="2926080"/>
            <a:ext cx="1234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F2329"/>
                </a:solidFill>
              </a:rPr>
              <a:t>- Pool·PI 과제 Target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F2329"/>
                </a:solidFill>
              </a:rPr>
              <a:t>- 효과·실현성 평가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F2329"/>
                </a:solidFill>
              </a:rPr>
              <a:t>- 고객 Sponsor 확보</a:t>
            </a:r>
            <a:endParaRPr lang="en-US" sz="900" dirty="0"/>
          </a:p>
        </p:txBody>
      </p:sp>
      <p:sp>
        <p:nvSpPr>
          <p:cNvPr id="43" name="프로세스 2"/>
          <p:cNvSpPr/>
          <p:nvPr/>
        </p:nvSpPr>
        <p:spPr>
          <a:xfrm>
            <a:off x="7616952" y="2395728"/>
            <a:ext cx="1417320" cy="457200"/>
          </a:xfrm>
          <a:prstGeom prst="chevron">
            <a:avLst/>
          </a:prstGeom>
          <a:solidFill>
            <a:srgbClr val="5B7FB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적용 컨설팅</a:t>
            </a:r>
            <a:endParaRPr lang="en-US" sz="1000" dirty="0"/>
          </a:p>
        </p:txBody>
      </p:sp>
      <p:sp>
        <p:nvSpPr>
          <p:cNvPr id="44" name="Text 41"/>
          <p:cNvSpPr txBox="1"/>
          <p:nvPr/>
        </p:nvSpPr>
        <p:spPr>
          <a:xfrm>
            <a:off x="7690104" y="2926080"/>
            <a:ext cx="1234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F2329"/>
                </a:solidFill>
              </a:rPr>
              <a:t>- 기간계 적용방안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F2329"/>
                </a:solidFill>
              </a:rPr>
              <a:t>  (데이터·연동·권한)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F2329"/>
                </a:solidFill>
              </a:rPr>
              <a:t>- 업무 To-Be 설계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F2329"/>
                </a:solidFill>
              </a:rPr>
              <a:t>- 투자효과 산정</a:t>
            </a:r>
            <a:endParaRPr lang="en-US" sz="900" dirty="0"/>
          </a:p>
        </p:txBody>
      </p:sp>
      <p:sp>
        <p:nvSpPr>
          <p:cNvPr id="45" name="프로세스 3"/>
          <p:cNvSpPr/>
          <p:nvPr/>
        </p:nvSpPr>
        <p:spPr>
          <a:xfrm>
            <a:off x="8988552" y="2395728"/>
            <a:ext cx="1417320" cy="457200"/>
          </a:xfrm>
          <a:prstGeom prst="chevron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MVP 구축·검증</a:t>
            </a:r>
            <a:endParaRPr lang="en-US" sz="1000" dirty="0"/>
          </a:p>
        </p:txBody>
      </p:sp>
      <p:sp>
        <p:nvSpPr>
          <p:cNvPr id="46" name="Text 43"/>
          <p:cNvSpPr txBox="1"/>
          <p:nvPr/>
        </p:nvSpPr>
        <p:spPr>
          <a:xfrm>
            <a:off x="9061704" y="2926080"/>
            <a:ext cx="1234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F2329"/>
                </a:solidFill>
              </a:rPr>
              <a:t>- L1~L2 MVP (6~8주)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F2329"/>
                </a:solidFill>
              </a:rPr>
              <a:t>- 현업 검증·성과 측정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1F2329"/>
                </a:solidFill>
              </a:rPr>
              <a:t>- Go / No-go 결정</a:t>
            </a:r>
            <a:endParaRPr lang="en-US" sz="900" dirty="0"/>
          </a:p>
        </p:txBody>
      </p:sp>
      <p:sp>
        <p:nvSpPr>
          <p:cNvPr id="47" name="프로세스 4"/>
          <p:cNvSpPr/>
          <p:nvPr/>
        </p:nvSpPr>
        <p:spPr>
          <a:xfrm>
            <a:off x="10360152" y="2395728"/>
            <a:ext cx="1417320" cy="457200"/>
          </a:xfrm>
          <a:prstGeom prst="chevron">
            <a:avLst/>
          </a:prstGeom>
          <a:solidFill>
            <a:srgbClr val="D9DD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운영 이관·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구축사업화</a:t>
            </a:r>
            <a:endParaRPr lang="en-US" sz="1000" dirty="0"/>
          </a:p>
        </p:txBody>
      </p:sp>
      <p:sp>
        <p:nvSpPr>
          <p:cNvPr id="48" name="Text 45"/>
          <p:cNvSpPr txBox="1"/>
          <p:nvPr/>
        </p:nvSpPr>
        <p:spPr>
          <a:xfrm>
            <a:off x="10433304" y="2926080"/>
            <a:ext cx="1234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B82"/>
                </a:solidFill>
              </a:rPr>
              <a:t>- 운영 이관 설계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B6B82"/>
                </a:solidFill>
              </a:rPr>
              <a:t>- IT 계열사 구축 연계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B6B82"/>
                </a:solidFill>
              </a:rPr>
              <a:t>- 그룹사 확산</a:t>
            </a:r>
            <a:endParaRPr lang="en-US" sz="900" dirty="0"/>
          </a:p>
        </p:txBody>
      </p:sp>
      <p:sp>
        <p:nvSpPr>
          <p:cNvPr id="49" name="Open door 범위"/>
          <p:cNvSpPr/>
          <p:nvPr/>
        </p:nvSpPr>
        <p:spPr>
          <a:xfrm>
            <a:off x="6336792" y="3639312"/>
            <a:ext cx="3931920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6245352" y="3675888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chemeClr val="accent1"/>
                </a:solidFill>
              </a:rPr>
              <a:t>FDE 핵심 역할 : 빠른 Target → MVP로 구축사업 진입</a:t>
            </a:r>
            <a:endParaRPr lang="en-US" sz="950" dirty="0"/>
          </a:p>
        </p:txBody>
      </p:sp>
      <p:sp>
        <p:nvSpPr>
          <p:cNvPr id="51" name="Text 48"/>
          <p:cNvSpPr txBox="1"/>
          <p:nvPr/>
        </p:nvSpPr>
        <p:spPr>
          <a:xfrm>
            <a:off x="6245352" y="4224528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※ 설계·구축 인력 강화 필요</a:t>
            </a:r>
            <a:endParaRPr lang="en-US" sz="1200" dirty="0"/>
          </a:p>
        </p:txBody>
      </p:sp>
      <p:sp>
        <p:nvSpPr>
          <p:cNvPr id="52" name="Text 49"/>
          <p:cNvSpPr txBox="1"/>
          <p:nvPr/>
        </p:nvSpPr>
        <p:spPr>
          <a:xfrm>
            <a:off x="9445752" y="42519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chemeClr val="accent5"/>
                </a:solidFill>
              </a:rPr>
              <a:t>(○ 미흡  ◐ 보통  ● 충분)</a:t>
            </a:r>
            <a:endParaRPr lang="en-US" sz="900" dirty="0"/>
          </a:p>
        </p:txBody>
      </p:sp>
      <p:graphicFrame>
        <p:nvGraphicFramePr>
          <p:cNvPr id="3" name="역량 강화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4526280"/>
          <a:ext cx="553212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548640"/>
                <a:gridCol w="3063240"/>
              </a:tblGrid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F232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요구 역량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D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F232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보유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D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F232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역량 강화 방안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DE3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업무 문제정의·과제 발굴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4E9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AI과제 Pool 108건·진단 방법론 자산화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AI 적용 설계·MVP 설계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4E9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◐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전원 AI 빌더 교육 (바이브코딩·노코드)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AI 개발·기간계 연동 (L2)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4E9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D0342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엔지니어 기반 경력 채용 2명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운영 이관·구축 PM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4E9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◐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IT 계열사 협업, 구축 PMO 참여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" name="인력 계획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5779008"/>
          <a:ext cx="553212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320040"/>
                <a:gridCol w="1828800"/>
                <a:gridCol w="219456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F232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As-Is ('26)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D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D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F232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To-Be ('27)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D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F232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비 고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DE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F232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12명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F232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(컨설턴트 12)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4E9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→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F4E9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14명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F4E9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(컨설턴트 12, AI 엔지니어 2)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32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LLM·RAG·에이전트 개발, 기간계 연동 경험 경력 채용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AX Consulting">
  <a:themeElements>
    <a:clrScheme name="AX Consulting">
      <a:dk1>
        <a:srgbClr val="1F2329"/>
      </a:dk1>
      <a:lt1>
        <a:srgbClr val="FFFFFF"/>
      </a:lt1>
      <a:dk2>
        <a:srgbClr val="2F3E55"/>
      </a:dk2>
      <a:lt2>
        <a:srgbClr val="F2F4F7"/>
      </a:lt2>
      <a:accent1>
        <a:srgbClr val="1F4E9A"/>
      </a:accent1>
      <a:accent2>
        <a:srgbClr val="D0342C"/>
      </a:accent2>
      <a:accent3>
        <a:srgbClr val="8A94A6"/>
      </a:accent3>
      <a:accent4>
        <a:srgbClr val="E3EAF5"/>
      </a:accent4>
      <a:accent5>
        <a:srgbClr val="5B6B82"/>
      </a:accent5>
      <a:accent6>
        <a:srgbClr val="0F7B6C"/>
      </a:accent6>
      <a:hlink>
        <a:srgbClr val="1F4E9A"/>
      </a:hlink>
      <a:folHlink>
        <a:srgbClr val="5B6B82"/>
      </a:folHlink>
    </a:clrScheme>
    <a:fontScheme name="AX Consulting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2026-10-27T10:27:21Z</dcterms:created>
  <dcterms:modified xsi:type="dcterms:W3CDTF">2026-10-27T10:27:21Z</dcterms:modified>
</cp:coreProperties>
</file>