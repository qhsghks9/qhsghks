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xt INWAYIN" id="{f6da8894-f771-bbe7-2154-3faa689ca93f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축약. 왼쪽: 고객사 현장에서 실행전략·교육·과제발굴 등 시장 요구에 맞춘 AI컨설팅 수행(총 21건 PJT, 6건 교육·camp) / 산업별 밸류체인별 실행 가능 AI과제 108개 도출 / AI과제발굴 컨설팅 통한 사업화 기회 확보(그룹사 현장 적용-호텔·백화점, 대외 시스템 도입 시 AX연계-차세대 사업 수주 129억, AI 인벤토리 3건). 시사점 ①그룹사 AX과제 전 주기 연계 강화(과제 발굴부터 구축 운영까지 연계하는 실행체계 강화) ②대외 사업 AX연계 및 수주 경쟁력 강화(대외 신규 시스템 사업 기획·제안 단계부터 AX 적용 요소 발굴, 사업 범위 확대 및 수주 경쟁력 제고).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28016"/>
            <a:ext cx="11457432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28016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3. Next INWAYIN &gt; 현장 실행 기반 AX 가속화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13232"/>
            <a:ext cx="11457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현장 실행 역량을 강화하고, 대외 Open Door 수행을 통해 AX 사업 확장 기반 확보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2070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중심의 산업 전문지식 및 역량 축적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6052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54880" y="1207008"/>
            <a:ext cx="7068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및 대외 AX 실행 가속화 지원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7068312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64208"/>
            <a:ext cx="416052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47088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737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요구 맞춤형 AI 컨설팅 수행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0116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컨설팅 PJT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21건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교육·Camp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6건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32304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3225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실행 가능 AI 과제 108개 도출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33472"/>
          <a:ext cx="3886200" cy="914400"/>
        </p:xfrm>
        <a:graphic>
          <a:graphicData uri="http://schemas.openxmlformats.org/drawingml/2006/table">
            <a:tbl>
              <a:tblPr/>
              <a:tblGrid>
                <a:gridCol w="475488"/>
                <a:gridCol w="475488"/>
                <a:gridCol w="475488"/>
                <a:gridCol w="475488"/>
                <a:gridCol w="475488"/>
                <a:gridCol w="475488"/>
                <a:gridCol w="502920"/>
                <a:gridCol w="5303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R&amp;D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506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02920" y="3438144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3284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기반 사업화 기회 확보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60273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그룹사 현장 적용 (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호텔·백화점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85876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대외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차세대 사업 수주(129억)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AI 인벤토리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 rot="10800000">
            <a:off x="502920" y="4233672"/>
            <a:ext cx="3886200" cy="182880"/>
          </a:xfrm>
          <a:prstGeom prst="trapezoid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implication"/>
          <p:cNvSpPr/>
          <p:nvPr/>
        </p:nvSpPr>
        <p:spPr>
          <a:xfrm>
            <a:off x="365760" y="4462272"/>
            <a:ext cx="4160520" cy="2167128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2920" y="475488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47365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AX 과제 전 주기 연계 강화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발굴~구축·운영 실행체계 강화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02920" y="583844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58384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868680" y="582015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사업 AX 연계·수주 경쟁력 강화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단계부터 AX 요소 발굴, 사업 범위 확대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754880" y="1664208"/>
            <a:ext cx="777240" cy="2121408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54880" y="1664208"/>
            <a:ext cx="7772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532120" y="1664208"/>
            <a:ext cx="6291072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96712" y="1810512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824728" y="1709928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전략 수립 ~ 현장 실행 </a:t>
            </a:r>
            <a:pPr indent="0" marL="0">
              <a:buNone/>
            </a:pPr>
            <a:r>
              <a:rPr lang="en-US" sz="13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全주기 체계 구축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715000" y="2048256"/>
            <a:ext cx="2331720" cy="512064"/>
          </a:xfrm>
          <a:prstGeom prst="flowChartOffpageConnector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71500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실행전략 수립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0" y="2048256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AX 지향점 · 우선영역 정의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실행체계 · 단계별 로드맵 수립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715000" y="2615184"/>
            <a:ext cx="2331720" cy="512064"/>
          </a:xfrm>
          <a:prstGeom prst="flowChartOffpageConnector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715000" y="25786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참여형 과제발굴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0" y="2615184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현업 참여 문제 정의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AI 실습교육 연계 과제 도출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5715000" y="3182112"/>
            <a:ext cx="2331720" cy="512064"/>
          </a:xfrm>
          <a:prstGeom prst="flowChartOffpageConnector">
            <a:avLst/>
          </a:prstGeom>
          <a:solidFill>
            <a:srgbClr val="FBE5E6"/>
          </a:solidFill>
          <a:ln w="12700">
            <a:solidFill>
              <a:srgbClr val="F4B6B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715000" y="314553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기반 현장 AI 실행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8229600" y="3182112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업무목표 재설계 · AI 구현·검증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운영 안착 · 자산화 후 확산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4919472" y="3877056"/>
            <a:ext cx="457200" cy="338328"/>
          </a:xfrm>
          <a:prstGeom prst="upArrow">
            <a:avLst/>
          </a:prstGeom>
          <a:solidFill>
            <a:srgbClr val="BFC6D4"/>
          </a:solidFill>
          <a:ln w="12700">
            <a:solidFill>
              <a:srgbClr val="BFC6D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919472" y="4251960"/>
            <a:ext cx="457200" cy="338328"/>
          </a:xfrm>
          <a:prstGeom prst="downArrow">
            <a:avLst/>
          </a:prstGeom>
          <a:solidFill>
            <a:srgbClr val="BFC6D4"/>
          </a:solidFill>
          <a:ln w="12700">
            <a:solidFill>
              <a:srgbClr val="BFC6D4"/>
            </a:solidFill>
            <a:prstDash val="solid"/>
          </a:ln>
        </p:spPr>
      </p:sp>
      <p:sp>
        <p:nvSpPr>
          <p:cNvPr id="43" name="enablers"/>
          <p:cNvSpPr/>
          <p:nvPr/>
        </p:nvSpPr>
        <p:spPr>
          <a:xfrm>
            <a:off x="5532120" y="3877056"/>
            <a:ext cx="6291072" cy="713232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641848" y="3968496"/>
            <a:ext cx="196291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715000" y="410565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715000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6007608" y="3968496"/>
            <a:ext cx="1551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AX컨설팅 방법론의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플랫폼화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7696200" y="3968496"/>
            <a:ext cx="196291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69352" y="410565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769352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8061960" y="3968496"/>
            <a:ext cx="1551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AI 활용 모델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적용 사례 확보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9750552" y="3968496"/>
            <a:ext cx="196291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823704" y="410565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823704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116312" y="3968496"/>
            <a:ext cx="1551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전문 인력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 · 역량 내재화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4754880" y="4681728"/>
            <a:ext cx="777240" cy="1947672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754880" y="4681728"/>
            <a:ext cx="77724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대외사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5532120" y="4681728"/>
            <a:ext cx="6291072" cy="1947672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696712" y="4828032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824728" y="4727448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도입 시점 </a:t>
            </a:r>
            <a:pPr indent="0" marL="0">
              <a:buNone/>
            </a:pPr>
            <a:r>
              <a:rPr lang="en-US" sz="13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접목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사업 범위 확대 · 수주 기여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5824728" y="5001768"/>
            <a:ext cx="5879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그룹사 검증 레퍼런스 기반 고객사 Pool 先제안</a:t>
            </a:r>
            <a:endParaRPr lang="en-US" sz="1150" dirty="0"/>
          </a:p>
        </p:txBody>
      </p:sp>
      <p:sp>
        <p:nvSpPr>
          <p:cNvPr id="62" name="Shape 59"/>
          <p:cNvSpPr/>
          <p:nvPr/>
        </p:nvSpPr>
        <p:spPr>
          <a:xfrm>
            <a:off x="5715000" y="5490972"/>
            <a:ext cx="17617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46506A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760720" y="5490972"/>
            <a:ext cx="167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AI 성숙도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· 유형화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7568184" y="5806440"/>
            <a:ext cx="137160" cy="237744"/>
          </a:xfrm>
          <a:prstGeom prst="chevron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796784" y="5490972"/>
            <a:ext cx="17617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46506A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7842504" y="5490972"/>
            <a:ext cx="167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도입 ×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제안</a:t>
            </a:r>
            <a:endParaRPr lang="en-US" sz="120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개발·SaaS·클라우드 연계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9649968" y="5806440"/>
            <a:ext cx="137160" cy="237744"/>
          </a:xfrm>
          <a:prstGeom prst="chevron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9878568" y="5490972"/>
            <a:ext cx="17617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46506A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9924288" y="5490972"/>
            <a:ext cx="167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모델 자산화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고객 간 확산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SK Tone">
  <a:themeElements>
    <a:clrScheme name="AX SK Tone">
      <a:dk1>
        <a:srgbClr val="000000"/>
      </a:dk1>
      <a:lt1>
        <a:srgbClr val="FFFFFF"/>
      </a:lt1>
      <a:dk2>
        <a:srgbClr val="46506A"/>
      </a:dk2>
      <a:lt2>
        <a:srgbClr val="F2F2F2"/>
      </a:lt2>
      <a:accent1>
        <a:srgbClr val="3B5B8C"/>
      </a:accent1>
      <a:accent2>
        <a:srgbClr val="46506A"/>
      </a:accent2>
      <a:accent3>
        <a:srgbClr val="595959"/>
      </a:accent3>
      <a:accent4>
        <a:srgbClr val="E8ECF4"/>
      </a:accent4>
      <a:accent5>
        <a:srgbClr val="FBE5E6"/>
      </a:accent5>
      <a:accent6>
        <a:srgbClr val="C00000"/>
      </a:accent6>
      <a:hlink>
        <a:srgbClr val="3B5B8C"/>
      </a:hlink>
      <a:folHlink>
        <a:srgbClr val="46506A"/>
      </a:folHlink>
    </a:clrScheme>
    <a:fontScheme name="AX SK Ton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현장 실행 기반 AX 가속화</dc:title>
  <dc:subject>PptxGenJS Presentation</dc:subject>
  <dc:creator>PptxGenJS</dc:creator>
  <cp:lastModifiedBy>PptxGenJS</cp:lastModifiedBy>
  <cp:revision>1</cp:revision>
  <dcterms:created xsi:type="dcterms:W3CDTF">2026-10-23T01:21:47Z</dcterms:created>
  <dcterms:modified xsi:type="dcterms:W3CDTF">2026-10-23T01:21:47Z</dcterms:modified>
</cp:coreProperties>
</file>