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별첨. 주요 Task _ ④⑤ 과제 우선순위화 및 To-Be 설계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64008" cy="41148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5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평가 기준에 따라 AI 과제의 우선순위를 정하고, Short-list 과제의 To-Be 업무 흐름과 서비스 시나리오를 설계하여 프로토타입 구현 대상을 확정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44168"/>
            <a:ext cx="1147572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1417320"/>
            <a:ext cx="56235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주요 수행내역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755648"/>
            <a:ext cx="5623560" cy="0"/>
          </a:xfrm>
          <a:prstGeom prst="line">
            <a:avLst/>
          </a:prstGeom>
          <a:ln w="254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5760" y="1755648"/>
            <a:ext cx="56235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entagon 8"/>
          <p:cNvSpPr/>
          <p:nvPr/>
        </p:nvSpPr>
        <p:spPr>
          <a:xfrm>
            <a:off x="457200" y="1847088"/>
            <a:ext cx="2423160" cy="292608"/>
          </a:xfrm>
          <a:prstGeom prst="homePlate">
            <a:avLst>
              <a:gd name="adj" fmla="val 3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과제 발굴 (W1~W2)</a:t>
            </a:r>
          </a:p>
        </p:txBody>
      </p:sp>
      <p:sp>
        <p:nvSpPr>
          <p:cNvPr id="10" name="Chevron 9"/>
          <p:cNvSpPr/>
          <p:nvPr/>
        </p:nvSpPr>
        <p:spPr>
          <a:xfrm>
            <a:off x="2852928" y="1847088"/>
            <a:ext cx="3044952" cy="292608"/>
          </a:xfrm>
          <a:prstGeom prst="chevron">
            <a:avLst>
              <a:gd name="adj" fmla="val 30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과제 구체화·프로토타입 (W3~W4)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트렌드·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AI 진단</a:t>
            </a:r>
          </a:p>
        </p:txBody>
      </p:sp>
      <p:sp>
        <p:nvSpPr>
          <p:cNvPr id="12" name="Oval 11"/>
          <p:cNvSpPr/>
          <p:nvPr/>
        </p:nvSpPr>
        <p:spPr>
          <a:xfrm>
            <a:off x="740664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43584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VC 분석·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인터뷰</a:t>
            </a:r>
          </a:p>
        </p:txBody>
      </p:sp>
      <p:sp>
        <p:nvSpPr>
          <p:cNvPr id="14" name="Oval 13"/>
          <p:cNvSpPr/>
          <p:nvPr/>
        </p:nvSpPr>
        <p:spPr>
          <a:xfrm>
            <a:off x="1508760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AI 과제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발굴</a:t>
            </a:r>
          </a:p>
        </p:txBody>
      </p:sp>
      <p:sp>
        <p:nvSpPr>
          <p:cNvPr id="16" name="Oval 15"/>
          <p:cNvSpPr/>
          <p:nvPr/>
        </p:nvSpPr>
        <p:spPr>
          <a:xfrm>
            <a:off x="2276856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79776" y="2286000"/>
            <a:ext cx="731520" cy="713232"/>
          </a:xfrm>
          <a:prstGeom prst="rect">
            <a:avLst/>
          </a:prstGeom>
          <a:solidFill>
            <a:srgbClr val="262626"/>
          </a:solidFill>
          <a:ln w="2857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</a:t>
            </a:r>
          </a:p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우선순위화</a:t>
            </a:r>
          </a:p>
        </p:txBody>
      </p:sp>
      <p:sp>
        <p:nvSpPr>
          <p:cNvPr id="18" name="Oval 17"/>
          <p:cNvSpPr/>
          <p:nvPr/>
        </p:nvSpPr>
        <p:spPr>
          <a:xfrm>
            <a:off x="3044952" y="2185416"/>
            <a:ext cx="201168" cy="201168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7872" y="2286000"/>
            <a:ext cx="731520" cy="713232"/>
          </a:xfrm>
          <a:prstGeom prst="rect">
            <a:avLst/>
          </a:prstGeom>
          <a:solidFill>
            <a:srgbClr val="262626"/>
          </a:solidFill>
          <a:ln w="2857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To-Be</a:t>
            </a:r>
          </a:p>
          <a:p>
            <a:pPr algn="ctr"/>
            <a:r>
              <a:rPr sz="9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시나리오</a:t>
            </a:r>
          </a:p>
        </p:txBody>
      </p:sp>
      <p:sp>
        <p:nvSpPr>
          <p:cNvPr id="20" name="Oval 19"/>
          <p:cNvSpPr/>
          <p:nvPr/>
        </p:nvSpPr>
        <p:spPr>
          <a:xfrm>
            <a:off x="3813048" y="2185416"/>
            <a:ext cx="201168" cy="201168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프로토타입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</p:txBody>
      </p:sp>
      <p:sp>
        <p:nvSpPr>
          <p:cNvPr id="22" name="Oval 21"/>
          <p:cNvSpPr/>
          <p:nvPr/>
        </p:nvSpPr>
        <p:spPr>
          <a:xfrm>
            <a:off x="4581144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4064" y="2286000"/>
            <a:ext cx="731520" cy="713232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  <a:p>
            <a:pPr algn="ctr"/>
            <a:r>
              <a:rPr sz="950" b="1" i="0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로드맵</a:t>
            </a:r>
          </a:p>
        </p:txBody>
      </p:sp>
      <p:sp>
        <p:nvSpPr>
          <p:cNvPr id="24" name="Oval 23"/>
          <p:cNvSpPr/>
          <p:nvPr/>
        </p:nvSpPr>
        <p:spPr>
          <a:xfrm>
            <a:off x="5349240" y="2185416"/>
            <a:ext cx="201168" cy="201168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6896" y="3017520"/>
            <a:ext cx="18562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▲ 현재 Task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65760" y="3401568"/>
          <a:ext cx="5623560" cy="31272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17320"/>
                <a:gridCol w="420624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Activity</a:t>
                      </a:r>
                    </a:p>
                  </a:txBody>
                  <a:tcPr anchor="ctr" marL="109728" marR="73152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Activity 수행 내용 및 고려사항</a:t>
                      </a:r>
                    </a:p>
                  </a:txBody>
                  <a:tcPr anchor="ctr" marL="109728" marR="73152">
                    <a:solidFill>
                      <a:srgbClr val="40404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기준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비즈니스 임팩트·실현 가능성·데이터 준비도·확산 가능성 4대 기준 정의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롯데월드 경영 방향을 반영한 기준별 가중치 합의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우선순위화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Long-list 과제별 평가 및 우선순위 매트릭스 작성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Short-list 8~10개 및 프로토타입 대상(Agent 2개·서비스 1~2개) 선정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To-Be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시나리오 설계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Agent 과제: 사람·Agent·시스템 역할 분담 기반 To-Be 업무 흐름 설계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서비스: 고객 여정 기반 서비스 시나리오·핵심 화면 설계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정의서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20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</a:t>
                      </a:r>
                    </a:p>
                  </a:txBody>
                  <a:tcPr anchor="ctr" marL="109728" marR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과제별 배경·To-Be·기대효과(KPI)·필요 데이터·시스템 정리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</a:t>
                      </a:r>
                      <a:r>
                        <a:rPr sz="11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프로토타입 구현 범위 및 검증 시나리오 확정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263640" y="1417320"/>
            <a:ext cx="557784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주요 산출물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263640" y="1755648"/>
            <a:ext cx="5577840" cy="0"/>
          </a:xfrm>
          <a:prstGeom prst="line">
            <a:avLst/>
          </a:prstGeom>
          <a:ln w="254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263640" y="1847088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k_t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38528"/>
            <a:ext cx="4206240" cy="1828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241280" y="1901952"/>
            <a:ext cx="1508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800" b="1" i="1" u="sng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illustrative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767328"/>
            <a:ext cx="5577840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과제 우선순위 평가 매트릭스 및 Short-list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224528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mk_t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315968"/>
            <a:ext cx="4206240" cy="1828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241280" y="4279392"/>
            <a:ext cx="1508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800" b="1" i="1" u="sng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illustrative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6144768"/>
            <a:ext cx="5577840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To-Be 업무 흐름 및 서비스 시나리오 설계서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126480" y="1417320"/>
            <a:ext cx="0" cy="5120640"/>
          </a:xfrm>
          <a:prstGeom prst="line">
            <a:avLst/>
          </a:prstGeom>
          <a:ln w="9525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