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5214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02. 주요 현황 분석 _ AI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AI는 '답을 주는 도구'에서 '일을 수행하는 동료'로 진화함에 따라, 기술 중심에서 실무자 중심의 AI 기반 업무 재설계가 운영 경쟁력의 기준이 되고 있음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572768"/>
            <a:ext cx="5715000" cy="38404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패러다임의 변화</a:t>
            </a:r>
          </a:p>
        </p:txBody>
      </p:sp>
      <p:pic>
        <p:nvPicPr>
          <p:cNvPr id="5" name="Picture 4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685800" cy="685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17320" y="2084831"/>
            <a:ext cx="214884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AS-IS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(도구형 AI)</a:t>
            </a:r>
          </a:p>
          <a:p>
            <a:pPr algn="ctr"/>
            <a:r>
              <a:rPr sz="115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 도입기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084831"/>
            <a:ext cx="2148840" cy="594360"/>
          </a:xfrm>
          <a:prstGeom prst="rect">
            <a:avLst/>
          </a:prstGeom>
          <a:solidFill>
            <a:srgbClr val="FBE9E9"/>
          </a:solidFill>
          <a:ln w="12700">
            <a:solidFill>
              <a:srgbClr val="E6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</a:t>
            </a:r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(Agentic AI)</a:t>
            </a:r>
          </a:p>
          <a:p>
            <a:pPr algn="ctr"/>
            <a:r>
              <a:rPr sz="1150" b="0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Agent 확산기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93592" y="2212848"/>
            <a:ext cx="228600" cy="365760"/>
          </a:xfrm>
          <a:prstGeom prst="rightArrow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2770632"/>
            <a:ext cx="21488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“사람이 묻고 AI가 답하는</a:t>
            </a:r>
          </a:p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보조 도구”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770632"/>
            <a:ext cx="21488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“AI가 계획하고 실행하는</a:t>
            </a:r>
          </a:p>
          <a:p>
            <a:pPr algn="ctr"/>
            <a:r>
              <a:rPr sz="120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동료”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11880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질의응답·문서 요약 등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개별 작업 보조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630168" y="3776472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3611880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목표 기반 계획·실행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흐름 전체 수행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97096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197096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기술 중심 PoC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확산 실패 반복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3630168" y="4361688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4197096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업무·가치 중심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Pain Point·ROI 우선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82312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782312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요구사항 문서 →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수개월 개발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3630168" y="4946904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4782312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바이브 코딩으로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수일 내 프로토타입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67528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367528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고객에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동일한 서비스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30168" y="5532120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0" y="5367528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초개인화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컨시어지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52744"/>
            <a:ext cx="1051560" cy="530352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</a:t>
            </a:r>
          </a:p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5952744"/>
            <a:ext cx="2148840" cy="530352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FAQ 챗봇,</a:t>
            </a:r>
          </a:p>
          <a:p>
            <a:pPr algn="ctr"/>
            <a:r>
              <a:rPr sz="11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문서 요약 Copilot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3630168" y="6117336"/>
            <a:ext cx="182880" cy="201168"/>
          </a:xfrm>
          <a:prstGeom prst="triangl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5952744"/>
            <a:ext cx="2148840" cy="530352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Agent, 바이브 코딩,</a:t>
            </a:r>
          </a:p>
          <a:p>
            <a:pPr algn="ctr"/>
            <a:r>
              <a:rPr sz="11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멀티모달 현장 관제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572768"/>
            <a:ext cx="56235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AS-IS vs TO-BE 구현 방식의 비교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0" y="1993392"/>
            <a:ext cx="562356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0" y="2103120"/>
            <a:ext cx="5623560" cy="914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157984"/>
            <a:ext cx="5257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 u="none">
                <a:solidFill>
                  <a:srgbClr val="FF5A5A"/>
                </a:solidFill>
                <a:latin typeface="맑은 고딕"/>
                <a:ea typeface="맑은 고딕"/>
                <a:cs typeface="맑은 고딕"/>
              </a:rPr>
              <a:t>PROTOTYPE-FIRST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59152"/>
            <a:ext cx="5257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실무자가 '만들면서 검증'하는 시대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670048"/>
            <a:ext cx="5257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 i="0" u="none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구현 기간은 수개월 → 수일, 구현 주체는 IT 개발팀 → 실무자로 이동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127248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3127248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55</a:t>
            </a:r>
            <a:r>
              <a:rPr sz="1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191256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과제 검증 기간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개발 과제 완료 시간 55% 단축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483864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AI 코딩 도구 사용 시 동일 과제를 2시간 41분 → 1시간 11분에 완료 (개발자 95명 대조 실험)</a:t>
            </a:r>
            <a:r>
              <a:rPr sz="90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(GitHub, 2022)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968496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3968496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40</a:t>
            </a:r>
            <a:r>
              <a:rPr sz="1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032504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의사결정 근거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문서가 아닌 '작동 화면'으로 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325112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2028년까지 기업 신규 운영 소프트웨어의 40%가 바이브 코딩 방식으로 개발될 전망</a:t>
            </a:r>
            <a:r>
              <a:rPr sz="90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(Gartner, 2025.5)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809744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4809744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63</a:t>
            </a:r>
            <a:r>
              <a:rPr sz="1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873752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구현 주체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비개발자가 직접 구현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166359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바이브 코딩 도구 사용자의 63%가 비개발자(PM·마케터·디자이너 등), UI·앱을 직접 제작</a:t>
            </a:r>
            <a:r>
              <a:rPr sz="90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(Vercel v0, 2025)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650992"/>
            <a:ext cx="5623560" cy="768096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5650992"/>
            <a:ext cx="1325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2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75</a:t>
            </a:r>
            <a:r>
              <a:rPr sz="1400" b="1" i="0" u="none">
                <a:solidFill>
                  <a:srgbClr val="C62828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715000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피드백 반복  |  </a:t>
            </a:r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코드는 AI가 쓰고 사람은 검증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6007607"/>
            <a:ext cx="4023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Google 신규 코드 중 AI 생성 비중 25%('24.10) → 75%('26)로 확대</a:t>
            </a:r>
            <a:r>
              <a:rPr sz="900" b="0" i="1" u="none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  (Alphabet CEO 발언)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116128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바이브 코딩: 자연어 지시만으로 AI가 코드를 생성해 빠르게 화면을 구현하는 방식  /  출처: GitHub(2022), Gartner 'Why Vibe Coding Needs to Be Taken Seriously'(2025.5), Vercel v0 'State of Vibe Coding'(2025), Alphabet 실적발표('24.10)·Google Cloud Next('26)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