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배경: 그룹사 과제가 컨설팅에서 멈춤(108건 발굴, 적용 2건), FDE 성패는 Biz 문제정의, 컨설팅팀 단독 구현 한계 → 엔지니어 협업, AX·Biz 조합이 Biz 영역 최적. 전략: AX+Biz(Biz 영역) × AI혁신센터·D&amp;AX부문(Tech 영역) 공동 TF.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주요 컨설팅사 공통 성공조건 5가지 대비 우리 FDE 대응과 보완점. 6단계 추진방안 단계별 담당, 대기업형 혼합 모델(실행·플랫폼 / 경영·조직 / 리스크·규제)을 그룹 내 역량으로 매핑.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2PANE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14400"/>
            <a:ext cx="11457432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966960" y="6510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AX컨설팅팀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'27년 중점추진과제  &gt;  </a:t>
            </a:r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③ FDE를 통한 대내 사업 확대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10241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과제 수행 방향 요약</a:t>
            </a:r>
            <a:endParaRPr lang="en-US" sz="1300" dirty="0"/>
          </a:p>
        </p:txBody>
      </p:sp>
      <p:sp>
        <p:nvSpPr>
          <p:cNvPr id="4" name="방향 요약"/>
          <p:cNvSpPr txBox="1"/>
          <p:nvPr/>
        </p:nvSpPr>
        <p:spPr>
          <a:xfrm>
            <a:off x="2194560" y="1024128"/>
            <a:ext cx="9628632" cy="42062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AX·Biz컨설팅팀이 FDE Biz 영역(문제정의·적용설계)을 맡고, AI혁신센터·D&amp;AX부문과 협업해 MVP·구축까지 실행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591056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FDE 추진 배경</a:t>
            </a:r>
            <a:endParaRPr lang="en-US" sz="1500" dirty="0"/>
          </a:p>
        </p:txBody>
      </p:sp>
      <p:sp>
        <p:nvSpPr>
          <p:cNvPr id="6" name="구역선 FDE 추진 배경"/>
          <p:cNvSpPr/>
          <p:nvPr/>
        </p:nvSpPr>
        <p:spPr>
          <a:xfrm>
            <a:off x="365760" y="1938528"/>
            <a:ext cx="5532120" cy="0"/>
          </a:xfrm>
          <a:prstGeom prst="line">
            <a:avLst/>
          </a:prstGeom>
          <a:noFill/>
          <a:ln w="31750">
            <a:solidFill>
              <a:srgbClr val="8A94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91072" y="1591056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추진 전략</a:t>
            </a:r>
            <a:endParaRPr lang="en-US" sz="1500" dirty="0"/>
          </a:p>
        </p:txBody>
      </p:sp>
      <p:sp>
        <p:nvSpPr>
          <p:cNvPr id="8" name="구역선 추진 전략"/>
          <p:cNvSpPr/>
          <p:nvPr/>
        </p:nvSpPr>
        <p:spPr>
          <a:xfrm>
            <a:off x="6291072" y="1938528"/>
            <a:ext cx="5532120" cy="0"/>
          </a:xfrm>
          <a:prstGeom prst="line">
            <a:avLst/>
          </a:prstGeom>
          <a:noFill/>
          <a:ln w="31750">
            <a:solidFill>
              <a:srgbClr val="8A94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29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※ FDE 모델 : 정의</a:t>
            </a:r>
            <a:endParaRPr lang="en-US" sz="1100" dirty="0"/>
          </a:p>
        </p:txBody>
      </p:sp>
      <p:sp>
        <p:nvSpPr>
          <p:cNvPr id="10" name="FDE 정의"/>
          <p:cNvSpPr txBox="1"/>
          <p:nvPr/>
        </p:nvSpPr>
        <p:spPr>
          <a:xfrm>
            <a:off x="457200" y="2304288"/>
            <a:ext cx="5349240" cy="3657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고객 현장에 밀착하여 </a:t>
            </a:r>
            <a:pPr indent="0" marL="0">
              <a:buNone/>
            </a:pPr>
            <a:r>
              <a:rPr lang="en-US" sz="1050" b="1" dirty="0">
                <a:solidFill>
                  <a:srgbClr val="1F4E9A"/>
                </a:solidFill>
              </a:rPr>
              <a:t>문제정의부터 구현·운영 이관까지 책임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지는 실행형 AX 모델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7889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•  그룹사 AI과제가 </a:t>
            </a:r>
            <a:pPr indent="0" marL="0">
              <a:buNone/>
            </a:pPr>
            <a:r>
              <a:rPr lang="en-US" sz="1250" b="1" u="sng" dirty="0">
                <a:solidFill>
                  <a:srgbClr val="1F4E9A"/>
                </a:solidFill>
              </a:rPr>
              <a:t>컨설팅 단계에서 멈춤</a:t>
            </a:r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 (실행 단절)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08152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- 17개 그룹사 컨설팅 → AI과제 108건 발굴 → 실제 적용 2건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41071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•  FDE 성패는 </a:t>
            </a:r>
            <a:pPr indent="0" marL="0">
              <a:buNone/>
            </a:pPr>
            <a:r>
              <a:rPr lang="en-US" sz="1250" b="1" u="sng" dirty="0">
                <a:solidFill>
                  <a:srgbClr val="1F4E9A"/>
                </a:solidFill>
              </a:rPr>
              <a:t>Biz 문제정의·과제 Target</a:t>
            </a:r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 역량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70332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- 기술보다 업무 이해 → 과제 선정·성과 정의가 실행 속도 좌우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3250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•  컨설팅팀 단독 구현 한계 → </a:t>
            </a:r>
            <a:pPr indent="0" marL="0">
              <a:buNone/>
            </a:pPr>
            <a:r>
              <a:rPr lang="en-US" sz="1250" b="1" u="sng" dirty="0">
                <a:solidFill>
                  <a:srgbClr val="1F4E9A"/>
                </a:solidFill>
              </a:rPr>
              <a:t>엔지니어 협업 구조</a:t>
            </a:r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 필요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32511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- AI 개발자 부재 → AI혁신센터·D&amp;AX부문과 Tech 영역 역할 분담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65429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•  AX·Biz컨설팅팀은 </a:t>
            </a:r>
            <a:pPr indent="0" marL="0">
              <a:buNone/>
            </a:pPr>
            <a:r>
              <a:rPr lang="en-US" sz="1250" b="1" u="sng" dirty="0">
                <a:solidFill>
                  <a:srgbClr val="D0342C"/>
                </a:solidFill>
              </a:rPr>
              <a:t>FDE Biz 영역의 최적 조합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946904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- AX: 그룹사 AI컨설팅 경험·과제 Pool  /  Biz: 차세대 PI/ISP·도메인</a:t>
            </a:r>
            <a:endParaRPr lang="en-US" sz="1050" dirty="0"/>
          </a:p>
        </p:txBody>
      </p:sp>
      <p:sp>
        <p:nvSpPr>
          <p:cNvPr id="19" name="타사 사례 박스"/>
          <p:cNvSpPr/>
          <p:nvPr/>
        </p:nvSpPr>
        <p:spPr>
          <a:xfrm>
            <a:off x="365760" y="5349240"/>
            <a:ext cx="5532120" cy="103327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53949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※ FDE 타사 사례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566928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2"/>
                </a:solidFill>
              </a:rPr>
              <a:t>Palantir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고객 대응(Echo)·엔지니어(Delta) 페어로 현장 배치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3182112" y="566928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2"/>
                </a:solidFill>
              </a:rPr>
              <a:t>Accenture×MS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FDE Practice 공동 출범 ('26.3)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0167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2"/>
                </a:solidFill>
              </a:rPr>
              <a:t>SK AX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전체 개발직군 FDE화 추진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3182112" y="60167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tx2"/>
                </a:solidFill>
              </a:rPr>
              <a:t>삼성SDS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SI 전문성 + FDE 결합, 현장 엔지니어 전진 배치</a:t>
            </a:r>
            <a:endParaRPr lang="en-US" sz="850" dirty="0"/>
          </a:p>
        </p:txBody>
      </p:sp>
      <p:sp>
        <p:nvSpPr>
          <p:cNvPr id="25" name="머리표 FDE 공동 TF 조직 (案)"/>
          <p:cNvSpPr/>
          <p:nvPr/>
        </p:nvSpPr>
        <p:spPr>
          <a:xfrm>
            <a:off x="6364224" y="2103120"/>
            <a:ext cx="164592" cy="164592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2700" dist="19050" dir="2700000">
              <a:srgbClr val="7F7F7F">
                <a:alpha val="6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611112" y="202996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FDE 공동 TF 조직 (案)</a:t>
            </a:r>
            <a:endParaRPr lang="en-US" sz="1300" dirty="0"/>
          </a:p>
        </p:txBody>
      </p:sp>
      <p:sp>
        <p:nvSpPr>
          <p:cNvPr id="27" name="Biz 영역"/>
          <p:cNvSpPr txBox="1"/>
          <p:nvPr/>
        </p:nvSpPr>
        <p:spPr>
          <a:xfrm>
            <a:off x="6336792" y="2395728"/>
            <a:ext cx="3840480" cy="219456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FDE Biz 영역 (문제정의·적용설계)</a:t>
            </a:r>
            <a:endParaRPr lang="en-US" sz="950" dirty="0"/>
          </a:p>
        </p:txBody>
      </p:sp>
      <p:sp>
        <p:nvSpPr>
          <p:cNvPr id="28" name="Tech 영역"/>
          <p:cNvSpPr txBox="1"/>
          <p:nvPr/>
        </p:nvSpPr>
        <p:spPr>
          <a:xfrm>
            <a:off x="10451592" y="2395728"/>
            <a:ext cx="1371600" cy="219456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FDE Tech 영역</a:t>
            </a:r>
            <a:endParaRPr lang="en-US" sz="950" dirty="0"/>
          </a:p>
        </p:txBody>
      </p:sp>
      <p:sp>
        <p:nvSpPr>
          <p:cNvPr id="29" name="박스 AX컨설팅팀"/>
          <p:cNvSpPr/>
          <p:nvPr/>
        </p:nvSpPr>
        <p:spPr>
          <a:xfrm>
            <a:off x="6336792" y="2697480"/>
            <a:ext cx="1783080" cy="1783080"/>
          </a:xfrm>
          <a:prstGeom prst="rect">
            <a:avLst/>
          </a:prstGeom>
          <a:solidFill>
            <a:schemeClr val="bg1"/>
          </a:solidFill>
          <a:ln w="12700">
            <a:solidFill>
              <a:srgbClr val="BFC5CF"/>
            </a:solidFill>
            <a:prstDash val="solid"/>
          </a:ln>
        </p:spPr>
      </p:sp>
      <p:sp>
        <p:nvSpPr>
          <p:cNvPr id="30" name="팀명 AX컨설팅팀"/>
          <p:cNvSpPr/>
          <p:nvPr/>
        </p:nvSpPr>
        <p:spPr>
          <a:xfrm>
            <a:off x="6473952" y="2752344"/>
            <a:ext cx="1508760" cy="256032"/>
          </a:xfrm>
          <a:prstGeom prst="roundRect">
            <a:avLst>
              <a:gd name="adj" fmla="val 28571"/>
            </a:avLst>
          </a:prstGeom>
          <a:solidFill>
            <a:schemeClr val="bg1"/>
          </a:solidFill>
          <a:ln w="9525">
            <a:solidFill>
              <a:srgbClr val="BFC5CF"/>
            </a:solidFill>
          </a:ln>
          <a:effectLst>
            <a:outerShdw sx="100000" sy="100000" kx="0" ky="0" algn="bl" rotWithShape="0" blurRad="25400" dist="12700" dir="5400000">
              <a:srgbClr val="999999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AX컨설팅팀</a:t>
            </a:r>
            <a:endParaRPr lang="en-US" sz="1050" dirty="0"/>
          </a:p>
        </p:txBody>
      </p:sp>
      <p:sp>
        <p:nvSpPr>
          <p:cNvPr id="31" name="칩영역 AX컨설팅팀"/>
          <p:cNvSpPr/>
          <p:nvPr/>
        </p:nvSpPr>
        <p:spPr>
          <a:xfrm>
            <a:off x="6391656" y="3081528"/>
            <a:ext cx="1673352" cy="603504"/>
          </a:xfrm>
          <a:prstGeom prst="rect">
            <a:avLst/>
          </a:prstGeom>
          <a:solidFill>
            <a:srgbClr val="EEF0F3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32" name="칩 진단/발굴 9건"/>
          <p:cNvSpPr txBox="1"/>
          <p:nvPr/>
        </p:nvSpPr>
        <p:spPr>
          <a:xfrm>
            <a:off x="6428232" y="3118104"/>
            <a:ext cx="781812" cy="24688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진단/발굴 9건</a:t>
            </a:r>
            <a:endParaRPr lang="en-US" sz="800" dirty="0"/>
          </a:p>
        </p:txBody>
      </p:sp>
      <p:sp>
        <p:nvSpPr>
          <p:cNvPr id="33" name="칩 전략수립 4건"/>
          <p:cNvSpPr txBox="1"/>
          <p:nvPr/>
        </p:nvSpPr>
        <p:spPr>
          <a:xfrm>
            <a:off x="7246620" y="3118104"/>
            <a:ext cx="781812" cy="24688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전략수립 4건</a:t>
            </a:r>
            <a:endParaRPr lang="en-US" sz="800" dirty="0"/>
          </a:p>
        </p:txBody>
      </p:sp>
      <p:sp>
        <p:nvSpPr>
          <p:cNvPr id="34" name="칩 특화영역 3건"/>
          <p:cNvSpPr txBox="1"/>
          <p:nvPr/>
        </p:nvSpPr>
        <p:spPr>
          <a:xfrm>
            <a:off x="6428232" y="3392424"/>
            <a:ext cx="781812" cy="24688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특화영역 3건</a:t>
            </a:r>
            <a:endParaRPr lang="en-US" sz="800" dirty="0"/>
          </a:p>
        </p:txBody>
      </p:sp>
      <p:sp>
        <p:nvSpPr>
          <p:cNvPr id="35" name="칩 AX교육 6건"/>
          <p:cNvSpPr txBox="1"/>
          <p:nvPr/>
        </p:nvSpPr>
        <p:spPr>
          <a:xfrm>
            <a:off x="7246620" y="3392424"/>
            <a:ext cx="781812" cy="24688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AX교육 6건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428232" y="3739896"/>
            <a:ext cx="1600200" cy="329184"/>
          </a:xfrm>
          <a:prstGeom prst="rect">
            <a:avLst/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그룹사 AI컨설팅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수행 경험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428232" y="4105656"/>
            <a:ext cx="1600200" cy="329184"/>
          </a:xfrm>
          <a:prstGeom prst="rect">
            <a:avLst/>
          </a:prstGeom>
          <a:solidFill>
            <a:srgbClr val="FFF9C4"/>
          </a:solidFill>
          <a:ln w="6350">
            <a:solidFill>
              <a:srgbClr val="BFC5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그룹사 AI추진과제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Pool 확보 (108건)</a:t>
            </a:r>
            <a:endParaRPr lang="en-US" sz="900" dirty="0"/>
          </a:p>
        </p:txBody>
      </p:sp>
      <p:sp>
        <p:nvSpPr>
          <p:cNvPr id="38" name="박스 Biz컨설팅팀"/>
          <p:cNvSpPr/>
          <p:nvPr/>
        </p:nvSpPr>
        <p:spPr>
          <a:xfrm>
            <a:off x="8394192" y="2697480"/>
            <a:ext cx="1783080" cy="1783080"/>
          </a:xfrm>
          <a:prstGeom prst="rect">
            <a:avLst/>
          </a:prstGeom>
          <a:solidFill>
            <a:schemeClr val="bg1"/>
          </a:solidFill>
          <a:ln w="12700">
            <a:solidFill>
              <a:srgbClr val="BFC5CF"/>
            </a:solidFill>
            <a:prstDash val="solid"/>
          </a:ln>
        </p:spPr>
      </p:sp>
      <p:sp>
        <p:nvSpPr>
          <p:cNvPr id="39" name="팀명 Biz컨설팅팀"/>
          <p:cNvSpPr/>
          <p:nvPr/>
        </p:nvSpPr>
        <p:spPr>
          <a:xfrm>
            <a:off x="8531352" y="2752344"/>
            <a:ext cx="1508760" cy="256032"/>
          </a:xfrm>
          <a:prstGeom prst="roundRect">
            <a:avLst>
              <a:gd name="adj" fmla="val 28571"/>
            </a:avLst>
          </a:prstGeom>
          <a:solidFill>
            <a:schemeClr val="bg1"/>
          </a:solidFill>
          <a:ln w="9525">
            <a:solidFill>
              <a:srgbClr val="BFC5CF"/>
            </a:solidFill>
          </a:ln>
          <a:effectLst>
            <a:outerShdw sx="100000" sy="100000" kx="0" ky="0" algn="bl" rotWithShape="0" blurRad="25400" dist="12700" dir="5400000">
              <a:srgbClr val="999999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Biz컨설팅팀</a:t>
            </a:r>
            <a:endParaRPr lang="en-US" sz="1050" dirty="0"/>
          </a:p>
        </p:txBody>
      </p:sp>
      <p:sp>
        <p:nvSpPr>
          <p:cNvPr id="40" name="칩영역 Biz컨설팅팀"/>
          <p:cNvSpPr/>
          <p:nvPr/>
        </p:nvSpPr>
        <p:spPr>
          <a:xfrm>
            <a:off x="8449056" y="3081528"/>
            <a:ext cx="1673352" cy="603504"/>
          </a:xfrm>
          <a:prstGeom prst="rect">
            <a:avLst/>
          </a:prstGeom>
          <a:solidFill>
            <a:srgbClr val="EEF0F3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41" name="칩 식품/제조"/>
          <p:cNvSpPr txBox="1"/>
          <p:nvPr/>
        </p:nvSpPr>
        <p:spPr>
          <a:xfrm>
            <a:off x="8485632" y="3118104"/>
            <a:ext cx="781812" cy="24688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식품/제조</a:t>
            </a:r>
            <a:endParaRPr lang="en-US" sz="800" dirty="0"/>
          </a:p>
        </p:txBody>
      </p:sp>
      <p:sp>
        <p:nvSpPr>
          <p:cNvPr id="42" name="칩 유통"/>
          <p:cNvSpPr txBox="1"/>
          <p:nvPr/>
        </p:nvSpPr>
        <p:spPr>
          <a:xfrm>
            <a:off x="9304020" y="3118104"/>
            <a:ext cx="781812" cy="24688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유통</a:t>
            </a:r>
            <a:endParaRPr lang="en-US" sz="800" dirty="0"/>
          </a:p>
        </p:txBody>
      </p:sp>
      <p:sp>
        <p:nvSpPr>
          <p:cNvPr id="43" name="칩 화학/건설"/>
          <p:cNvSpPr txBox="1"/>
          <p:nvPr/>
        </p:nvSpPr>
        <p:spPr>
          <a:xfrm>
            <a:off x="8485632" y="3392424"/>
            <a:ext cx="781812" cy="24688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화학/건설</a:t>
            </a:r>
            <a:endParaRPr lang="en-US" sz="800" dirty="0"/>
          </a:p>
        </p:txBody>
      </p:sp>
      <p:sp>
        <p:nvSpPr>
          <p:cNvPr id="44" name="칩 호텔/서비스"/>
          <p:cNvSpPr txBox="1"/>
          <p:nvPr/>
        </p:nvSpPr>
        <p:spPr>
          <a:xfrm>
            <a:off x="9304020" y="3392424"/>
            <a:ext cx="781812" cy="24688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호텔/서비스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8485632" y="3739896"/>
            <a:ext cx="1600200" cy="329184"/>
          </a:xfrm>
          <a:prstGeom prst="rect">
            <a:avLst/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그룹사 차세대 PI/ISP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수행 경험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8485632" y="4105656"/>
            <a:ext cx="1600200" cy="329184"/>
          </a:xfrm>
          <a:prstGeom prst="rect">
            <a:avLst/>
          </a:prstGeom>
          <a:solidFill>
            <a:srgbClr val="FFF9C4"/>
          </a:solidFill>
          <a:ln w="6350">
            <a:solidFill>
              <a:srgbClr val="BFC5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도메인 전문성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8119872" y="3383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+</a:t>
            </a:r>
            <a:endParaRPr lang="en-US" sz="2000" dirty="0"/>
          </a:p>
        </p:txBody>
      </p:sp>
      <p:sp>
        <p:nvSpPr>
          <p:cNvPr id="48" name="협업 화살표"/>
          <p:cNvSpPr/>
          <p:nvPr/>
        </p:nvSpPr>
        <p:spPr>
          <a:xfrm>
            <a:off x="10213848" y="3429000"/>
            <a:ext cx="201168" cy="292608"/>
          </a:xfrm>
          <a:prstGeom prst="rightArrow">
            <a:avLst/>
          </a:prstGeom>
          <a:solidFill>
            <a:srgbClr val="A6ADB8"/>
          </a:solidFill>
          <a:ln w="12700">
            <a:solidFill>
              <a:srgbClr val="A6ADB8"/>
            </a:solidFill>
            <a:prstDash val="solid"/>
          </a:ln>
        </p:spPr>
      </p:sp>
      <p:sp>
        <p:nvSpPr>
          <p:cNvPr id="49" name="엔지니어 협업 박스"/>
          <p:cNvSpPr/>
          <p:nvPr/>
        </p:nvSpPr>
        <p:spPr>
          <a:xfrm>
            <a:off x="10451592" y="2697480"/>
            <a:ext cx="1371600" cy="1783080"/>
          </a:xfrm>
          <a:prstGeom prst="rect">
            <a:avLst/>
          </a:prstGeom>
          <a:solidFill>
            <a:srgbClr val="FBEDEC"/>
          </a:solidFill>
          <a:ln w="12700">
            <a:solidFill>
              <a:srgbClr val="D0342C"/>
            </a:solidFill>
            <a:prstDash val="dash"/>
          </a:ln>
        </p:spPr>
      </p:sp>
      <p:sp>
        <p:nvSpPr>
          <p:cNvPr id="50" name="Text 48"/>
          <p:cNvSpPr txBox="1"/>
          <p:nvPr/>
        </p:nvSpPr>
        <p:spPr>
          <a:xfrm>
            <a:off x="10451592" y="27523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엔지니어 협업</a:t>
            </a:r>
            <a:endParaRPr lang="en-US" sz="1050" dirty="0"/>
          </a:p>
        </p:txBody>
      </p:sp>
      <p:sp>
        <p:nvSpPr>
          <p:cNvPr id="51" name="협업 AI혁신센터"/>
          <p:cNvSpPr txBox="1"/>
          <p:nvPr/>
        </p:nvSpPr>
        <p:spPr>
          <a:xfrm>
            <a:off x="10543032" y="3081528"/>
            <a:ext cx="118872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AI혁신센터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AI 모델·Agent 개발</a:t>
            </a:r>
            <a:endParaRPr lang="en-US" sz="1000" dirty="0"/>
          </a:p>
        </p:txBody>
      </p:sp>
      <p:sp>
        <p:nvSpPr>
          <p:cNvPr id="52" name="협업 D&amp;AX부문"/>
          <p:cNvSpPr txBox="1"/>
          <p:nvPr/>
        </p:nvSpPr>
        <p:spPr>
          <a:xfrm>
            <a:off x="10543032" y="3593592"/>
            <a:ext cx="118872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D&amp;AX부문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데이터·플랫폼·기간계 연동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10543032" y="4105656"/>
            <a:ext cx="1188720" cy="329184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MVP 구축 ·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운영 이관</a:t>
            </a:r>
            <a:endParaRPr lang="en-US" sz="900" dirty="0"/>
          </a:p>
        </p:txBody>
      </p:sp>
      <p:sp>
        <p:nvSpPr>
          <p:cNvPr id="54" name="협업 전략 헤더"/>
          <p:cNvSpPr txBox="1"/>
          <p:nvPr/>
        </p:nvSpPr>
        <p:spPr>
          <a:xfrm>
            <a:off x="6291072" y="4590288"/>
            <a:ext cx="5532120" cy="274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협업 전략</a:t>
            </a:r>
            <a:endParaRPr lang="en-US" sz="1150" dirty="0"/>
          </a:p>
        </p:txBody>
      </p:sp>
      <p:graphicFrame>
        <p:nvGraphicFramePr>
          <p:cNvPr id="2" name="협업 전략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1072" y="4901184"/>
          <a:ext cx="5532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063240"/>
                <a:gridCol w="155448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 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협업 부서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D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FDE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과제 Target 선정 및 성과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8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· 그룹사 과제 우선순위·투입 결정 (분기 1회)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AX컨설팅팀 · Biz컨설팅팀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(공동 주관)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Biz 영역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문제정의 및 적용 설계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8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· 도메인 분석·To-Be 설계·성과지표 정의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8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· 기간계 적용방안·MVP 요건 정의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AX컨설팅팀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Biz컨설팅팀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Tech 영역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MVP 구축 및 운영 이관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8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· AI 모델·Agent 개발, 데이터·기간계 연동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8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· 구축사업화 및 운영 이관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0342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AI혁신센터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0342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D&amp;AX부문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'27년 중점추진과제  &gt;  </a:t>
            </a:r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③ FDE를 통한 대내 사업 확대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10241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과제 수행 방향 요약</a:t>
            </a:r>
            <a:endParaRPr lang="en-US" sz="1300" dirty="0"/>
          </a:p>
        </p:txBody>
      </p:sp>
      <p:sp>
        <p:nvSpPr>
          <p:cNvPr id="4" name="방향 요약"/>
          <p:cNvSpPr txBox="1"/>
          <p:nvPr/>
        </p:nvSpPr>
        <p:spPr>
          <a:xfrm>
            <a:off x="2194560" y="1024128"/>
            <a:ext cx="9628632" cy="42062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주요 컨설팅사가 제시한 AX 성공조건 5가지를 FDE 공동 TF(AX·Biz + 엔지니어)로 충족 → 그룹 내부 역량으로 혼합형 AX 모델 구현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591056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AX 성공조건과 FDE 대응</a:t>
            </a:r>
            <a:endParaRPr lang="en-US" sz="1500" dirty="0"/>
          </a:p>
        </p:txBody>
      </p:sp>
      <p:sp>
        <p:nvSpPr>
          <p:cNvPr id="6" name="구역선 AX 성공조건과 FDE 대응"/>
          <p:cNvSpPr/>
          <p:nvPr/>
        </p:nvSpPr>
        <p:spPr>
          <a:xfrm>
            <a:off x="365760" y="1938528"/>
            <a:ext cx="5532120" cy="0"/>
          </a:xfrm>
          <a:prstGeom prst="line">
            <a:avLst/>
          </a:prstGeom>
          <a:noFill/>
          <a:ln w="31750">
            <a:solidFill>
              <a:srgbClr val="8A94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91072" y="1591056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혼합형 AX 추진모델 수행 역량</a:t>
            </a:r>
            <a:endParaRPr lang="en-US" sz="1500" dirty="0"/>
          </a:p>
        </p:txBody>
      </p:sp>
      <p:sp>
        <p:nvSpPr>
          <p:cNvPr id="8" name="구역선 혼합형 AX 추진모델 수행 역량"/>
          <p:cNvSpPr/>
          <p:nvPr/>
        </p:nvSpPr>
        <p:spPr>
          <a:xfrm>
            <a:off x="6291072" y="1938528"/>
            <a:ext cx="5532120" cy="0"/>
          </a:xfrm>
          <a:prstGeom prst="line">
            <a:avLst/>
          </a:prstGeom>
          <a:noFill/>
          <a:ln w="31750">
            <a:solidFill>
              <a:srgbClr val="8A94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2029968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※ 주요 컨설팅사 제안 종합 : AX 추진 시 가장 중요한 성공조건</a:t>
            </a:r>
            <a:endParaRPr lang="en-US" sz="1050" dirty="0"/>
          </a:p>
        </p:txBody>
      </p:sp>
      <p:graphicFrame>
        <p:nvGraphicFramePr>
          <p:cNvPr id="3" name="성공조건 대응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31720"/>
          <a:ext cx="553212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2606040"/>
                <a:gridCol w="685800"/>
                <a:gridCol w="45720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성공조건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 FDE 대응 (근거)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DE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3E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 사업성과에서 출발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B6B8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모델·플랫폼 우선 시 PoC만 증가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PI To-Be·도메인 분석으로 Target 선정, KPI 먼저 정의 (과제 Pool 108건)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Biz·AX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3E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 현업이 유스케이스 주인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B6B8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단독 추진 시 채택률 저하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AX CAMP로 현업이 과제 직접 도출, 현업 Sponsor 확보 후 착수 (교육 6건)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AX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3E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 PoC와 전사 확산 구분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B6B8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PoC=기술검증, 확산=프로세스·조직 변화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MVP(L1~L2) → Go/No-go → 운영 이관·구축사업화 단계 분리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AX·엔지니어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3E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 데이터·레거시 현대화 병행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B6B8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품질·시스템 연결성이 성과 좌우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차세대 PI/ISP·SAP 사전진단 경험 + D&amp;AX 데이터·기간계 연동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Biz·D&amp;AX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3E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 인력 전환을 핵심 과제로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B6B8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교육·직무 재설계·평가/보상 개편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임원·실무 AI 실습교육, 직무 재설계는 PI와 연계 (평가·보상은 HR 협업)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AX·Biz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365760" y="5193792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● 현 역량으로 충족   ◐ 엔지니어·유관부서 협업으로 보완</a:t>
            </a:r>
            <a:endParaRPr lang="en-US" sz="850" dirty="0"/>
          </a:p>
        </p:txBody>
      </p:sp>
      <p:sp>
        <p:nvSpPr>
          <p:cNvPr id="12" name="시사점 라벨"/>
          <p:cNvSpPr txBox="1"/>
          <p:nvPr/>
        </p:nvSpPr>
        <p:spPr>
          <a:xfrm>
            <a:off x="365760" y="5468112"/>
            <a:ext cx="822960" cy="237744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시사점</a:t>
            </a:r>
            <a:endParaRPr lang="en-US" sz="1000" dirty="0"/>
          </a:p>
        </p:txBody>
      </p:sp>
      <p:sp>
        <p:nvSpPr>
          <p:cNvPr id="13" name="시사점"/>
          <p:cNvSpPr txBox="1"/>
          <p:nvPr/>
        </p:nvSpPr>
        <p:spPr>
          <a:xfrm>
            <a:off x="365760" y="5733288"/>
            <a:ext cx="5532120" cy="62179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성공조건 1·2는 AX·Biz컨설팅팀이 이미 보유한 강점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4E9A"/>
                </a:solidFill>
              </a:rPr>
              <a:t>→ 3·4·5는 AI혁신센터·D&amp;AX부문·HR과의 FDE 협업 구조로 보완하면 충족 가능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336792" y="2029968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※ 주요 컨설팅사 AX 추진방안 6단계와 담당 역량</a:t>
            </a:r>
            <a:endParaRPr lang="en-US" sz="1050" dirty="0"/>
          </a:p>
        </p:txBody>
      </p:sp>
      <p:sp>
        <p:nvSpPr>
          <p:cNvPr id="15" name="단계 1"/>
          <p:cNvSpPr/>
          <p:nvPr/>
        </p:nvSpPr>
        <p:spPr>
          <a:xfrm>
            <a:off x="6336792" y="2359152"/>
            <a:ext cx="1810512" cy="420624"/>
          </a:xfrm>
          <a:prstGeom prst="homePlate">
            <a:avLst/>
          </a:prstGeom>
          <a:solidFill>
            <a:srgbClr val="5B7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1. 전략적 가치영역 선정</a:t>
            </a:r>
            <a:endParaRPr lang="en-US" sz="900" dirty="0"/>
          </a:p>
        </p:txBody>
      </p:sp>
      <p:sp>
        <p:nvSpPr>
          <p:cNvPr id="16" name="담당 1"/>
          <p:cNvSpPr txBox="1"/>
          <p:nvPr/>
        </p:nvSpPr>
        <p:spPr>
          <a:xfrm>
            <a:off x="6473952" y="2825496"/>
            <a:ext cx="1490472" cy="402336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2"/>
                </a:solidFill>
              </a:rPr>
              <a:t>Biz·AX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chemeClr val="tx2"/>
                </a:solidFill>
              </a:rPr>
              <a:t>(과제 Pool 108)</a:t>
            </a:r>
            <a:endParaRPr lang="en-US" sz="850" dirty="0"/>
          </a:p>
        </p:txBody>
      </p:sp>
      <p:sp>
        <p:nvSpPr>
          <p:cNvPr id="17" name="단계 2"/>
          <p:cNvSpPr/>
          <p:nvPr/>
        </p:nvSpPr>
        <p:spPr>
          <a:xfrm>
            <a:off x="8183880" y="2359152"/>
            <a:ext cx="1810512" cy="420624"/>
          </a:xfrm>
          <a:prstGeom prst="chevron">
            <a:avLst/>
          </a:prstGeom>
          <a:solidFill>
            <a:srgbClr val="5B7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2. 핵심 유스케이스 실행</a:t>
            </a:r>
            <a:endParaRPr lang="en-US" sz="900" dirty="0"/>
          </a:p>
        </p:txBody>
      </p:sp>
      <p:sp>
        <p:nvSpPr>
          <p:cNvPr id="18" name="담당 2"/>
          <p:cNvSpPr txBox="1"/>
          <p:nvPr/>
        </p:nvSpPr>
        <p:spPr>
          <a:xfrm>
            <a:off x="8321040" y="2825496"/>
            <a:ext cx="1490472" cy="402336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2"/>
                </a:solidFill>
              </a:rPr>
              <a:t>FDE 공동 TF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chemeClr val="tx2"/>
                </a:solidFill>
              </a:rPr>
              <a:t>(MVP)</a:t>
            </a:r>
            <a:endParaRPr lang="en-US" sz="850" dirty="0"/>
          </a:p>
        </p:txBody>
      </p:sp>
      <p:sp>
        <p:nvSpPr>
          <p:cNvPr id="19" name="단계 3"/>
          <p:cNvSpPr/>
          <p:nvPr/>
        </p:nvSpPr>
        <p:spPr>
          <a:xfrm>
            <a:off x="10030968" y="2359152"/>
            <a:ext cx="1810512" cy="420624"/>
          </a:xfrm>
          <a:prstGeom prst="chevron">
            <a:avLst/>
          </a:prstGeom>
          <a:solidFill>
            <a:srgbClr val="5B7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3. 데이터·AI 플랫폼 구축</a:t>
            </a:r>
            <a:endParaRPr lang="en-US" sz="900" dirty="0"/>
          </a:p>
        </p:txBody>
      </p:sp>
      <p:sp>
        <p:nvSpPr>
          <p:cNvPr id="20" name="담당 3"/>
          <p:cNvSpPr txBox="1"/>
          <p:nvPr/>
        </p:nvSpPr>
        <p:spPr>
          <a:xfrm>
            <a:off x="10168128" y="2825496"/>
            <a:ext cx="1490472" cy="402336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2"/>
                </a:solidFill>
              </a:rPr>
              <a:t>AI혁신센터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chemeClr val="tx2"/>
                </a:solidFill>
              </a:rPr>
              <a:t>D&amp;AX부문</a:t>
            </a:r>
            <a:endParaRPr lang="en-US" sz="850" dirty="0"/>
          </a:p>
        </p:txBody>
      </p:sp>
      <p:sp>
        <p:nvSpPr>
          <p:cNvPr id="21" name="단계 4"/>
          <p:cNvSpPr/>
          <p:nvPr/>
        </p:nvSpPr>
        <p:spPr>
          <a:xfrm>
            <a:off x="6336792" y="3346704"/>
            <a:ext cx="1810512" cy="420624"/>
          </a:xfrm>
          <a:prstGeom prst="homePlat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4. 업무·조직 재설계</a:t>
            </a:r>
            <a:endParaRPr lang="en-US" sz="900" dirty="0"/>
          </a:p>
        </p:txBody>
      </p:sp>
      <p:sp>
        <p:nvSpPr>
          <p:cNvPr id="22" name="담당 4"/>
          <p:cNvSpPr txBox="1"/>
          <p:nvPr/>
        </p:nvSpPr>
        <p:spPr>
          <a:xfrm>
            <a:off x="6473952" y="3813048"/>
            <a:ext cx="1490472" cy="402336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2"/>
                </a:solidFill>
              </a:rPr>
              <a:t>Biz컨설팅팀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chemeClr val="tx2"/>
                </a:solidFill>
              </a:rPr>
              <a:t>(PI/ISP)</a:t>
            </a:r>
            <a:endParaRPr lang="en-US" sz="850" dirty="0"/>
          </a:p>
        </p:txBody>
      </p:sp>
      <p:sp>
        <p:nvSpPr>
          <p:cNvPr id="23" name="단계 5"/>
          <p:cNvSpPr/>
          <p:nvPr/>
        </p:nvSpPr>
        <p:spPr>
          <a:xfrm>
            <a:off x="8183880" y="3346704"/>
            <a:ext cx="1810512" cy="420624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5. 거버넌스 내재화</a:t>
            </a:r>
            <a:endParaRPr lang="en-US" sz="900" dirty="0"/>
          </a:p>
        </p:txBody>
      </p:sp>
      <p:sp>
        <p:nvSpPr>
          <p:cNvPr id="24" name="담당 5"/>
          <p:cNvSpPr txBox="1"/>
          <p:nvPr/>
        </p:nvSpPr>
        <p:spPr>
          <a:xfrm>
            <a:off x="8321040" y="3813048"/>
            <a:ext cx="1490472" cy="402336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2"/>
                </a:solidFill>
              </a:rPr>
              <a:t>FDE 협의체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chemeClr val="tx2"/>
                </a:solidFill>
              </a:rPr>
              <a:t>(성과관리)</a:t>
            </a:r>
            <a:endParaRPr lang="en-US" sz="850" dirty="0"/>
          </a:p>
        </p:txBody>
      </p:sp>
      <p:sp>
        <p:nvSpPr>
          <p:cNvPr id="25" name="단계 6"/>
          <p:cNvSpPr/>
          <p:nvPr/>
        </p:nvSpPr>
        <p:spPr>
          <a:xfrm>
            <a:off x="10030968" y="3346704"/>
            <a:ext cx="1810512" cy="420624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6. AI 에이전트 기반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전사 운영모델</a:t>
            </a:r>
            <a:endParaRPr lang="en-US" sz="900" dirty="0"/>
          </a:p>
        </p:txBody>
      </p:sp>
      <p:sp>
        <p:nvSpPr>
          <p:cNvPr id="26" name="담당 6"/>
          <p:cNvSpPr txBox="1"/>
          <p:nvPr/>
        </p:nvSpPr>
        <p:spPr>
          <a:xfrm>
            <a:off x="10168128" y="3813048"/>
            <a:ext cx="1490472" cy="402336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2"/>
                </a:solidFill>
              </a:rPr>
              <a:t>AX 플랫폼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chemeClr val="tx2"/>
                </a:solidFill>
              </a:rPr>
              <a:t>('30 Consulting OS)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6336792" y="4370832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※ 대기업형 혼합 AX 모델 : 그룹 내부 역량 매핑</a:t>
            </a:r>
            <a:endParaRPr lang="en-US" sz="1050" dirty="0"/>
          </a:p>
        </p:txBody>
      </p:sp>
      <p:graphicFrame>
        <p:nvGraphicFramePr>
          <p:cNvPr id="5" name="혼합 모델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1072" y="4663440"/>
          <a:ext cx="553212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280160"/>
                <a:gridCol w="2926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유형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강점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그룹 내 대응 역량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DE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Accenture·IBM식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 및 플랫폼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0342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AI혁신센터 · D&amp;AX부문 (엔지니어)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McKinsey·BCG식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경영·조직 재설계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7B6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Biz컨설팅팀 (차세대 PI/ISP, 도메인)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Big Four식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리스크·규제 통제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AX컨설팅팀 AI 거버넌스·성과관리 + 그룹 정보보안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결론"/>
          <p:cNvSpPr txBox="1"/>
          <p:nvPr/>
        </p:nvSpPr>
        <p:spPr>
          <a:xfrm>
            <a:off x="6291072" y="5733288"/>
            <a:ext cx="5532120" cy="621792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101600" rIns="1016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세 역량이 모두 그룹 내부에 존재 → FDE 공동 TF로 결합하면 외부 컨설팅사 혼합모델을 내재화하여 수행 가능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 Consulting">
  <a:themeElements>
    <a:clrScheme name="AX Consulting">
      <a:dk1>
        <a:srgbClr val="1F2329"/>
      </a:dk1>
      <a:lt1>
        <a:srgbClr val="FFFFFF"/>
      </a:lt1>
      <a:dk2>
        <a:srgbClr val="2F3E55"/>
      </a:dk2>
      <a:lt2>
        <a:srgbClr val="F2F4F7"/>
      </a:lt2>
      <a:accent1>
        <a:srgbClr val="1F4E9A"/>
      </a:accent1>
      <a:accent2>
        <a:srgbClr val="D0342C"/>
      </a:accent2>
      <a:accent3>
        <a:srgbClr val="8A94A6"/>
      </a:accent3>
      <a:accent4>
        <a:srgbClr val="E3EAF5"/>
      </a:accent4>
      <a:accent5>
        <a:srgbClr val="5B6B82"/>
      </a:accent5>
      <a:accent6>
        <a:srgbClr val="0F7B6C"/>
      </a:accent6>
      <a:hlink>
        <a:srgbClr val="1F4E9A"/>
      </a:hlink>
      <a:folHlink>
        <a:srgbClr val="5B6B82"/>
      </a:folHlink>
    </a:clrScheme>
    <a:fontScheme name="AX Consulting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2026-10-27T23:36:27Z</dcterms:created>
  <dcterms:modified xsi:type="dcterms:W3CDTF">2026-10-27T23:36:27Z</dcterms:modified>
</cp:coreProperties>
</file>