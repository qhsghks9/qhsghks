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배경: 그룹사 과제가 컨설팅에서 멈춤(108건 발굴, 적용 2건), FDE 성패는 Biz 문제정의, 컨설팅팀 단독 구현 한계 → 엔지니어 협업, AX·Biz 조합이 Biz 영역 최적. 전략: AX+Biz(Biz 영역) × AI혁신센터·D&amp;AX부문(Tech 영역) 공동 TF.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2PANEL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914400"/>
            <a:ext cx="11457432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9966960" y="651052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AX컨설팅팀</a:t>
            </a:r>
            <a:endParaRPr lang="en-US" sz="9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'27년 중점추진과제  &gt;  </a:t>
            </a:r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③ FDE를 통한 대내 사업 확대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1024128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과제 수행 방향 요약</a:t>
            </a:r>
            <a:endParaRPr lang="en-US" sz="1300" dirty="0"/>
          </a:p>
        </p:txBody>
      </p:sp>
      <p:sp>
        <p:nvSpPr>
          <p:cNvPr id="4" name="방향 요약"/>
          <p:cNvSpPr txBox="1"/>
          <p:nvPr/>
        </p:nvSpPr>
        <p:spPr>
          <a:xfrm>
            <a:off x="2194560" y="1024128"/>
            <a:ext cx="9628632" cy="420624"/>
          </a:xfrm>
          <a:prstGeom prst="rect">
            <a:avLst/>
          </a:prstGeom>
          <a:solidFill>
            <a:schemeClr val="accent4"/>
          </a:solidFill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AX·Biz컨설팅팀이 FDE Biz 영역(문제정의·적용설계)을 맡고, AI혁신센터·D&amp;AX부문과 협업해 MVP·구축까지 실행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365760" y="1591056"/>
            <a:ext cx="5532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FDE 추진 배경</a:t>
            </a:r>
            <a:endParaRPr lang="en-US" sz="1500" dirty="0"/>
          </a:p>
        </p:txBody>
      </p:sp>
      <p:sp>
        <p:nvSpPr>
          <p:cNvPr id="6" name="구역선 FDE 추진 배경"/>
          <p:cNvSpPr/>
          <p:nvPr/>
        </p:nvSpPr>
        <p:spPr>
          <a:xfrm>
            <a:off x="365760" y="1938528"/>
            <a:ext cx="5532120" cy="0"/>
          </a:xfrm>
          <a:prstGeom prst="line">
            <a:avLst/>
          </a:prstGeom>
          <a:noFill/>
          <a:ln w="31750">
            <a:solidFill>
              <a:srgbClr val="8A94A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291072" y="1591056"/>
            <a:ext cx="5532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추진 전략</a:t>
            </a:r>
            <a:endParaRPr lang="en-US" sz="1500" dirty="0"/>
          </a:p>
        </p:txBody>
      </p:sp>
      <p:sp>
        <p:nvSpPr>
          <p:cNvPr id="8" name="구역선 추진 전략"/>
          <p:cNvSpPr/>
          <p:nvPr/>
        </p:nvSpPr>
        <p:spPr>
          <a:xfrm>
            <a:off x="6291072" y="1938528"/>
            <a:ext cx="5532120" cy="0"/>
          </a:xfrm>
          <a:prstGeom prst="line">
            <a:avLst/>
          </a:prstGeom>
          <a:noFill/>
          <a:ln w="31750">
            <a:solidFill>
              <a:srgbClr val="8A94A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02996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※ FDE 모델 : 정의</a:t>
            </a:r>
            <a:endParaRPr lang="en-US" sz="1100" dirty="0"/>
          </a:p>
        </p:txBody>
      </p:sp>
      <p:sp>
        <p:nvSpPr>
          <p:cNvPr id="10" name="FDE 정의"/>
          <p:cNvSpPr txBox="1"/>
          <p:nvPr/>
        </p:nvSpPr>
        <p:spPr>
          <a:xfrm>
            <a:off x="457200" y="2304288"/>
            <a:ext cx="5349240" cy="365760"/>
          </a:xfrm>
          <a:prstGeom prst="rect">
            <a:avLst/>
          </a:prstGeom>
          <a:solidFill>
            <a:schemeClr val="bg2"/>
          </a:solidFill>
          <a:ln/>
        </p:spPr>
        <p:txBody>
          <a:bodyPr wrap="square" lIns="0" tIns="76200" rIns="7620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고객 현장에 밀착하여 </a:t>
            </a:r>
            <a:pPr indent="0" marL="0">
              <a:buNone/>
            </a:pPr>
            <a:r>
              <a:rPr lang="en-US" sz="1050" b="1" dirty="0">
                <a:solidFill>
                  <a:srgbClr val="1F4E9A"/>
                </a:solidFill>
              </a:rPr>
              <a:t>문제정의부터 구현·운영 이관까지 책임</a:t>
            </a:r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지는 실행형 AX 모델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2788920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•  그룹사 AI과제가 </a:t>
            </a:r>
            <a:pPr indent="0" marL="0">
              <a:buNone/>
            </a:pPr>
            <a:r>
              <a:rPr lang="en-US" sz="1250" b="1" u="sng" dirty="0">
                <a:solidFill>
                  <a:srgbClr val="1F4E9A"/>
                </a:solidFill>
              </a:rPr>
              <a:t>컨설팅 단계에서 멈춤</a:t>
            </a:r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 (실행 단절)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3081528"/>
            <a:ext cx="5166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- 17개 그룹사 컨설팅 → AI과제 108건 발굴 → 실제 적용 2건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3410712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•  FDE 성패는 </a:t>
            </a:r>
            <a:pPr indent="0" marL="0">
              <a:buNone/>
            </a:pPr>
            <a:r>
              <a:rPr lang="en-US" sz="1250" b="1" u="sng" dirty="0">
                <a:solidFill>
                  <a:srgbClr val="1F4E9A"/>
                </a:solidFill>
              </a:rPr>
              <a:t>Biz 문제정의·과제 Target</a:t>
            </a:r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 역량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3703320"/>
            <a:ext cx="5166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- 기술보다 업무 이해 → 과제 선정·성과 정의가 실행 속도 좌우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032504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•  컨설팅팀 단독 구현 한계 → </a:t>
            </a:r>
            <a:pPr indent="0" marL="0">
              <a:buNone/>
            </a:pPr>
            <a:r>
              <a:rPr lang="en-US" sz="1250" b="1" u="sng" dirty="0">
                <a:solidFill>
                  <a:srgbClr val="1F4E9A"/>
                </a:solidFill>
              </a:rPr>
              <a:t>엔지니어 협업 구조</a:t>
            </a:r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 필요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4325112"/>
            <a:ext cx="5166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- AI 개발자 부재 → AI혁신센터·D&amp;AX부문과 Tech 영역 역할 분담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4654296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•  AX·Biz컨설팅팀은 </a:t>
            </a:r>
            <a:pPr indent="0" marL="0">
              <a:buNone/>
            </a:pPr>
            <a:r>
              <a:rPr lang="en-US" sz="1250" b="1" u="sng" dirty="0">
                <a:solidFill>
                  <a:srgbClr val="D0342C"/>
                </a:solidFill>
              </a:rPr>
              <a:t>FDE Biz 영역의 최적 조합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685800" y="4946904"/>
            <a:ext cx="5166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- AX: 그룹사 AI컨설팅 경험·과제 Pool  /  Biz: 차세대 PI/ISP·도메인</a:t>
            </a:r>
            <a:endParaRPr lang="en-US" sz="1050" dirty="0"/>
          </a:p>
        </p:txBody>
      </p:sp>
      <p:sp>
        <p:nvSpPr>
          <p:cNvPr id="19" name="타사 사례 박스"/>
          <p:cNvSpPr/>
          <p:nvPr/>
        </p:nvSpPr>
        <p:spPr>
          <a:xfrm>
            <a:off x="365760" y="5349240"/>
            <a:ext cx="5532120" cy="1033272"/>
          </a:xfrm>
          <a:prstGeom prst="rect">
            <a:avLst/>
          </a:prstGeom>
          <a:solidFill>
            <a:srgbClr val="F0F0F0"/>
          </a:solidFill>
          <a:ln w="12700">
            <a:solidFill>
              <a:srgbClr val="F0F0F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57200" y="539496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※ FDE 타사 사례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5669280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chemeClr val="tx2"/>
                </a:solidFill>
              </a:rPr>
              <a:t>Palantir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chemeClr val="tx1"/>
                </a:solidFill>
              </a:rPr>
              <a:t>고객 대응(Echo)·엔지니어(Delta) 페어로 현장 배치</a:t>
            </a:r>
            <a:endParaRPr lang="en-US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3182112" y="5669280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chemeClr val="tx2"/>
                </a:solidFill>
              </a:rPr>
              <a:t>Accenture×MS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chemeClr val="tx1"/>
                </a:solidFill>
              </a:rPr>
              <a:t>FDE Practice 공동 출범 ('26.3)</a:t>
            </a:r>
            <a:endParaRPr lang="en-US" sz="85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6016752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chemeClr val="tx2"/>
                </a:solidFill>
              </a:rPr>
              <a:t>SK AX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chemeClr val="tx1"/>
                </a:solidFill>
              </a:rPr>
              <a:t>전체 개발직군 FDE화 추진</a:t>
            </a:r>
            <a:endParaRPr lang="en-US" sz="850" dirty="0"/>
          </a:p>
        </p:txBody>
      </p:sp>
      <p:sp>
        <p:nvSpPr>
          <p:cNvPr id="24" name="Text 22"/>
          <p:cNvSpPr txBox="1"/>
          <p:nvPr/>
        </p:nvSpPr>
        <p:spPr>
          <a:xfrm>
            <a:off x="3182112" y="6016752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chemeClr val="tx2"/>
                </a:solidFill>
              </a:rPr>
              <a:t>삼성SDS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chemeClr val="tx1"/>
                </a:solidFill>
              </a:rPr>
              <a:t>SI 전문성 + FDE 결합, 현장 엔지니어 전진 배치</a:t>
            </a:r>
            <a:endParaRPr lang="en-US" sz="850" dirty="0"/>
          </a:p>
        </p:txBody>
      </p:sp>
      <p:sp>
        <p:nvSpPr>
          <p:cNvPr id="25" name="머리표 FDE 공동 TF 조직 (案)"/>
          <p:cNvSpPr/>
          <p:nvPr/>
        </p:nvSpPr>
        <p:spPr>
          <a:xfrm>
            <a:off x="6364224" y="2103120"/>
            <a:ext cx="164592" cy="164592"/>
          </a:xfrm>
          <a:prstGeom prst="rect">
            <a:avLst/>
          </a:prstGeom>
          <a:solidFill>
            <a:schemeClr val="bg1"/>
          </a:solidFill>
          <a:ln w="15875">
            <a:solidFill>
              <a:schemeClr val="tx1"/>
            </a:solidFill>
            <a:prstDash val="solid"/>
          </a:ln>
          <a:effectLst>
            <a:outerShdw sx="100000" sy="100000" kx="0" ky="0" algn="bl" rotWithShape="0" blurRad="12700" dist="19050" dir="2700000">
              <a:srgbClr val="7F7F7F">
                <a:alpha val="60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6611112" y="2029968"/>
            <a:ext cx="5212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FDE 공동 TF 조직 (案)</a:t>
            </a:r>
            <a:endParaRPr lang="en-US" sz="1300" dirty="0"/>
          </a:p>
        </p:txBody>
      </p:sp>
      <p:sp>
        <p:nvSpPr>
          <p:cNvPr id="27" name="Biz 영역"/>
          <p:cNvSpPr txBox="1"/>
          <p:nvPr/>
        </p:nvSpPr>
        <p:spPr>
          <a:xfrm>
            <a:off x="6336792" y="2395728"/>
            <a:ext cx="3840480" cy="219456"/>
          </a:xfrm>
          <a:prstGeom prst="rect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chemeClr val="bg1"/>
                </a:solidFill>
              </a:rPr>
              <a:t>FDE Biz 영역 (문제정의·적용설계)</a:t>
            </a:r>
            <a:endParaRPr lang="en-US" sz="950" dirty="0"/>
          </a:p>
        </p:txBody>
      </p:sp>
      <p:sp>
        <p:nvSpPr>
          <p:cNvPr id="28" name="Tech 영역"/>
          <p:cNvSpPr txBox="1"/>
          <p:nvPr/>
        </p:nvSpPr>
        <p:spPr>
          <a:xfrm>
            <a:off x="10451592" y="2395728"/>
            <a:ext cx="1371600" cy="219456"/>
          </a:xfrm>
          <a:prstGeom prst="rect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chemeClr val="bg1"/>
                </a:solidFill>
              </a:rPr>
              <a:t>FDE Tech 영역</a:t>
            </a:r>
            <a:endParaRPr lang="en-US" sz="950" dirty="0"/>
          </a:p>
        </p:txBody>
      </p:sp>
      <p:sp>
        <p:nvSpPr>
          <p:cNvPr id="29" name="박스 AX컨설팅팀"/>
          <p:cNvSpPr/>
          <p:nvPr/>
        </p:nvSpPr>
        <p:spPr>
          <a:xfrm>
            <a:off x="6336792" y="2697480"/>
            <a:ext cx="1783080" cy="1783080"/>
          </a:xfrm>
          <a:prstGeom prst="rect">
            <a:avLst/>
          </a:prstGeom>
          <a:solidFill>
            <a:schemeClr val="bg1"/>
          </a:solidFill>
          <a:ln w="12700">
            <a:solidFill>
              <a:srgbClr val="BFC5CF"/>
            </a:solidFill>
            <a:prstDash val="solid"/>
          </a:ln>
        </p:spPr>
      </p:sp>
      <p:sp>
        <p:nvSpPr>
          <p:cNvPr id="30" name="팀명 AX컨설팅팀"/>
          <p:cNvSpPr/>
          <p:nvPr/>
        </p:nvSpPr>
        <p:spPr>
          <a:xfrm>
            <a:off x="6473952" y="2752344"/>
            <a:ext cx="1508760" cy="256032"/>
          </a:xfrm>
          <a:prstGeom prst="roundRect">
            <a:avLst>
              <a:gd name="adj" fmla="val 28571"/>
            </a:avLst>
          </a:prstGeom>
          <a:solidFill>
            <a:schemeClr val="bg1"/>
          </a:solidFill>
          <a:ln w="9525">
            <a:solidFill>
              <a:srgbClr val="BFC5CF"/>
            </a:solidFill>
          </a:ln>
          <a:effectLst>
            <a:outerShdw sx="100000" sy="100000" kx="0" ky="0" algn="bl" rotWithShape="0" blurRad="25400" dist="12700" dir="5400000">
              <a:srgbClr val="999999">
                <a:alpha val="40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AX컨설팅팀</a:t>
            </a:r>
            <a:endParaRPr lang="en-US" sz="1050" dirty="0"/>
          </a:p>
        </p:txBody>
      </p:sp>
      <p:sp>
        <p:nvSpPr>
          <p:cNvPr id="31" name="칩영역 AX컨설팅팀"/>
          <p:cNvSpPr/>
          <p:nvPr/>
        </p:nvSpPr>
        <p:spPr>
          <a:xfrm>
            <a:off x="6391656" y="3081528"/>
            <a:ext cx="1673352" cy="603504"/>
          </a:xfrm>
          <a:prstGeom prst="rect">
            <a:avLst/>
          </a:prstGeom>
          <a:solidFill>
            <a:srgbClr val="EEF0F3"/>
          </a:solidFill>
          <a:ln w="9525">
            <a:solidFill>
              <a:srgbClr val="D5D9E0"/>
            </a:solidFill>
            <a:prstDash val="solid"/>
          </a:ln>
        </p:spPr>
      </p:sp>
      <p:sp>
        <p:nvSpPr>
          <p:cNvPr id="32" name="칩 진단/발굴 9건"/>
          <p:cNvSpPr txBox="1"/>
          <p:nvPr/>
        </p:nvSpPr>
        <p:spPr>
          <a:xfrm>
            <a:off x="6428232" y="3118104"/>
            <a:ext cx="781812" cy="246888"/>
          </a:xfrm>
          <a:prstGeom prst="rect">
            <a:avLst/>
          </a:prstGeom>
          <a:solidFill>
            <a:schemeClr val="bg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chemeClr val="tx1"/>
                </a:solidFill>
              </a:rPr>
              <a:t>진단/발굴 9건</a:t>
            </a:r>
            <a:endParaRPr lang="en-US" sz="800" dirty="0"/>
          </a:p>
        </p:txBody>
      </p:sp>
      <p:sp>
        <p:nvSpPr>
          <p:cNvPr id="33" name="칩 전략수립 4건"/>
          <p:cNvSpPr txBox="1"/>
          <p:nvPr/>
        </p:nvSpPr>
        <p:spPr>
          <a:xfrm>
            <a:off x="7246620" y="3118104"/>
            <a:ext cx="781812" cy="246888"/>
          </a:xfrm>
          <a:prstGeom prst="rect">
            <a:avLst/>
          </a:prstGeom>
          <a:solidFill>
            <a:schemeClr val="bg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chemeClr val="tx1"/>
                </a:solidFill>
              </a:rPr>
              <a:t>전략수립 4건</a:t>
            </a:r>
            <a:endParaRPr lang="en-US" sz="800" dirty="0"/>
          </a:p>
        </p:txBody>
      </p:sp>
      <p:sp>
        <p:nvSpPr>
          <p:cNvPr id="34" name="칩 특화영역 3건"/>
          <p:cNvSpPr txBox="1"/>
          <p:nvPr/>
        </p:nvSpPr>
        <p:spPr>
          <a:xfrm>
            <a:off x="6428232" y="3392424"/>
            <a:ext cx="781812" cy="246888"/>
          </a:xfrm>
          <a:prstGeom prst="rect">
            <a:avLst/>
          </a:prstGeom>
          <a:solidFill>
            <a:schemeClr val="bg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chemeClr val="tx1"/>
                </a:solidFill>
              </a:rPr>
              <a:t>특화영역 3건</a:t>
            </a:r>
            <a:endParaRPr lang="en-US" sz="800" dirty="0"/>
          </a:p>
        </p:txBody>
      </p:sp>
      <p:sp>
        <p:nvSpPr>
          <p:cNvPr id="35" name="칩 AX교육 6건"/>
          <p:cNvSpPr txBox="1"/>
          <p:nvPr/>
        </p:nvSpPr>
        <p:spPr>
          <a:xfrm>
            <a:off x="7246620" y="3392424"/>
            <a:ext cx="781812" cy="246888"/>
          </a:xfrm>
          <a:prstGeom prst="rect">
            <a:avLst/>
          </a:prstGeom>
          <a:solidFill>
            <a:schemeClr val="bg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chemeClr val="tx1"/>
                </a:solidFill>
              </a:rPr>
              <a:t>AX교육 6건</a:t>
            </a:r>
            <a:endParaRPr lang="en-US" sz="800" dirty="0"/>
          </a:p>
        </p:txBody>
      </p:sp>
      <p:sp>
        <p:nvSpPr>
          <p:cNvPr id="36" name="Text 34"/>
          <p:cNvSpPr txBox="1"/>
          <p:nvPr/>
        </p:nvSpPr>
        <p:spPr>
          <a:xfrm>
            <a:off x="6428232" y="3739896"/>
            <a:ext cx="1600200" cy="329184"/>
          </a:xfrm>
          <a:prstGeom prst="rect">
            <a:avLst/>
          </a:prstGeom>
          <a:solidFill>
            <a:srgbClr val="D9D9D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그룹사 AI컨설팅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수행 경험</a:t>
            </a:r>
            <a:endParaRPr lang="en-US" sz="900" dirty="0"/>
          </a:p>
        </p:txBody>
      </p:sp>
      <p:sp>
        <p:nvSpPr>
          <p:cNvPr id="37" name="Text 35"/>
          <p:cNvSpPr txBox="1"/>
          <p:nvPr/>
        </p:nvSpPr>
        <p:spPr>
          <a:xfrm>
            <a:off x="6428232" y="4105656"/>
            <a:ext cx="1600200" cy="329184"/>
          </a:xfrm>
          <a:prstGeom prst="rect">
            <a:avLst/>
          </a:prstGeom>
          <a:solidFill>
            <a:srgbClr val="FFF9C4"/>
          </a:solidFill>
          <a:ln w="6350">
            <a:solidFill>
              <a:srgbClr val="BFC5C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그룹사 AI추진과제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Pool 확보 (108건)</a:t>
            </a:r>
            <a:endParaRPr lang="en-US" sz="900" dirty="0"/>
          </a:p>
        </p:txBody>
      </p:sp>
      <p:sp>
        <p:nvSpPr>
          <p:cNvPr id="38" name="박스 Biz컨설팅팀"/>
          <p:cNvSpPr/>
          <p:nvPr/>
        </p:nvSpPr>
        <p:spPr>
          <a:xfrm>
            <a:off x="8394192" y="2697480"/>
            <a:ext cx="1783080" cy="1783080"/>
          </a:xfrm>
          <a:prstGeom prst="rect">
            <a:avLst/>
          </a:prstGeom>
          <a:solidFill>
            <a:schemeClr val="bg1"/>
          </a:solidFill>
          <a:ln w="12700">
            <a:solidFill>
              <a:srgbClr val="BFC5CF"/>
            </a:solidFill>
            <a:prstDash val="solid"/>
          </a:ln>
        </p:spPr>
      </p:sp>
      <p:sp>
        <p:nvSpPr>
          <p:cNvPr id="39" name="팀명 Biz컨설팅팀"/>
          <p:cNvSpPr/>
          <p:nvPr/>
        </p:nvSpPr>
        <p:spPr>
          <a:xfrm>
            <a:off x="8531352" y="2752344"/>
            <a:ext cx="1508760" cy="256032"/>
          </a:xfrm>
          <a:prstGeom prst="roundRect">
            <a:avLst>
              <a:gd name="adj" fmla="val 28571"/>
            </a:avLst>
          </a:prstGeom>
          <a:solidFill>
            <a:schemeClr val="bg1"/>
          </a:solidFill>
          <a:ln w="9525">
            <a:solidFill>
              <a:srgbClr val="BFC5CF"/>
            </a:solidFill>
          </a:ln>
          <a:effectLst>
            <a:outerShdw sx="100000" sy="100000" kx="0" ky="0" algn="bl" rotWithShape="0" blurRad="25400" dist="12700" dir="5400000">
              <a:srgbClr val="999999">
                <a:alpha val="40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Biz컨설팅팀</a:t>
            </a:r>
            <a:endParaRPr lang="en-US" sz="1050" dirty="0"/>
          </a:p>
        </p:txBody>
      </p:sp>
      <p:sp>
        <p:nvSpPr>
          <p:cNvPr id="40" name="칩영역 Biz컨설팅팀"/>
          <p:cNvSpPr/>
          <p:nvPr/>
        </p:nvSpPr>
        <p:spPr>
          <a:xfrm>
            <a:off x="8449056" y="3081528"/>
            <a:ext cx="1673352" cy="603504"/>
          </a:xfrm>
          <a:prstGeom prst="rect">
            <a:avLst/>
          </a:prstGeom>
          <a:solidFill>
            <a:srgbClr val="EEF0F3"/>
          </a:solidFill>
          <a:ln w="9525">
            <a:solidFill>
              <a:srgbClr val="D5D9E0"/>
            </a:solidFill>
            <a:prstDash val="solid"/>
          </a:ln>
        </p:spPr>
      </p:sp>
      <p:sp>
        <p:nvSpPr>
          <p:cNvPr id="41" name="칩 식품/제조"/>
          <p:cNvSpPr txBox="1"/>
          <p:nvPr/>
        </p:nvSpPr>
        <p:spPr>
          <a:xfrm>
            <a:off x="8485632" y="3118104"/>
            <a:ext cx="781812" cy="246888"/>
          </a:xfrm>
          <a:prstGeom prst="rect">
            <a:avLst/>
          </a:prstGeom>
          <a:solidFill>
            <a:schemeClr val="bg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chemeClr val="tx1"/>
                </a:solidFill>
              </a:rPr>
              <a:t>식품/제조</a:t>
            </a:r>
            <a:endParaRPr lang="en-US" sz="800" dirty="0"/>
          </a:p>
        </p:txBody>
      </p:sp>
      <p:sp>
        <p:nvSpPr>
          <p:cNvPr id="42" name="칩 유통"/>
          <p:cNvSpPr txBox="1"/>
          <p:nvPr/>
        </p:nvSpPr>
        <p:spPr>
          <a:xfrm>
            <a:off x="9304020" y="3118104"/>
            <a:ext cx="781812" cy="246888"/>
          </a:xfrm>
          <a:prstGeom prst="rect">
            <a:avLst/>
          </a:prstGeom>
          <a:solidFill>
            <a:schemeClr val="bg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chemeClr val="tx1"/>
                </a:solidFill>
              </a:rPr>
              <a:t>유통</a:t>
            </a:r>
            <a:endParaRPr lang="en-US" sz="800" dirty="0"/>
          </a:p>
        </p:txBody>
      </p:sp>
      <p:sp>
        <p:nvSpPr>
          <p:cNvPr id="43" name="칩 화학/건설"/>
          <p:cNvSpPr txBox="1"/>
          <p:nvPr/>
        </p:nvSpPr>
        <p:spPr>
          <a:xfrm>
            <a:off x="8485632" y="3392424"/>
            <a:ext cx="781812" cy="246888"/>
          </a:xfrm>
          <a:prstGeom prst="rect">
            <a:avLst/>
          </a:prstGeom>
          <a:solidFill>
            <a:schemeClr val="bg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chemeClr val="tx1"/>
                </a:solidFill>
              </a:rPr>
              <a:t>화학/건설</a:t>
            </a:r>
            <a:endParaRPr lang="en-US" sz="800" dirty="0"/>
          </a:p>
        </p:txBody>
      </p:sp>
      <p:sp>
        <p:nvSpPr>
          <p:cNvPr id="44" name="칩 호텔/서비스"/>
          <p:cNvSpPr txBox="1"/>
          <p:nvPr/>
        </p:nvSpPr>
        <p:spPr>
          <a:xfrm>
            <a:off x="9304020" y="3392424"/>
            <a:ext cx="781812" cy="246888"/>
          </a:xfrm>
          <a:prstGeom prst="rect">
            <a:avLst/>
          </a:prstGeom>
          <a:solidFill>
            <a:schemeClr val="bg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chemeClr val="tx1"/>
                </a:solidFill>
              </a:rPr>
              <a:t>호텔/서비스</a:t>
            </a:r>
            <a:endParaRPr lang="en-US" sz="800" dirty="0"/>
          </a:p>
        </p:txBody>
      </p:sp>
      <p:sp>
        <p:nvSpPr>
          <p:cNvPr id="45" name="Text 43"/>
          <p:cNvSpPr txBox="1"/>
          <p:nvPr/>
        </p:nvSpPr>
        <p:spPr>
          <a:xfrm>
            <a:off x="8485632" y="3739896"/>
            <a:ext cx="1600200" cy="329184"/>
          </a:xfrm>
          <a:prstGeom prst="rect">
            <a:avLst/>
          </a:prstGeom>
          <a:solidFill>
            <a:srgbClr val="D9D9D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그룹사 차세대 PI/ISP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수행 경험</a:t>
            </a:r>
            <a:endParaRPr lang="en-US" sz="900" dirty="0"/>
          </a:p>
        </p:txBody>
      </p:sp>
      <p:sp>
        <p:nvSpPr>
          <p:cNvPr id="46" name="Text 44"/>
          <p:cNvSpPr txBox="1"/>
          <p:nvPr/>
        </p:nvSpPr>
        <p:spPr>
          <a:xfrm>
            <a:off x="8485632" y="4105656"/>
            <a:ext cx="1600200" cy="329184"/>
          </a:xfrm>
          <a:prstGeom prst="rect">
            <a:avLst/>
          </a:prstGeom>
          <a:solidFill>
            <a:srgbClr val="FFF9C4"/>
          </a:solidFill>
          <a:ln w="6350">
            <a:solidFill>
              <a:srgbClr val="BFC5C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도메인 전문성</a:t>
            </a:r>
            <a:endParaRPr lang="en-US" sz="900" dirty="0"/>
          </a:p>
        </p:txBody>
      </p:sp>
      <p:sp>
        <p:nvSpPr>
          <p:cNvPr id="47" name="Text 45"/>
          <p:cNvSpPr txBox="1"/>
          <p:nvPr/>
        </p:nvSpPr>
        <p:spPr>
          <a:xfrm>
            <a:off x="8119872" y="338328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3"/>
                </a:solidFill>
              </a:rPr>
              <a:t>+</a:t>
            </a:r>
            <a:endParaRPr lang="en-US" sz="2000" dirty="0"/>
          </a:p>
        </p:txBody>
      </p:sp>
      <p:sp>
        <p:nvSpPr>
          <p:cNvPr id="48" name="협업 화살표"/>
          <p:cNvSpPr/>
          <p:nvPr/>
        </p:nvSpPr>
        <p:spPr>
          <a:xfrm>
            <a:off x="10213848" y="3429000"/>
            <a:ext cx="201168" cy="292608"/>
          </a:xfrm>
          <a:prstGeom prst="rightArrow">
            <a:avLst/>
          </a:prstGeom>
          <a:solidFill>
            <a:srgbClr val="A6ADB8"/>
          </a:solidFill>
          <a:ln w="12700">
            <a:solidFill>
              <a:srgbClr val="A6ADB8"/>
            </a:solidFill>
            <a:prstDash val="solid"/>
          </a:ln>
        </p:spPr>
      </p:sp>
      <p:sp>
        <p:nvSpPr>
          <p:cNvPr id="49" name="엔지니어 협업 박스"/>
          <p:cNvSpPr/>
          <p:nvPr/>
        </p:nvSpPr>
        <p:spPr>
          <a:xfrm>
            <a:off x="10451592" y="2697480"/>
            <a:ext cx="1371600" cy="1783080"/>
          </a:xfrm>
          <a:prstGeom prst="rect">
            <a:avLst/>
          </a:prstGeom>
          <a:solidFill>
            <a:srgbClr val="FBEDEC"/>
          </a:solidFill>
          <a:ln w="12700">
            <a:solidFill>
              <a:srgbClr val="D0342C"/>
            </a:solidFill>
            <a:prstDash val="dash"/>
          </a:ln>
        </p:spPr>
      </p:sp>
      <p:sp>
        <p:nvSpPr>
          <p:cNvPr id="50" name="Text 48"/>
          <p:cNvSpPr txBox="1"/>
          <p:nvPr/>
        </p:nvSpPr>
        <p:spPr>
          <a:xfrm>
            <a:off x="10451592" y="2752344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accent2"/>
                </a:solidFill>
              </a:rPr>
              <a:t>엔지니어 협업</a:t>
            </a:r>
            <a:endParaRPr lang="en-US" sz="1050" dirty="0"/>
          </a:p>
        </p:txBody>
      </p:sp>
      <p:sp>
        <p:nvSpPr>
          <p:cNvPr id="51" name="협업 AI혁신센터"/>
          <p:cNvSpPr txBox="1"/>
          <p:nvPr/>
        </p:nvSpPr>
        <p:spPr>
          <a:xfrm>
            <a:off x="10543032" y="3081528"/>
            <a:ext cx="1188720" cy="457200"/>
          </a:xfrm>
          <a:prstGeom prst="rect">
            <a:avLst/>
          </a:prstGeom>
          <a:solidFill>
            <a:schemeClr val="bg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AI혁신센터</a:t>
            </a: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AI 모델·Agent 개발</a:t>
            </a:r>
            <a:endParaRPr lang="en-US" sz="1000" dirty="0"/>
          </a:p>
        </p:txBody>
      </p:sp>
      <p:sp>
        <p:nvSpPr>
          <p:cNvPr id="52" name="협업 D&amp;AX부문"/>
          <p:cNvSpPr txBox="1"/>
          <p:nvPr/>
        </p:nvSpPr>
        <p:spPr>
          <a:xfrm>
            <a:off x="10543032" y="3593592"/>
            <a:ext cx="1188720" cy="457200"/>
          </a:xfrm>
          <a:prstGeom prst="rect">
            <a:avLst/>
          </a:prstGeom>
          <a:solidFill>
            <a:schemeClr val="bg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D&amp;AX부문</a:t>
            </a: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데이터·플랫폼·기간계 연동</a:t>
            </a:r>
            <a:endParaRPr lang="en-US" sz="1000" dirty="0"/>
          </a:p>
        </p:txBody>
      </p:sp>
      <p:sp>
        <p:nvSpPr>
          <p:cNvPr id="53" name="Text 51"/>
          <p:cNvSpPr txBox="1"/>
          <p:nvPr/>
        </p:nvSpPr>
        <p:spPr>
          <a:xfrm>
            <a:off x="10543032" y="4105656"/>
            <a:ext cx="1188720" cy="329184"/>
          </a:xfrm>
          <a:prstGeom prst="rect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MVP 구축 ·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운영 이관</a:t>
            </a:r>
            <a:endParaRPr lang="en-US" sz="900" dirty="0"/>
          </a:p>
        </p:txBody>
      </p:sp>
      <p:sp>
        <p:nvSpPr>
          <p:cNvPr id="54" name="협업 전략 헤더"/>
          <p:cNvSpPr txBox="1"/>
          <p:nvPr/>
        </p:nvSpPr>
        <p:spPr>
          <a:xfrm>
            <a:off x="6291072" y="4590288"/>
            <a:ext cx="5532120" cy="274320"/>
          </a:xfrm>
          <a:prstGeom prst="rect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bg1"/>
                </a:solidFill>
              </a:rPr>
              <a:t>협업 전략</a:t>
            </a:r>
            <a:endParaRPr lang="en-US" sz="1150" dirty="0"/>
          </a:p>
        </p:txBody>
      </p:sp>
      <p:graphicFrame>
        <p:nvGraphicFramePr>
          <p:cNvPr id="2" name="협업 전략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91072" y="4901184"/>
          <a:ext cx="55321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3063240"/>
                <a:gridCol w="155448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F232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 분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D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F232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 용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D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F232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협업 부서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DE3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F232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FDE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F232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협의체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32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과제 Target 선정 및 성과 관리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8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· 그룹사 과제 우선순위·투입 결정 (분기 1회)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F4E9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AX컨설팅팀 · Biz컨설팅팀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F4E9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(공동 주관)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F232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Biz 영역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32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문제정의 및 적용 설계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8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· 도메인 분석·To-Be 설계·성과지표 정의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8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· 기간계 적용방안·MVP 요건 정의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F4E9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AX컨설팅팀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F4E9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Biz컨설팅팀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F232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Tech 영역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32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MVP 구축 및 운영 이관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8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· AI 모델·Agent 개발, 데이터·기간계 연동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8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· 구축사업화 및 운영 이관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0342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AI혁신센터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0342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D&amp;AX부문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AX Consulting">
  <a:themeElements>
    <a:clrScheme name="AX Consulting">
      <a:dk1>
        <a:srgbClr val="1F2329"/>
      </a:dk1>
      <a:lt1>
        <a:srgbClr val="FFFFFF"/>
      </a:lt1>
      <a:dk2>
        <a:srgbClr val="2F3E55"/>
      </a:dk2>
      <a:lt2>
        <a:srgbClr val="F2F4F7"/>
      </a:lt2>
      <a:accent1>
        <a:srgbClr val="1F4E9A"/>
      </a:accent1>
      <a:accent2>
        <a:srgbClr val="D0342C"/>
      </a:accent2>
      <a:accent3>
        <a:srgbClr val="8A94A6"/>
      </a:accent3>
      <a:accent4>
        <a:srgbClr val="E3EAF5"/>
      </a:accent4>
      <a:accent5>
        <a:srgbClr val="5B6B82"/>
      </a:accent5>
      <a:accent6>
        <a:srgbClr val="0F7B6C"/>
      </a:accent6>
      <a:hlink>
        <a:srgbClr val="1F4E9A"/>
      </a:hlink>
      <a:folHlink>
        <a:srgbClr val="5B6B82"/>
      </a:folHlink>
    </a:clrScheme>
    <a:fontScheme name="AX Consulting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2026-10-27T23:35:14Z</dcterms:created>
  <dcterms:modified xsi:type="dcterms:W3CDTF">2026-10-27T23:35:14Z</dcterms:modified>
</cp:coreProperties>
</file>