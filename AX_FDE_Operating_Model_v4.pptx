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1a6f1805-ef42-eba9-a17c-685204548fc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[v4 수정 근거] 공개 보도 기준으로 사례 내용 교체.
[엑센츄어] 2026년 Microsoft(3.18)·ServiceNow(5.6)·SAP·Workday(10.13)와 FDE 프로그램 출범. Microsoft는 AI 플랫폼, 엑센츄어는 변화관리·프로세스 재설계·산업 워크플로·글로벌 배포 담당. 개념→프로덕션 '수개월이 아닌 수일' 목표. ServiceNow 프로그램은 300+ 사전 구축 AI Agent 스킬 제공. '수천 명 AI 엔지니어'는 회사 측 주장.
[삼성SDS] Real Summit 2026(9.8) 이준희 대표: FDE 연내 약 200명 확대(기존 IT서비스 인력 전환 + 신규 채용), 삼성 관계사 및 외부 고객 대상. FDE 역할을 문제 파악부터 구축 후 운영까지 확장. AX 7대 핵심요소 중 Process Re-Design, 사내 선검증 'Client Zero'. 오픈AI·앤트로픽·액센츄어와 협력.
[도입배경 수치] MIT NANDA 2025: 생성형 AI 파일럿의 95%가 측정 가능한 P&amp;L 성과 없음 – 예비 연구로 보도마다 표본 수 상이.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AX 전환 성공 조건 &gt; 사례 3. 엑센츄어, 삼성 SDS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성공의 관건은 기술이 아닌 '현장 실행력'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현장 투입형 FDE 운영 모델 도입 필요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25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도입 배경 및 수행 방안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73352"/>
            <a:ext cx="61722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32588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: FDE 운영 모델 비교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73352"/>
            <a:ext cx="50566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</a:t>
            </a:r>
            <a:endParaRPr lang="en-US" sz="1400" dirty="0"/>
          </a:p>
        </p:txBody>
      </p:sp>
      <p:sp>
        <p:nvSpPr>
          <p:cNvPr id="10" name="bg-1"/>
          <p:cNvSpPr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확산 실패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GenAI 파일럿 95% 성과 미창출¹⁾</a:t>
            </a:r>
            <a:endParaRPr lang="en-US" sz="1500" dirty="0"/>
          </a:p>
        </p:txBody>
      </p:sp>
      <p:sp>
        <p:nvSpPr>
          <p:cNvPr id="12" name="bg-2"/>
          <p:cNvSpPr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전략–실행 단절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전략은 있으나 구현 역량 부재</a:t>
            </a:r>
            <a:endParaRPr lang="en-US" sz="1500" dirty="0"/>
          </a:p>
        </p:txBody>
      </p:sp>
      <p:sp>
        <p:nvSpPr>
          <p:cNvPr id="14" name="bg-3"/>
          <p:cNvSpPr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극단적인 인력 운영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인력 편중 · 외주 의존</a:t>
            </a:r>
            <a:endParaRPr lang="en-US" sz="1500" dirty="0"/>
          </a:p>
        </p:txBody>
      </p:sp>
      <p:sp>
        <p:nvSpPr>
          <p:cNvPr id="16" name="bg-4"/>
          <p:cNvSpPr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비용 지속 지출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후 비용↑ · 성과 측정↓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3319272"/>
            <a:ext cx="4526280" cy="640080"/>
          </a:xfrm>
          <a:prstGeom prst="flowChartMerg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7413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중심의 FDE 운영 모델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502920" cy="19202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995928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endParaRPr lang="en-US" sz="1400" dirty="0"/>
          </a:p>
        </p:txBody>
      </p:sp>
      <p:sp>
        <p:nvSpPr>
          <p:cNvPr id="22" name="ex-title-1"/>
          <p:cNvSpPr/>
          <p:nvPr/>
        </p:nvSpPr>
        <p:spPr>
          <a:xfrm>
            <a:off x="941832" y="3995928"/>
            <a:ext cx="2148840" cy="438912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" y="39959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밀착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45536" y="3995928"/>
            <a:ext cx="3392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82696" y="3995928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상주, 실데이터·시스템 기반 개발</a:t>
            </a:r>
            <a:endParaRPr lang="en-US" sz="1250" dirty="0"/>
          </a:p>
        </p:txBody>
      </p:sp>
      <p:sp>
        <p:nvSpPr>
          <p:cNvPr id="26" name="ex-title-2"/>
          <p:cNvSpPr/>
          <p:nvPr/>
        </p:nvSpPr>
        <p:spPr>
          <a:xfrm>
            <a:off x="941832" y="4489704"/>
            <a:ext cx="2148840" cy="438912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448970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전략–엔지니어링 통합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45536" y="4489704"/>
            <a:ext cx="3392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82696" y="4489704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전략을 시스템·프로세스로 즉시 구현</a:t>
            </a:r>
            <a:endParaRPr lang="en-US" sz="1250" dirty="0"/>
          </a:p>
        </p:txBody>
      </p:sp>
      <p:sp>
        <p:nvSpPr>
          <p:cNvPr id="30" name="ex-title-3"/>
          <p:cNvSpPr/>
          <p:nvPr/>
        </p:nvSpPr>
        <p:spPr>
          <a:xfrm>
            <a:off x="941832" y="4983480"/>
            <a:ext cx="2148840" cy="438912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" y="49834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산업·기능 전문성 결합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45536" y="4983480"/>
            <a:ext cx="3392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82696" y="4983480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Biz·IT·AI·Data 융합 One Pod 운영</a:t>
            </a:r>
            <a:endParaRPr lang="en-US" sz="1250" dirty="0"/>
          </a:p>
        </p:txBody>
      </p:sp>
      <p:sp>
        <p:nvSpPr>
          <p:cNvPr id="34" name="ex-title-4"/>
          <p:cNvSpPr/>
          <p:nvPr/>
        </p:nvSpPr>
        <p:spPr>
          <a:xfrm>
            <a:off x="941832" y="5477256"/>
            <a:ext cx="2148840" cy="438912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54772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 · 자산화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145536" y="5477256"/>
            <a:ext cx="33924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82696" y="5477256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KPI로 성과 측정, 자산화 후 전사 확산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18013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accenture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180136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파트너 연계형 FDE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66560" y="2185416"/>
            <a:ext cx="3474720" cy="758952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9712" y="2258568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39712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플랫폼사 공동 FDE 프로그램 ('26)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76288" y="25511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76288" y="25511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08392" y="25511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08392" y="25511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40496" y="25511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40496" y="25511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72600" y="25511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72600" y="25511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Workday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66560" y="3017520"/>
            <a:ext cx="3474720" cy="758952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39712" y="3090672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39712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132320" y="30723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엑센츄어 역할 : 산업 · 실행 전담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876288" y="3383280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76288" y="338328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08392" y="3383280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08392" y="338328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변화관리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40496" y="3383280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40496" y="338328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372600" y="3383280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72600" y="338328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배포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561320" y="2185416"/>
            <a:ext cx="1261872" cy="1591056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34472" y="2258568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634472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963656" y="227685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68" name="Image 0" descr="/tmp/claude-0/-home-user-qhsghks/bd147a9d-e025-5cd1-aa7e-d391ccb85bb6/scratchpad/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2386584"/>
            <a:ext cx="237744" cy="237744"/>
          </a:xfrm>
          <a:prstGeom prst="rect">
            <a:avLst/>
          </a:prstGeom>
        </p:spPr>
      </p:pic>
      <p:sp>
        <p:nvSpPr>
          <p:cNvPr id="69" name="Text 66"/>
          <p:cNvSpPr txBox="1"/>
          <p:nvPr/>
        </p:nvSpPr>
        <p:spPr>
          <a:xfrm>
            <a:off x="10561320" y="27614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FDE팀</a:t>
            </a:r>
            <a:endParaRPr lang="en-US" sz="1150" dirty="0"/>
          </a:p>
        </p:txBody>
      </p:sp>
      <p:sp>
        <p:nvSpPr>
          <p:cNvPr id="70" name="Text 67"/>
          <p:cNvSpPr txBox="1"/>
          <p:nvPr/>
        </p:nvSpPr>
        <p:spPr>
          <a:xfrm>
            <a:off x="10561320" y="30083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플랫폼사 FDE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엑센츄어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FDE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10561320" y="34472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수개월→수일</a:t>
            </a:r>
            <a:endParaRPr lang="en-US" sz="1150" dirty="0"/>
          </a:p>
        </p:txBody>
      </p:sp>
      <p:sp>
        <p:nvSpPr>
          <p:cNvPr id="72" name="Shape 69"/>
          <p:cNvSpPr/>
          <p:nvPr/>
        </p:nvSpPr>
        <p:spPr>
          <a:xfrm flipH="1" flipV="1">
            <a:off x="10268712" y="2564892"/>
            <a:ext cx="292608" cy="416052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3" name="Shape 70"/>
          <p:cNvSpPr/>
          <p:nvPr/>
        </p:nvSpPr>
        <p:spPr>
          <a:xfrm flipH="1">
            <a:off x="10268712" y="2980944"/>
            <a:ext cx="292608" cy="416052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4" name="Shape 71"/>
          <p:cNvSpPr/>
          <p:nvPr/>
        </p:nvSpPr>
        <p:spPr>
          <a:xfrm>
            <a:off x="6766560" y="3858768"/>
            <a:ext cx="505663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75" name="Text 72"/>
          <p:cNvSpPr txBox="1"/>
          <p:nvPr/>
        </p:nvSpPr>
        <p:spPr>
          <a:xfrm>
            <a:off x="6766560" y="39410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SDS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8412480" y="3941064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IT서비스 인력 전환형 FDE</a:t>
            </a:r>
            <a:endParaRPr lang="en-US" sz="1250" dirty="0"/>
          </a:p>
        </p:txBody>
      </p:sp>
      <p:sp>
        <p:nvSpPr>
          <p:cNvPr id="77" name="Shape 74"/>
          <p:cNvSpPr/>
          <p:nvPr/>
        </p:nvSpPr>
        <p:spPr>
          <a:xfrm>
            <a:off x="6766560" y="4325112"/>
            <a:ext cx="3474720" cy="758952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839712" y="4398264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839712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7132320" y="4379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역할 확장 : 문제 파악부터 운영까지</a:t>
            </a:r>
            <a:endParaRPr lang="en-US" sz="1150" dirty="0"/>
          </a:p>
        </p:txBody>
      </p:sp>
      <p:sp>
        <p:nvSpPr>
          <p:cNvPr id="81" name="Shape 78"/>
          <p:cNvSpPr/>
          <p:nvPr/>
        </p:nvSpPr>
        <p:spPr>
          <a:xfrm>
            <a:off x="6876288" y="4690872"/>
            <a:ext cx="704088" cy="301752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876288" y="4690872"/>
            <a:ext cx="704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파악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7598664" y="484174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7726680" y="4690872"/>
            <a:ext cx="704088" cy="301752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726680" y="4690872"/>
            <a:ext cx="704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8449056" y="484174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8577072" y="4690872"/>
            <a:ext cx="704088" cy="301752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8577072" y="4690872"/>
            <a:ext cx="704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9299448" y="484174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90" name="Shape 87"/>
          <p:cNvSpPr/>
          <p:nvPr/>
        </p:nvSpPr>
        <p:spPr>
          <a:xfrm>
            <a:off x="9427464" y="4690872"/>
            <a:ext cx="704088" cy="301752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427464" y="4690872"/>
            <a:ext cx="704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6766560" y="5157216"/>
            <a:ext cx="3474720" cy="758952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839712" y="5230368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839712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5" name="Text 92"/>
          <p:cNvSpPr txBox="1"/>
          <p:nvPr/>
        </p:nvSpPr>
        <p:spPr>
          <a:xfrm>
            <a:off x="7132320" y="5212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선검증 + 글로벌 AI 협력</a:t>
            </a:r>
            <a:endParaRPr lang="en-US" sz="1150" dirty="0"/>
          </a:p>
        </p:txBody>
      </p:sp>
      <p:sp>
        <p:nvSpPr>
          <p:cNvPr id="96" name="Shape 93"/>
          <p:cNvSpPr/>
          <p:nvPr/>
        </p:nvSpPr>
        <p:spPr>
          <a:xfrm>
            <a:off x="6876288" y="55229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876288" y="55229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 Zero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708392" y="55229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7708392" y="55229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540496" y="55229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8540496" y="55229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372600" y="5522976"/>
            <a:ext cx="7589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372600" y="5522976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Accenture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561320" y="4325112"/>
            <a:ext cx="1261872" cy="1591056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634472" y="4398264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10634472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07" name="Shape 104"/>
          <p:cNvSpPr/>
          <p:nvPr/>
        </p:nvSpPr>
        <p:spPr>
          <a:xfrm>
            <a:off x="10963656" y="4416552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108" name="Image 1" descr="/tmp/claude-0/-home-user-qhsghks/bd147a9d-e025-5cd1-aa7e-d391ccb85bb6/scratchpad/ico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384" y="4526280"/>
            <a:ext cx="237744" cy="237744"/>
          </a:xfrm>
          <a:prstGeom prst="rect">
            <a:avLst/>
          </a:prstGeom>
        </p:spPr>
      </p:pic>
      <p:sp>
        <p:nvSpPr>
          <p:cNvPr id="109" name="Text 105"/>
          <p:cNvSpPr txBox="1"/>
          <p:nvPr/>
        </p:nvSpPr>
        <p:spPr>
          <a:xfrm>
            <a:off x="10561320" y="4901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인력</a:t>
            </a:r>
            <a:endParaRPr lang="en-US" sz="1150" dirty="0"/>
          </a:p>
        </p:txBody>
      </p:sp>
      <p:sp>
        <p:nvSpPr>
          <p:cNvPr id="110" name="Text 106"/>
          <p:cNvSpPr txBox="1"/>
          <p:nvPr/>
        </p:nvSpPr>
        <p:spPr>
          <a:xfrm>
            <a:off x="10561320" y="51480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IT서비스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전환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신규 채용</a:t>
            </a:r>
            <a:endParaRPr lang="en-US" sz="950" dirty="0"/>
          </a:p>
        </p:txBody>
      </p:sp>
      <p:sp>
        <p:nvSpPr>
          <p:cNvPr id="111" name="Text 107"/>
          <p:cNvSpPr txBox="1"/>
          <p:nvPr/>
        </p:nvSpPr>
        <p:spPr>
          <a:xfrm>
            <a:off x="10561320" y="55869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연내 약 200명</a:t>
            </a:r>
            <a:endParaRPr lang="en-US" sz="1150" dirty="0"/>
          </a:p>
        </p:txBody>
      </p:sp>
      <p:sp>
        <p:nvSpPr>
          <p:cNvPr id="112" name="Shape 108"/>
          <p:cNvSpPr/>
          <p:nvPr/>
        </p:nvSpPr>
        <p:spPr>
          <a:xfrm flipH="1" flipV="1">
            <a:off x="10268712" y="4704588"/>
            <a:ext cx="292608" cy="416052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3" name="Shape 109"/>
          <p:cNvSpPr/>
          <p:nvPr/>
        </p:nvSpPr>
        <p:spPr>
          <a:xfrm flipH="1">
            <a:off x="10268712" y="5120640"/>
            <a:ext cx="292608" cy="416052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4" name="implication"/>
          <p:cNvSpPr/>
          <p:nvPr/>
        </p:nvSpPr>
        <p:spPr>
          <a:xfrm>
            <a:off x="365760" y="6025896"/>
            <a:ext cx="11457432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548640" y="60258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투입형 융합 Pod로 </a:t>
            </a:r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'빠른 실행 → 성과 책임 → 확산'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구조 확보가 AX 성공의 관건</a:t>
            </a:r>
            <a:endParaRPr lang="en-US" sz="1500" dirty="0"/>
          </a:p>
        </p:txBody>
      </p:sp>
      <p:sp>
        <p:nvSpPr>
          <p:cNvPr id="116" name="Text 112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MIT NANDA, The GenAI Divide: State of AI in Business 2025 (예비 연구)   * FDE(Forward Deployed Engineer): 고객 현장에 상주하며 성과까지 책임지는 융합형 엔지니어  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Accenture 보도자료(Microsoft '26.3, ServiceNow '26.5, Workday '26.10, SAP), 삼성SDS Real Summit 2026('26.9.8) 이준희 대표 기조연설   </a:t>
            </a:r>
            <a:pPr indent="0" marL="0">
              <a:buNone/>
            </a:pPr>
            <a:r>
              <a:rPr lang="en-US" sz="7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SAP: TO-BE 아키텍처(SAP Business AI Platform)와 동일 플랫폼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A100FF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FDE 운영 모델 (임원 보고)</dc:title>
  <dc:subject>PptxGenJS Presentation</dc:subject>
  <dc:creator>PptxGenJS</dc:creator>
  <cp:lastModifiedBy>PptxGenJS</cp:lastModifiedBy>
  <cp:revision>1</cp:revision>
  <dcterms:created xsi:type="dcterms:W3CDTF">2026-10-19T04:25:12Z</dcterms:created>
  <dcterms:modified xsi:type="dcterms:W3CDTF">2026-10-19T04:25:12Z</dcterms:modified>
</cp:coreProperties>
</file>