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ext INWAYIN" id="{99a93f10-64aa-e17d-d0f0-fec74d3885a8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그룹사: ①Blue Print(ex. K7 AX Blue Print 설계 '26.10) ②AX Inno Camp(ex. 씨텍, 백화점 AX 교육) ③FDE 실행(3단계·Gate·자산화). 대외(Open Door): 전략영업 고객사 Pool 기반 선제안 - 역량 진단·Tier화 → Tier별 시스템+AI 결합 제안(개발·SaaS·클라우드 구독 연계) → 사업 범위 확장·수주. 참고 타겟: 1차 공항철도 등(차세대 도입), 2차 파리크라상 등(데이터플랫폼·클라우드).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46304"/>
            <a:ext cx="11457432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46304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3. Next INWAYIN &gt; 현장 실행 기반 AX 가속화</a:t>
            </a:r>
            <a:endParaRPr lang="en-US" sz="2600" dirty="0"/>
          </a:p>
        </p:txBody>
      </p:sp>
      <p:sp>
        <p:nvSpPr>
          <p:cNvPr id="3" name="head-message"/>
          <p:cNvSpPr txBox="1"/>
          <p:nvPr/>
        </p:nvSpPr>
        <p:spPr>
          <a:xfrm>
            <a:off x="365760" y="713232"/>
            <a:ext cx="11457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그룹사 현장의 AI과제를 실행하고, 대외 Open Door 역할 강화하여 AI적용을 지원하고자 함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18872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산업별 AI과제 정의 역량 축적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27048"/>
            <a:ext cx="361188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06240" y="1188720"/>
            <a:ext cx="7616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및 대외 AX 실행 가속화 지원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06240" y="1527048"/>
            <a:ext cx="761695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6459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▪ 고객사 현장에서 AI과제 발굴 등 PJT 수행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그룹사 17건, 대외 4건 (총 21건)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1945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▪ 산업별 밸류체인별 실행 가능 AI과제 확보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FF00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그룹사 후속 Pilot 1건, 대외 차세대사업 129억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761488"/>
          <a:ext cx="352044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502920"/>
                <a:gridCol w="502920"/>
                <a:gridCol w="594360"/>
                <a:gridCol w="713232"/>
                <a:gridCol w="5486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식품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화학 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 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R&amp;D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id="11" name="left-implication"/>
          <p:cNvSpPr/>
          <p:nvPr/>
        </p:nvSpPr>
        <p:spPr>
          <a:xfrm>
            <a:off x="365760" y="4892040"/>
            <a:ext cx="3611880" cy="17373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5488" y="49651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시사점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75488" y="5276088"/>
            <a:ext cx="3392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그룹사 컨설팅 후, </a:t>
            </a:r>
            <a:pPr indent="0" marL="0"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구축·운영까지 병목 해소</a:t>
            </a:r>
            <a:pPr indent="0" marL="0"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필요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대외 신규 시스템 도입 시, AX 관점 내장하여 </a:t>
            </a:r>
            <a:pPr indent="0" marL="0"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범위 확장 및 수주 기여</a:t>
            </a:r>
            <a:pPr indent="0" marL="0"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확대 필요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06240" y="1645920"/>
            <a:ext cx="7616952" cy="329184"/>
          </a:xfrm>
          <a:prstGeom prst="homePlate">
            <a:avLst/>
          </a:prstGeom>
          <a:solidFill>
            <a:srgbClr val="3F3F3F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370832" y="1645920"/>
            <a:ext cx="7159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그룹사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206240" y="2048256"/>
            <a:ext cx="1188720" cy="914400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206240" y="2048256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AX 실행체계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수립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(Blue Print)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31536" y="2048256"/>
            <a:ext cx="2528316" cy="91440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41264" y="2048256"/>
            <a:ext cx="2345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그룹사 궁극적 AX 지향점 정의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단계 실행방안 및 로드맵 수립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ex) K7 AX Blue Print 설계 ('26.10)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069580" y="2048256"/>
            <a:ext cx="1188720" cy="914400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69580" y="2048256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AX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Inno Camp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(과제 도출)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294876" y="2048256"/>
            <a:ext cx="2528316" cy="91440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404604" y="2048256"/>
            <a:ext cx="2345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현업 참여형 컨설팅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AI Tool을 활용한 과제 도출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ex) 씨텍, 백화점 AX 교육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206240" y="3035808"/>
            <a:ext cx="1188720" cy="1481328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206240" y="3035808"/>
            <a:ext cx="11887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FDE 실행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(현장 밀착형)</a:t>
            </a:r>
            <a:endParaRPr lang="en-US" sz="1150" dirty="0"/>
          </a:p>
        </p:txBody>
      </p:sp>
      <p:sp>
        <p:nvSpPr>
          <p:cNvPr id="26" name="fde-block"/>
          <p:cNvSpPr/>
          <p:nvPr/>
        </p:nvSpPr>
        <p:spPr>
          <a:xfrm>
            <a:off x="5431536" y="3035808"/>
            <a:ext cx="6391656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568696" y="3090672"/>
            <a:ext cx="6117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과제 도출에서 운영 안착까지 책임지는 </a:t>
            </a:r>
            <a:pPr indent="0" marL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밀착형 실행 (FDE Pod)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568696" y="3346704"/>
            <a:ext cx="6117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AX컨설턴트 + 현업 + 엔지니어 상주 투입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541264" y="3584448"/>
            <a:ext cx="2118360" cy="420624"/>
          </a:xfrm>
          <a:prstGeom prst="homePlate">
            <a:avLst/>
          </a:prstGeom>
          <a:solidFill>
            <a:srgbClr val="E8ECF4"/>
          </a:solidFill>
          <a:ln w="6350">
            <a:solidFill>
              <a:srgbClr val="8FAAD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50992" y="3584448"/>
            <a:ext cx="1734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현장 문제 정의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업무/목표 재설계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705856" y="4050792"/>
            <a:ext cx="1697736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705856" y="4050792"/>
            <a:ext cx="1697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 ① KPI·Baseline 합의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568184" y="3584448"/>
            <a:ext cx="2118360" cy="420624"/>
          </a:xfrm>
          <a:prstGeom prst="chevron">
            <a:avLst/>
          </a:prstGeom>
          <a:solidFill>
            <a:srgbClr val="E8ECF4"/>
          </a:solidFill>
          <a:ln w="6350">
            <a:solidFill>
              <a:srgbClr val="8FAAD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824216" y="3584448"/>
            <a:ext cx="1734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Data/인프라 준비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AI 구현 및 검증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732776" y="4050792"/>
            <a:ext cx="1697736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32776" y="4050792"/>
            <a:ext cx="1697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 ② MVP 검증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9595104" y="3584448"/>
            <a:ext cx="2118360" cy="420624"/>
          </a:xfrm>
          <a:prstGeom prst="chevron">
            <a:avLst/>
          </a:prstGeom>
          <a:solidFill>
            <a:srgbClr val="E8ECF4"/>
          </a:solidFill>
          <a:ln w="6350">
            <a:solidFill>
              <a:srgbClr val="8FAADC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851136" y="3584448"/>
            <a:ext cx="1734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운영 전환 및 고도화 지원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변화관리 및 확산 지원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9759696" y="4050792"/>
            <a:ext cx="1697736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759696" y="4050792"/>
            <a:ext cx="1697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 ③ 성과 실측 (ROI)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10799064" y="4261104"/>
            <a:ext cx="914" cy="128016"/>
          </a:xfrm>
          <a:prstGeom prst="line">
            <a:avLst/>
          </a:prstGeom>
          <a:noFill/>
          <a:ln w="15875">
            <a:solidFill>
              <a:srgbClr val="4472C4"/>
            </a:solidFill>
            <a:prstDash val="dash"/>
          </a:ln>
        </p:spPr>
      </p:sp>
      <p:sp>
        <p:nvSpPr>
          <p:cNvPr id="42" name="Shape 39"/>
          <p:cNvSpPr/>
          <p:nvPr/>
        </p:nvSpPr>
        <p:spPr>
          <a:xfrm flipH="1">
            <a:off x="6364224" y="4389120"/>
            <a:ext cx="4434840" cy="914"/>
          </a:xfrm>
          <a:prstGeom prst="line">
            <a:avLst/>
          </a:prstGeom>
          <a:noFill/>
          <a:ln w="15875">
            <a:solidFill>
              <a:srgbClr val="4472C4"/>
            </a:solidFill>
            <a:prstDash val="dash"/>
          </a:ln>
        </p:spPr>
      </p:sp>
      <p:sp>
        <p:nvSpPr>
          <p:cNvPr id="43" name="Shape 40"/>
          <p:cNvSpPr/>
          <p:nvPr/>
        </p:nvSpPr>
        <p:spPr>
          <a:xfrm flipV="1">
            <a:off x="6364224" y="4261104"/>
            <a:ext cx="914" cy="128016"/>
          </a:xfrm>
          <a:prstGeom prst="line">
            <a:avLst/>
          </a:prstGeom>
          <a:noFill/>
          <a:ln w="15875">
            <a:solidFill>
              <a:srgbClr val="4472C4"/>
            </a:solidFill>
            <a:prstDash val="dash"/>
            <a:tailEnd type="triangle"/>
          </a:ln>
        </p:spPr>
      </p:sp>
      <p:sp>
        <p:nvSpPr>
          <p:cNvPr id="44" name="Text 41"/>
          <p:cNvSpPr txBox="1"/>
          <p:nvPr/>
        </p:nvSpPr>
        <p:spPr>
          <a:xfrm>
            <a:off x="6912864" y="4288536"/>
            <a:ext cx="333756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 · 자산화 → 타 계열사 유사 업무 확산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206240" y="4626864"/>
            <a:ext cx="7616952" cy="329184"/>
          </a:xfrm>
          <a:prstGeom prst="homePlate">
            <a:avLst/>
          </a:prstGeom>
          <a:solidFill>
            <a:srgbClr val="3F3F3F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370832" y="4626864"/>
            <a:ext cx="7159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대외 (Open Door)</a:t>
            </a:r>
            <a:endParaRPr lang="en-US" sz="1400" dirty="0"/>
          </a:p>
        </p:txBody>
      </p:sp>
      <p:sp>
        <p:nvSpPr>
          <p:cNvPr id="47" name="open-door"/>
          <p:cNvSpPr/>
          <p:nvPr/>
        </p:nvSpPr>
        <p:spPr>
          <a:xfrm>
            <a:off x="4206240" y="5029200"/>
            <a:ext cx="761695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4434840" y="5102352"/>
            <a:ext cx="7159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도입 시점에 AI과제 접목 → 사업 범위 확장 · 수주 기여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4434840" y="5376672"/>
            <a:ext cx="7159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전략영업 고객사 Pool 기반 선제안  |  그룹사 검증 사례(Client Zero)를 레퍼런스로 활용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434840" y="5687568"/>
            <a:ext cx="2130552" cy="813816"/>
          </a:xfrm>
          <a:prstGeom prst="roundRect">
            <a:avLst>
              <a:gd name="adj" fmla="val 5618"/>
            </a:avLst>
          </a:prstGeom>
          <a:solidFill>
            <a:srgbClr val="E8ECF4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4507992" y="5687568"/>
            <a:ext cx="19842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 진단 · Tier화</a:t>
            </a:r>
            <a:endParaRPr lang="en-US" sz="11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수주(예정) 고객사 진단</a:t>
            </a:r>
            <a:endParaRPr lang="en-US" sz="11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시스템·데이터 수준별 Tier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6620256" y="6094476"/>
            <a:ext cx="274320" cy="914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6949440" y="5687568"/>
            <a:ext cx="2130552" cy="813816"/>
          </a:xfrm>
          <a:prstGeom prst="roundRect">
            <a:avLst>
              <a:gd name="adj" fmla="val 5618"/>
            </a:avLst>
          </a:prstGeom>
          <a:solidFill>
            <a:srgbClr val="E8ECF4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7022592" y="5687568"/>
            <a:ext cx="19842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+ AI 결합 제안</a:t>
            </a:r>
            <a:endParaRPr lang="en-US" sz="11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개발·SaaS·클라우드 연계</a:t>
            </a:r>
            <a:endParaRPr lang="en-US" sz="11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도입 시점 AI과제 접목</a:t>
            </a:r>
            <a:endParaRPr lang="en-US" sz="1150" dirty="0"/>
          </a:p>
        </p:txBody>
      </p:sp>
      <p:sp>
        <p:nvSpPr>
          <p:cNvPr id="55" name="Shape 52"/>
          <p:cNvSpPr/>
          <p:nvPr/>
        </p:nvSpPr>
        <p:spPr>
          <a:xfrm>
            <a:off x="9134856" y="6094476"/>
            <a:ext cx="274320" cy="914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9464040" y="5687568"/>
            <a:ext cx="2130552" cy="813816"/>
          </a:xfrm>
          <a:prstGeom prst="roundRect">
            <a:avLst>
              <a:gd name="adj" fmla="val 5618"/>
            </a:avLst>
          </a:prstGeom>
          <a:solidFill>
            <a:srgbClr val="E8ECF4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9537192" y="5687568"/>
            <a:ext cx="19842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범위 확장 · 수주</a:t>
            </a:r>
            <a:endParaRPr lang="en-US" sz="11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시스템+AI과제 범위 확대</a:t>
            </a:r>
            <a:endParaRPr lang="en-US" sz="11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표준 축적 · 확산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FDE">
  <a:themeElements>
    <a:clrScheme name="AX FDE">
      <a:dk1>
        <a:srgbClr val="000000"/>
      </a:dk1>
      <a:lt1>
        <a:srgbClr val="FFFFFF"/>
      </a:lt1>
      <a:dk2>
        <a:srgbClr val="1F2A44"/>
      </a:dk2>
      <a:lt2>
        <a:srgbClr val="F2F2F2"/>
      </a:lt2>
      <a:accent1>
        <a:srgbClr val="2F5597"/>
      </a:accent1>
      <a:accent2>
        <a:srgbClr val="4A5674"/>
      </a:accent2>
      <a:accent3>
        <a:srgbClr val="595959"/>
      </a:accent3>
      <a:accent4>
        <a:srgbClr val="E8ECF4"/>
      </a:accent4>
      <a:accent5>
        <a:srgbClr val="FFD966"/>
      </a:accent5>
      <a:accent6>
        <a:srgbClr val="C00000"/>
      </a:accent6>
      <a:hlink>
        <a:srgbClr val="2F5597"/>
      </a:hlink>
      <a:folHlink>
        <a:srgbClr val="4A5674"/>
      </a:folHlink>
    </a:clrScheme>
    <a:fontScheme name="AX F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현장 실행 기반 AX 가속화</dc:title>
  <dc:subject>PptxGenJS Presentation</dc:subject>
  <dc:creator>PptxGenJS</dc:creator>
  <cp:lastModifiedBy>PptxGenJS</cp:lastModifiedBy>
  <cp:revision>1</cp:revision>
  <dcterms:created xsi:type="dcterms:W3CDTF">2026-10-20T09:22:34Z</dcterms:created>
  <dcterms:modified xsi:type="dcterms:W3CDTF">2026-10-20T09:22:34Z</dcterms:modified>
</cp:coreProperties>
</file>