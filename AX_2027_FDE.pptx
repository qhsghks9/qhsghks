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'27년 FDE 추진 프로세스 정합성 검토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추진 프로세스는 KPI·ROI 기준 수립에는 충실하나, 거버넌스 Gate·데이터 Readiness·운영 이관 단계가 부족하여 4대 구조적 한계 해소를 위한 보완이 필요함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1145743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566160"/>
                <a:gridCol w="1005840"/>
                <a:gridCol w="42336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4대 구조적 한계 (2번 장표)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 추진 프로세스 대응 요소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정합성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필요 사항 (→ 4번 장표 반영)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거버넌스 체계 미비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281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의사결정·보안 기준 부재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단계별 산출물만 정의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 주체·Gate 및 보안 검토 Task 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281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281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단계별 Go/No-Go Gate(과제 선정·투자·운영 전환) 신설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보안 가이드 점검을 Phase 2 필수 Task로 편입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파편화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281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AI-Ready Data·연계 인프라 부족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To-Be 기술 타당성 검증(데이터/모델)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연동 및 환경 준비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8A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1에 데이터 Readiness 진단 추가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Phase 3에 MCP·데이터 파이프라인 구성 명시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 부족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281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KPI·ROI 판단 기준 부재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기대효과(KPI) 가설 → ROI·KPI Baseline 산정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성공기준 및 KPI 확정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E75B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충실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 승인용 Business Case를 Phase 2 산출물로 명시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후 성과 실측(Value Tracking) 추가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인력 부족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7281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R&amp;R 불명확(구조적 한계)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모델 설계(운영/조직/프로세스)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현업 적합성 검토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8A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MVP 이후 '운영 이관·확산' 단계 신설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RACI 확정, 현업 Owner 지정, Hypercare 운영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E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(조직 구성)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AI혁신센터 → PRD 담당 부서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AX컨설팅팀 + AI혁신센터 협업 체계로 표기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8A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◐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FD(AX컨설팅) + PRD 담당 부서 = 'FDE 조직'으로 명칭·역할 재정의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구축 이후 운영 이관까지 PRD 책임 명시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897880"/>
            <a:ext cx="11457432" cy="658368"/>
          </a:xfrm>
          <a:prstGeom prst="rect">
            <a:avLst/>
          </a:prstGeom>
          <a:solidFill>
            <a:srgbClr val="DDE8F5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897880"/>
            <a:ext cx="11109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결과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'구축 검증' 종료형 프로세스를 4단계 '운영 이관·확산'까지 확장하고, 단계 사이에 거버넌스 Gate를 두어 FDE 조직이 운영 안착까지 책임지는 구조로 보완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509760" y="121615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●충실  ◐부분  ○미흡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추진 프로세스 (案) – FDE 기반 실행 전환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FD(AX컨설팅)가 문제정의·업무 재설계·KPI를 주도하고, PRD 담당 부서가 Agent 구축부터 운영 이관까지 책임지는 FDE 조직으로 '운영 안착'까지 실행 전환을 완결함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08760" y="1417320"/>
            <a:ext cx="2656332" cy="438912"/>
          </a:xfrm>
          <a:prstGeom prst="chevron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1417320"/>
            <a:ext cx="2372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 정의·발굴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55364" y="1417320"/>
            <a:ext cx="2656332" cy="438912"/>
          </a:xfrm>
          <a:prstGeom prst="chevron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47388" y="1417320"/>
            <a:ext cx="2372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업무 재설계·과제 확정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56832" y="1417320"/>
            <a:ext cx="2656332" cy="438912"/>
          </a:xfrm>
          <a:prstGeom prst="chevron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48856" y="1417320"/>
            <a:ext cx="2372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구축·검증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58300" y="1417320"/>
            <a:ext cx="2656332" cy="438912"/>
          </a:xfrm>
          <a:prstGeom prst="chevron">
            <a:avLst/>
          </a:prstGeom>
          <a:solidFill>
            <a:srgbClr val="D728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50324" y="1417320"/>
            <a:ext cx="2372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운영 이관·확산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1051560" cy="310896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9202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1920240"/>
            <a:ext cx="10314432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27348" y="1938528"/>
            <a:ext cx="274320" cy="274320"/>
          </a:xfrm>
          <a:prstGeom prst="diamond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72868" y="192024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G1 과제 선정 심의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28816" y="1938528"/>
            <a:ext cx="274320" cy="274320"/>
          </a:xfrm>
          <a:prstGeom prst="diamond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74336" y="192024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G2 투자·보안 승인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0284" y="1938528"/>
            <a:ext cx="274320" cy="274320"/>
          </a:xfrm>
          <a:prstGeom prst="diamond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75804" y="192024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G3 운영 전환 승인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581912" y="1920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협의체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304288"/>
            <a:ext cx="1051560" cy="166420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5760" y="2304288"/>
            <a:ext cx="10515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 그룹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08760" y="2304288"/>
            <a:ext cx="10314432" cy="166420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2768" y="2377440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A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18488" y="2377440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분석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경영진·실무자 의견 청취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72768" y="2907792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A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18488" y="2907792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정의·기대효과(KPI) 가설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문제·KPI 가설 수립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572768" y="3438144"/>
            <a:ext cx="2382012" cy="457200"/>
          </a:xfrm>
          <a:prstGeom prst="rect">
            <a:avLst/>
          </a:prstGeom>
          <a:solidFill>
            <a:srgbClr val="FBECEB"/>
          </a:solidFill>
          <a:ln w="19050">
            <a:solidFill>
              <a:srgbClr val="D7281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18488" y="3438144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Readiness 진단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AI-Ready Data 수준·갭 진단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74236" y="2377440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A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19956" y="2377440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As-Is/To-Be Workflow 재설계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사람/Agent/시스템 역할 정의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74236" y="2907792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A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19956" y="2907792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과제 확정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우선순위·ROI·KPI Baseline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74236" y="3438144"/>
            <a:ext cx="2382012" cy="457200"/>
          </a:xfrm>
          <a:prstGeom prst="rect">
            <a:avLst/>
          </a:prstGeom>
          <a:solidFill>
            <a:srgbClr val="FBECEB"/>
          </a:solidFill>
          <a:ln w="19050">
            <a:solidFill>
              <a:srgbClr val="D728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19956" y="3438144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Business Case 수립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 근거 기반 투자 승인 자료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75704" y="2377440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AD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21424" y="2377440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성공기준 및 KPI 확정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지표·목표치 합의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75704" y="2907792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AD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21424" y="2907792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모델·R&amp;R(RACI) 설계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조직·프로세스·Owner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75704" y="3438144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AD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21424" y="3438144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적합성 검토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결과 요구사항 적합성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377172" y="2377440"/>
            <a:ext cx="2382012" cy="457200"/>
          </a:xfrm>
          <a:prstGeom prst="rect">
            <a:avLst/>
          </a:prstGeom>
          <a:solidFill>
            <a:srgbClr val="FBECEB"/>
          </a:solidFill>
          <a:ln w="19050">
            <a:solidFill>
              <a:srgbClr val="D7281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22892" y="2377440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실측(Value Tracking)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실측·ROI 검증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377172" y="2907792"/>
            <a:ext cx="2382012" cy="457200"/>
          </a:xfrm>
          <a:prstGeom prst="rect">
            <a:avLst/>
          </a:prstGeom>
          <a:solidFill>
            <a:srgbClr val="FBECEB"/>
          </a:solidFill>
          <a:ln w="19050">
            <a:solidFill>
              <a:srgbClr val="D7281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422892" y="2907792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과제 발굴(Next Wave)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계열사·유사 업무 확장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4023360"/>
            <a:ext cx="1051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65760" y="4023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공동 스쿼드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572768" y="4023360"/>
            <a:ext cx="23820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572768" y="4023360"/>
            <a:ext cx="2382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과제 후보 공유  ▲ 적용 가능성 의견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174236" y="4023360"/>
            <a:ext cx="23820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174236" y="4023360"/>
            <a:ext cx="2382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To-Be 설계안 전달  ▲ 기술 검증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75704" y="4023360"/>
            <a:ext cx="23820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775704" y="4023360"/>
            <a:ext cx="2382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KPI·운영요건 전달  ▲ 구축 결과물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377172" y="4023360"/>
            <a:ext cx="23820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377172" y="4023360"/>
            <a:ext cx="2382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성과 데이터 공유  ▲ 운영 개선 반영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4407408"/>
            <a:ext cx="1051560" cy="16642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65760" y="4407408"/>
            <a:ext cx="10515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508760" y="4407408"/>
            <a:ext cx="10314432" cy="166420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72768" y="4480560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dash"/>
          </a:ln>
        </p:spPr>
      </p:sp>
      <p:sp>
        <p:nvSpPr>
          <p:cNvPr id="61" name="Text 59"/>
          <p:cNvSpPr txBox="1"/>
          <p:nvPr/>
        </p:nvSpPr>
        <p:spPr>
          <a:xfrm>
            <a:off x="1618488" y="4480560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적용 가능성 초기 검토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관점 의견 제시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174236" y="4480560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219956" y="4480560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기술 타당성 검증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데이터/모델 검토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174236" y="5010912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219956" y="5010912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과제화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정의·개발 공수 산정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174236" y="5541264"/>
            <a:ext cx="2382012" cy="457200"/>
          </a:xfrm>
          <a:prstGeom prst="rect">
            <a:avLst/>
          </a:prstGeom>
          <a:solidFill>
            <a:srgbClr val="FBECEB"/>
          </a:solidFill>
          <a:ln w="19050">
            <a:solidFill>
              <a:srgbClr val="D7281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219956" y="5541264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보안 가이드 점검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반출·권한·로그 기준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775704" y="4480560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21424" y="4480560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아키텍처 설계·개발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시스템 연동(IS팀 협업)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775704" y="5010912"/>
            <a:ext cx="2382012" cy="457200"/>
          </a:xfrm>
          <a:prstGeom prst="rect">
            <a:avLst/>
          </a:prstGeom>
          <a:solidFill>
            <a:srgbClr val="FBECEB"/>
          </a:solidFill>
          <a:ln w="19050">
            <a:solidFill>
              <a:srgbClr val="D7281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821424" y="5010912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MCP·데이터 파이프라인 구성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AI-Ready Data·Connector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775704" y="5541264"/>
            <a:ext cx="23820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821424" y="5541264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및 품질 검증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성능·보안·안정성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377172" y="4480560"/>
            <a:ext cx="2382012" cy="457200"/>
          </a:xfrm>
          <a:prstGeom prst="rect">
            <a:avLst/>
          </a:prstGeom>
          <a:solidFill>
            <a:srgbClr val="FBECEB"/>
          </a:solidFill>
          <a:ln w="19050">
            <a:solidFill>
              <a:srgbClr val="D7281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422892" y="4480560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이관·Hypercare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Owner 인계·안정화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377172" y="5010912"/>
            <a:ext cx="2382012" cy="457200"/>
          </a:xfrm>
          <a:prstGeom prst="rect">
            <a:avLst/>
          </a:prstGeom>
          <a:solidFill>
            <a:srgbClr val="FBECEB"/>
          </a:solidFill>
          <a:ln w="19050">
            <a:solidFill>
              <a:srgbClr val="D7281E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422892" y="5010912"/>
            <a:ext cx="22905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Asset화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Agent·Connector 축적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65760" y="6163056"/>
            <a:ext cx="1051560" cy="402336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65760" y="616305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1508760" y="6163056"/>
            <a:ext cx="2510028" cy="402336"/>
          </a:xfrm>
          <a:prstGeom prst="rect">
            <a:avLst/>
          </a:prstGeom>
          <a:solidFill>
            <a:srgbClr val="DDE8F5"/>
          </a:solidFill>
          <a:ln w="12700">
            <a:solidFill>
              <a:srgbClr val="DDE8F5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554480" y="6163056"/>
            <a:ext cx="2418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문제정의서, 데이터 진단서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110228" y="6163056"/>
            <a:ext cx="2510028" cy="402336"/>
          </a:xfrm>
          <a:prstGeom prst="rect">
            <a:avLst/>
          </a:prstGeom>
          <a:solidFill>
            <a:srgbClr val="DDE8F5"/>
          </a:solidFill>
          <a:ln w="12700">
            <a:solidFill>
              <a:srgbClr val="DDE8F5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155948" y="6163056"/>
            <a:ext cx="2418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설계안, 과제정의서, 투자 BC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711696" y="6163056"/>
            <a:ext cx="2510028" cy="402336"/>
          </a:xfrm>
          <a:prstGeom prst="rect">
            <a:avLst/>
          </a:prstGeom>
          <a:solidFill>
            <a:srgbClr val="DDE8F5"/>
          </a:solidFill>
          <a:ln w="12700">
            <a:solidFill>
              <a:srgbClr val="DDE8F5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757416" y="6163056"/>
            <a:ext cx="2418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MVP, KPI 정의서, RACI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9313164" y="6163056"/>
            <a:ext cx="2510028" cy="402336"/>
          </a:xfrm>
          <a:prstGeom prst="rect">
            <a:avLst/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358884" y="6163056"/>
            <a:ext cx="24185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이관서, 성과 리포트, 재사용 Asset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9692640" y="457200"/>
            <a:ext cx="201168" cy="128016"/>
          </a:xfrm>
          <a:prstGeom prst="rect">
            <a:avLst/>
          </a:prstGeom>
          <a:solidFill>
            <a:srgbClr val="FBECEB"/>
          </a:solidFill>
          <a:ln w="15875">
            <a:solidFill>
              <a:srgbClr val="D7281E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948672" y="420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한계 대응 보완 항목 (NEW)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FDE 조직 운영 모델 – 실행 전환 순환 구조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4124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조직은 현장 문제 정의부터 운영 안착·자산화까지 한 팀이 순환하며, 매 사이클의 결과를 재사용 Asset으로 축적해 다음 과제의 실행 속도를 높임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81728" y="2240280"/>
            <a:ext cx="2834640" cy="2834640"/>
          </a:xfrm>
          <a:prstGeom prst="blockArc">
            <a:avLst>
              <a:gd name="adj1" fmla="val 14610000"/>
              <a:gd name="adj2" fmla="val 17790000"/>
              <a:gd name="adj3" fmla="val 1935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70448" y="23134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rot="1800000">
            <a:off x="6551676" y="2530573"/>
            <a:ext cx="237744" cy="274320"/>
          </a:xfrm>
          <a:prstGeom prst="chevron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70348" y="1335024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Embed·문제 정의  </a:t>
            </a:r>
            <a:pPr algn="ctr" indent="0" marL="0">
              <a:buNone/>
            </a:pPr>
            <a:r>
              <a:rPr lang="en-US" sz="950" b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[FD]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상주, 문제·KPI 가설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Readiness 진단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81728" y="2240280"/>
            <a:ext cx="2834640" cy="2834640"/>
          </a:xfrm>
          <a:prstGeom prst="blockArc">
            <a:avLst>
              <a:gd name="adj1" fmla="val 18210000"/>
              <a:gd name="adj2" fmla="val 21390000"/>
              <a:gd name="adj3" fmla="val 1935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60315" y="28849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rot="5400000">
            <a:off x="7123176" y="3520440"/>
            <a:ext cx="237744" cy="274320"/>
          </a:xfrm>
          <a:prstGeom prst="chevron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0987" y="2505456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재설계·가치 합의  </a:t>
            </a:r>
            <a:pPr algn="l" indent="0" marL="0">
              <a:buNone/>
            </a:pPr>
            <a:r>
              <a:rPr lang="en-US" sz="950" b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[FD]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Workflow, ROI·KPI Baseline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승인(Gate)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81728" y="2240280"/>
            <a:ext cx="2834640" cy="2834640"/>
          </a:xfrm>
          <a:prstGeom prst="blockArc">
            <a:avLst>
              <a:gd name="adj1" fmla="val 210000"/>
              <a:gd name="adj2" fmla="val 3390000"/>
              <a:gd name="adj3" fmla="val 1935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60315" y="40279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rot="9000000">
            <a:off x="6551676" y="4510307"/>
            <a:ext cx="237744" cy="274320"/>
          </a:xfrm>
          <a:prstGeom prst="chevron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0987" y="4059936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구축  </a:t>
            </a:r>
            <a:pPr algn="l" indent="0" marL="0">
              <a:buNone/>
            </a:pPr>
            <a:r>
              <a:rPr lang="en-US" sz="950" b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[PRD]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아키텍처·개발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MCP·데이터 파이프라인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81728" y="2240280"/>
            <a:ext cx="2834640" cy="2834640"/>
          </a:xfrm>
          <a:prstGeom prst="blockArc">
            <a:avLst>
              <a:gd name="adj1" fmla="val 3810000"/>
              <a:gd name="adj2" fmla="val 6990000"/>
              <a:gd name="adj3" fmla="val 19355"/>
            </a:avLst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70448" y="45994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 rot="12600000">
            <a:off x="5408676" y="4510307"/>
            <a:ext cx="237744" cy="274320"/>
          </a:xfrm>
          <a:prstGeom prst="chevron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0348" y="523036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8C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검증·현장 배포  </a:t>
            </a:r>
            <a:pPr algn="ctr" indent="0" marL="0">
              <a:buNone/>
            </a:pPr>
            <a:r>
              <a:rPr lang="en-US" sz="950" b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[FD+PRD]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품질·보안 검증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적합성 검토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81728" y="2240280"/>
            <a:ext cx="2834640" cy="2834640"/>
          </a:xfrm>
          <a:prstGeom prst="blockArc">
            <a:avLst>
              <a:gd name="adj1" fmla="val 7410000"/>
              <a:gd name="adj2" fmla="val 10590000"/>
              <a:gd name="adj3" fmla="val 1935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80581" y="40279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 rot="16200000">
            <a:off x="4837176" y="3520440"/>
            <a:ext cx="237744" cy="274320"/>
          </a:xfrm>
          <a:prstGeom prst="chevron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49709" y="4059936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이관·성과 실측  </a:t>
            </a:r>
            <a:pPr algn="r" indent="0" marL="0">
              <a:buNone/>
            </a:pPr>
            <a:r>
              <a:rPr lang="en-US" sz="950" b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[PRD+현업]</a:t>
            </a:r>
            <a:endParaRPr lang="en-US" sz="125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RACI 확정, Hypercare</a:t>
            </a:r>
            <a:endParaRPr lang="en-US" sz="125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실측·ROI 검증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81728" y="2240280"/>
            <a:ext cx="2834640" cy="2834640"/>
          </a:xfrm>
          <a:prstGeom prst="blockArc">
            <a:avLst>
              <a:gd name="adj1" fmla="val 11010000"/>
              <a:gd name="adj2" fmla="val 14190000"/>
              <a:gd name="adj3" fmla="val 19355"/>
            </a:avLst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80581" y="28849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 rot="19800000">
            <a:off x="5408676" y="2530573"/>
            <a:ext cx="237744" cy="274320"/>
          </a:xfrm>
          <a:prstGeom prst="chevron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49709" y="2505456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자산화·확산  </a:t>
            </a:r>
            <a:pPr algn="r" indent="0" marL="0">
              <a:buNone/>
            </a:pPr>
            <a:r>
              <a:rPr lang="en-US" sz="950" b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[FDE]</a:t>
            </a:r>
            <a:endParaRPr lang="en-US" sz="125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Agent·Connector</a:t>
            </a:r>
            <a:endParaRPr lang="en-US" sz="125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가이드, Next Wave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321808" y="288036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67528" y="2926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조직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 + PRD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상주형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조직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1508760"/>
            <a:ext cx="2240280" cy="5669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760" y="1508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 그룹 · Business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2075688"/>
            <a:ext cx="2240280" cy="33649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" y="2194560"/>
            <a:ext cx="204825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상주 문제 정의 (①)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업무 재설계 (②)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KPI·ROI·Business Case (②)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모델·RACI 설계 (⑤)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실측·확산 발굴 (⑤⑥)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582912" y="1508760"/>
            <a:ext cx="2240280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582912" y="15087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· Engineering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582912" y="2075688"/>
            <a:ext cx="2240280" cy="336499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92640" y="2194560"/>
            <a:ext cx="204825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과제화·타당성 (②)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설계·개발 (③)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MCP·데이터 연계 (③)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품질·보안 검증 (④)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이관·Hypercare (⑤)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Asset화 (⑥)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5806440"/>
            <a:ext cx="1463040" cy="749808"/>
          </a:xfrm>
          <a:prstGeom prst="rect">
            <a:avLst/>
          </a:prstGeom>
          <a:solidFill>
            <a:srgbClr val="D7281E"/>
          </a:solidFill>
          <a:ln w="12700">
            <a:solidFill>
              <a:srgbClr val="D728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5760" y="58064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Enabler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한계 해소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920240" y="5806440"/>
            <a:ext cx="2407158" cy="749808"/>
          </a:xfrm>
          <a:prstGeom prst="rect">
            <a:avLst/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011680" y="5806440"/>
            <a:ext cx="2224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Gate·AX 협의체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보안 가이드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18838" y="5806440"/>
            <a:ext cx="2407158" cy="749808"/>
          </a:xfrm>
          <a:prstGeom prst="rect">
            <a:avLst/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10278" y="5806440"/>
            <a:ext cx="2224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데이터·인프라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AI-Ready Data 진단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MCP·Connector 표준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17436" y="5806440"/>
            <a:ext cx="2407158" cy="749808"/>
          </a:xfrm>
          <a:prstGeom prst="rect">
            <a:avLst/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008876" y="5806440"/>
            <a:ext cx="2224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KPI·ROI 프레임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Case·실측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416034" y="5806440"/>
            <a:ext cx="2407158" cy="749808"/>
          </a:xfrm>
          <a:prstGeom prst="rect">
            <a:avLst/>
          </a:prstGeom>
          <a:solidFill>
            <a:srgbClr val="FBECEB"/>
          </a:solidFill>
          <a:ln w="12700">
            <a:solidFill>
              <a:srgbClr val="FBEC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507474" y="5806440"/>
            <a:ext cx="2224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8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R&amp;R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RACI·현업 Owner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Hypercare 이관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2026-10-14T09:19:11Z</dcterms:created>
  <dcterms:modified xsi:type="dcterms:W3CDTF">2026-10-14T09:19:11Z</dcterms:modified>
</cp:coreProperties>
</file>