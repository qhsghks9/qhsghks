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74320"/>
            <a:ext cx="11430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'27년 FDE 추진 프로세스 정합성 검토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841248"/>
            <a:ext cx="1143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 추진 프로세스는 KPI·ROI 기준 수립에는 충실하나, 거버넌스 Gate·데이터 Readiness·운영 이관 단계가 부족하여 4대 구조적 한계 해소를 위한 보완이 필요함</a:t>
            </a:r>
            <a:endParaRPr lang="en-US" sz="14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63040"/>
          <a:ext cx="1145743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566160"/>
                <a:gridCol w="1005840"/>
                <a:gridCol w="4233672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4대 구조적 한계 (2번 장표)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 추진 프로세스 대응 요소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정합성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보완 필요 사항 (→ 4번 장표 반영)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거버넌스 체계 미비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7281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운영 의사결정·보안 기준 부재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단계별 산출물만 정의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승인 주체·Gate 및 보안 검토 Task 없음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281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 </a:t>
                      </a:r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7281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미흡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단계별 Go/No-Go Gate(과제 선정·투자·운영 전환) 신설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보안 가이드 점검을 Phase 2 필수 Task로 편입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5F4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 파편화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7281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AI-Ready Data·연계 인프라 부족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To-Be 기술 타당성 검증(데이터/모델)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 연동 및 환경 준비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98A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◐ </a:t>
                      </a:r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8A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Phase 1에 데이터 Readiness 진단 추가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Phase 3에 MCP·데이터 파이프라인 구성 명시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5F4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투자 부족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7281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KPI·ROI 판단 기준 부재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기대효과(KPI) 가설 → ROI·KPI Baseline 산정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→ 성공기준 및 KPI 확정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E75B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</a:t>
                      </a:r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5B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충실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투자 승인용 Business Case를 Phase 2 산출물로 명시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운영 후 성과 실측(Value Tracking) 추가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인력 부족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7281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운영 R&amp;R 불명확(구조적 한계)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운영 모델 설계(운영/조직/프로세스)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현업 적합성 검토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98A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◐ </a:t>
                      </a:r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8A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MVP 이후 '운영 이관·확산' 단계 신설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RACI 확정, 현업 Owner 지정, Hypercare 운영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5F4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E6E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(조직 구성)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E6E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AI혁신센터 → PRD 담당 부서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AX컨설팅팀 + AI혁신센터 협업 체계로 표기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98A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◐ </a:t>
                      </a:r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8A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FD(AX컨설팅) + PRD 담당 부서 = 'FDE 조직'으로 명칭·역할 재정의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구축 이후 운영 이관까지 PRD 책임 명시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5F4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365760" y="5897880"/>
            <a:ext cx="11457432" cy="658368"/>
          </a:xfrm>
          <a:prstGeom prst="rect">
            <a:avLst/>
          </a:prstGeom>
          <a:solidFill>
            <a:srgbClr val="DDE8F5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897880"/>
            <a:ext cx="11109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검토 결과  </a:t>
            </a:r>
            <a:pPr indent="0" marL="0">
              <a:buNone/>
            </a:pPr>
            <a:r>
              <a:rPr lang="en-US" sz="125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 '구축 검증' 종료형 프로세스를 4단계 '운영 이관·확산'까지 확장하고, 단계 사이에 거버넌스 Gate를 두어 FDE 조직이 운영 안착까지 책임지는 구조로 보완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9509760" y="1216152"/>
            <a:ext cx="2313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●충실  ◐부분  ○미흡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74320"/>
            <a:ext cx="11430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추진 프로세스 (案) – FDE 기반 실행 전환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841248"/>
            <a:ext cx="1143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현업이 공동 발의·투자하고 FD가 문제정의·KPI를, PRD가 구축·AI Ops 이관을 책임지며, 월간 가치 리뷰의 실측 ROI를 다음 투자 Gate에 반영하는 FDE 실행 체계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508760" y="1417320"/>
            <a:ext cx="2656332" cy="438912"/>
          </a:xfrm>
          <a:prstGeom prst="chevron">
            <a:avLst/>
          </a:prstGeom>
          <a:solidFill>
            <a:srgbClr val="1F3A5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645920" y="1417320"/>
            <a:ext cx="23728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문제 정의·발굴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055364" y="1417320"/>
            <a:ext cx="2656332" cy="438912"/>
          </a:xfrm>
          <a:prstGeom prst="chevron">
            <a:avLst/>
          </a:prstGeom>
          <a:solidFill>
            <a:srgbClr val="1F3A5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47388" y="1417320"/>
            <a:ext cx="23728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업무 재설계·과제 확정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656832" y="1417320"/>
            <a:ext cx="2656332" cy="438912"/>
          </a:xfrm>
          <a:prstGeom prst="chevron">
            <a:avLst/>
          </a:prstGeom>
          <a:solidFill>
            <a:srgbClr val="1F3A5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48856" y="1417320"/>
            <a:ext cx="23728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구축·검증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258300" y="1417320"/>
            <a:ext cx="2656332" cy="438912"/>
          </a:xfrm>
          <a:prstGeom prst="chevron">
            <a:avLst/>
          </a:prstGeom>
          <a:solidFill>
            <a:srgbClr val="D728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450324" y="1417320"/>
            <a:ext cx="23728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운영 이관·확산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920240"/>
            <a:ext cx="1051560" cy="310896"/>
          </a:xfrm>
          <a:prstGeom prst="rect">
            <a:avLst/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5760" y="192024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AX 협의체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508760" y="1920240"/>
            <a:ext cx="10314432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27348" y="1938528"/>
            <a:ext cx="274320" cy="274320"/>
          </a:xfrm>
          <a:prstGeom prst="diamond">
            <a:avLst/>
          </a:prstGeom>
          <a:solidFill>
            <a:srgbClr val="D7281E"/>
          </a:solidFill>
          <a:ln w="12700">
            <a:solidFill>
              <a:srgbClr val="D7281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69948" y="1920240"/>
            <a:ext cx="2039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D72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G1 현업 공동 발의·투자 승인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528816" y="1938528"/>
            <a:ext cx="274320" cy="274320"/>
          </a:xfrm>
          <a:prstGeom prst="diamond">
            <a:avLst/>
          </a:prstGeom>
          <a:solidFill>
            <a:srgbClr val="D7281E"/>
          </a:solidFill>
          <a:ln w="12700">
            <a:solidFill>
              <a:srgbClr val="D7281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471416" y="1920240"/>
            <a:ext cx="2039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D72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G2 투자·보안 승인 (실측 ROI)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130284" y="1938528"/>
            <a:ext cx="274320" cy="274320"/>
          </a:xfrm>
          <a:prstGeom prst="diamond">
            <a:avLst/>
          </a:prstGeom>
          <a:solidFill>
            <a:srgbClr val="D7281E"/>
          </a:solidFill>
          <a:ln w="12700">
            <a:solidFill>
              <a:srgbClr val="D7281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72884" y="1920240"/>
            <a:ext cx="2039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D72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G3 운영 전환 승인 (AI Ops)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9541764" y="1920240"/>
            <a:ext cx="22357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72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포트폴리오 리뷰 (개선·중단)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65760" y="2304288"/>
            <a:ext cx="1051560" cy="166420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65760" y="2304288"/>
            <a:ext cx="105156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FD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AX컨설팅 그룹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508760" y="2304288"/>
            <a:ext cx="10314432" cy="1664208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72768" y="2377440"/>
            <a:ext cx="2382012" cy="457200"/>
          </a:xfrm>
          <a:prstGeom prst="rect">
            <a:avLst/>
          </a:prstGeom>
          <a:solidFill>
            <a:srgbClr val="FBECEB"/>
          </a:solidFill>
          <a:ln w="19050">
            <a:solidFill>
              <a:srgbClr val="D7281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618488" y="2377440"/>
            <a:ext cx="2290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현업 공동 발의·현황 분석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현업 부서 공동 발의·의견 청취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572768" y="2907792"/>
            <a:ext cx="238201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8FAAD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618488" y="2907792"/>
            <a:ext cx="2290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정의·기대효과(KPI) 가설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문제·KPI 가설 수립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572768" y="3438144"/>
            <a:ext cx="2382012" cy="457200"/>
          </a:xfrm>
          <a:prstGeom prst="rect">
            <a:avLst/>
          </a:prstGeom>
          <a:solidFill>
            <a:srgbClr val="FBECEB"/>
          </a:solidFill>
          <a:ln w="19050">
            <a:solidFill>
              <a:srgbClr val="D7281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18488" y="3438144"/>
            <a:ext cx="2290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Readiness 진단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AI-Ready Data 수준·갭 진단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174236" y="2377440"/>
            <a:ext cx="238201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8FAAD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219956" y="2377440"/>
            <a:ext cx="2290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As-Is/To-Be Workflow 재설계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사람/Agent/시스템 역할 정의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174236" y="2907792"/>
            <a:ext cx="238201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8FAAD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219956" y="2907792"/>
            <a:ext cx="2290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Agent 과제 확정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우선순위·ROI·KPI Baseline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174236" y="3438144"/>
            <a:ext cx="2382012" cy="457200"/>
          </a:xfrm>
          <a:prstGeom prst="rect">
            <a:avLst/>
          </a:prstGeom>
          <a:solidFill>
            <a:srgbClr val="FBECEB"/>
          </a:solidFill>
          <a:ln w="19050">
            <a:solidFill>
              <a:srgbClr val="D7281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219956" y="3438144"/>
            <a:ext cx="2290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Business Case 수립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ROI 근거 기반 투자 승인 자료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775704" y="2377440"/>
            <a:ext cx="238201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8FAAD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821424" y="2377440"/>
            <a:ext cx="2290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성공기준 및 KPI 확정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측정 지표·목표치 합의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775704" y="2907792"/>
            <a:ext cx="238201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8FAAD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821424" y="2907792"/>
            <a:ext cx="2290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모델·R&amp;R(RACI) 설계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조직·프로세스·Owner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775704" y="3438144"/>
            <a:ext cx="238201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8FAAD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21424" y="3438144"/>
            <a:ext cx="2290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현업 적합성 검토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구축 결과 요구사항 적합성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9377172" y="2377440"/>
            <a:ext cx="2382012" cy="457200"/>
          </a:xfrm>
          <a:prstGeom prst="rect">
            <a:avLst/>
          </a:prstGeom>
          <a:solidFill>
            <a:srgbClr val="FBECEB"/>
          </a:solidFill>
          <a:ln w="19050">
            <a:solidFill>
              <a:srgbClr val="D7281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422892" y="2377440"/>
            <a:ext cx="2290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가치 리뷰(Value Tracking)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KPI 실측·개선/중단 → G2 입력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377172" y="2907792"/>
            <a:ext cx="2382012" cy="457200"/>
          </a:xfrm>
          <a:prstGeom prst="rect">
            <a:avLst/>
          </a:prstGeom>
          <a:solidFill>
            <a:srgbClr val="FBECEB"/>
          </a:solidFill>
          <a:ln w="19050">
            <a:solidFill>
              <a:srgbClr val="D7281E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422892" y="2907792"/>
            <a:ext cx="2290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현업 발의 트랙 운영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Hypercare 이후 현업 자체 발의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365760" y="4023360"/>
            <a:ext cx="105156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365760" y="402336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FDE 공동 스쿼드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1572768" y="4023360"/>
            <a:ext cx="238201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1572768" y="4023360"/>
            <a:ext cx="23820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▼ 과제 후보 공유  ▲ 적용 가능성 의견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174236" y="4023360"/>
            <a:ext cx="238201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174236" y="4023360"/>
            <a:ext cx="23820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▼ To-Be 설계안 전달  ▲ 기술 검증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6775704" y="4023360"/>
            <a:ext cx="238201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775704" y="4023360"/>
            <a:ext cx="23820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▼ KPI·운영요건 전달  ▲ 구축 결과물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9377172" y="4023360"/>
            <a:ext cx="238201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377172" y="4023360"/>
            <a:ext cx="23820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▼ 성과 데이터 공유  ▲ 운영 개선 반영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365760" y="4407408"/>
            <a:ext cx="1051560" cy="166420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365760" y="4407408"/>
            <a:ext cx="105156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PRD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1508760" y="4407408"/>
            <a:ext cx="10314432" cy="1664208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572768" y="4480560"/>
            <a:ext cx="238201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  <a:prstDash val="dash"/>
          </a:ln>
        </p:spPr>
      </p:sp>
      <p:sp>
        <p:nvSpPr>
          <p:cNvPr id="61" name="Text 59"/>
          <p:cNvSpPr txBox="1"/>
          <p:nvPr/>
        </p:nvSpPr>
        <p:spPr>
          <a:xfrm>
            <a:off x="1618488" y="4480560"/>
            <a:ext cx="2290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Agent 적용 가능성 초기 검토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 관점 의견 제시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4174236" y="4480560"/>
            <a:ext cx="238201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219956" y="4480560"/>
            <a:ext cx="2290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기술 타당성 검증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데이터/모델 검토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4174236" y="5010912"/>
            <a:ext cx="238201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4219956" y="5010912"/>
            <a:ext cx="2290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 과제화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정의·개발 공수 산정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4174236" y="5541264"/>
            <a:ext cx="2382012" cy="457200"/>
          </a:xfrm>
          <a:prstGeom prst="rect">
            <a:avLst/>
          </a:prstGeom>
          <a:solidFill>
            <a:srgbClr val="FBECEB"/>
          </a:solidFill>
          <a:ln w="19050">
            <a:solidFill>
              <a:srgbClr val="D7281E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219956" y="5541264"/>
            <a:ext cx="2290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보안 가이드 점검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반출·권한·로그 기준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6775704" y="4480560"/>
            <a:ext cx="238201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21424" y="4480560"/>
            <a:ext cx="2290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 아키텍처 설계·개발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시스템 연동(IS팀 협업)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6775704" y="5010912"/>
            <a:ext cx="2382012" cy="457200"/>
          </a:xfrm>
          <a:prstGeom prst="rect">
            <a:avLst/>
          </a:prstGeom>
          <a:solidFill>
            <a:srgbClr val="FBECEB"/>
          </a:solidFill>
          <a:ln w="19050">
            <a:solidFill>
              <a:srgbClr val="D7281E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6821424" y="5010912"/>
            <a:ext cx="2290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MCP·데이터 파이프라인 구성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AI-Ready Data·Connector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6775704" y="5541264"/>
            <a:ext cx="2382012" cy="457200"/>
          </a:xfrm>
          <a:prstGeom prst="rect">
            <a:avLst/>
          </a:prstGeom>
          <a:solidFill>
            <a:srgbClr val="FBECEB"/>
          </a:solidFill>
          <a:ln w="19050">
            <a:solidFill>
              <a:srgbClr val="D7281E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821424" y="5541264"/>
            <a:ext cx="2290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테스트·품질 검증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CI/CD·프롬프트 레지스트리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9377172" y="4480560"/>
            <a:ext cx="2382012" cy="457200"/>
          </a:xfrm>
          <a:prstGeom prst="rect">
            <a:avLst/>
          </a:prstGeom>
          <a:solidFill>
            <a:srgbClr val="FBECEB"/>
          </a:solidFill>
          <a:ln w="19050">
            <a:solidFill>
              <a:srgbClr val="D7281E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422892" y="4480560"/>
            <a:ext cx="2290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이관·AI Ops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모니터링·드리프트·장애대응·단위비용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9377172" y="5010912"/>
            <a:ext cx="2382012" cy="457200"/>
          </a:xfrm>
          <a:prstGeom prst="rect">
            <a:avLst/>
          </a:prstGeom>
          <a:solidFill>
            <a:srgbClr val="FBECEB"/>
          </a:solidFill>
          <a:ln w="19050">
            <a:solidFill>
              <a:srgbClr val="D7281E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422892" y="5010912"/>
            <a:ext cx="2290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Asset화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재사용 Agent·Connector 축적</a:t>
            </a:r>
            <a:endParaRPr lang="en-US" sz="1100" dirty="0"/>
          </a:p>
        </p:txBody>
      </p:sp>
      <p:sp>
        <p:nvSpPr>
          <p:cNvPr id="78" name="Shape 76"/>
          <p:cNvSpPr/>
          <p:nvPr/>
        </p:nvSpPr>
        <p:spPr>
          <a:xfrm>
            <a:off x="365760" y="6163056"/>
            <a:ext cx="1051560" cy="402336"/>
          </a:xfrm>
          <a:prstGeom prst="rect">
            <a:avLst/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365760" y="6163056"/>
            <a:ext cx="1051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</a:t>
            </a:r>
            <a:endParaRPr lang="en-US" sz="1100" dirty="0"/>
          </a:p>
        </p:txBody>
      </p:sp>
      <p:sp>
        <p:nvSpPr>
          <p:cNvPr id="80" name="Shape 78"/>
          <p:cNvSpPr/>
          <p:nvPr/>
        </p:nvSpPr>
        <p:spPr>
          <a:xfrm>
            <a:off x="1508760" y="6163056"/>
            <a:ext cx="2510028" cy="402336"/>
          </a:xfrm>
          <a:prstGeom prst="rect">
            <a:avLst/>
          </a:prstGeom>
          <a:solidFill>
            <a:srgbClr val="DDE8F5"/>
          </a:solidFill>
          <a:ln w="12700">
            <a:solidFill>
              <a:srgbClr val="DDE8F5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554480" y="6163056"/>
            <a:ext cx="24185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문제정의서, 데이터 진단서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4110228" y="6163056"/>
            <a:ext cx="2510028" cy="402336"/>
          </a:xfrm>
          <a:prstGeom prst="rect">
            <a:avLst/>
          </a:prstGeom>
          <a:solidFill>
            <a:srgbClr val="DDE8F5"/>
          </a:solidFill>
          <a:ln w="12700">
            <a:solidFill>
              <a:srgbClr val="DDE8F5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4155948" y="6163056"/>
            <a:ext cx="24185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설계안, 과제정의서, 투자 BC</a:t>
            </a:r>
            <a:endParaRPr lang="en-US" sz="950" dirty="0"/>
          </a:p>
        </p:txBody>
      </p:sp>
      <p:sp>
        <p:nvSpPr>
          <p:cNvPr id="84" name="Shape 82"/>
          <p:cNvSpPr/>
          <p:nvPr/>
        </p:nvSpPr>
        <p:spPr>
          <a:xfrm>
            <a:off x="6711696" y="6163056"/>
            <a:ext cx="2510028" cy="402336"/>
          </a:xfrm>
          <a:prstGeom prst="rect">
            <a:avLst/>
          </a:prstGeom>
          <a:solidFill>
            <a:srgbClr val="DDE8F5"/>
          </a:solidFill>
          <a:ln w="12700">
            <a:solidFill>
              <a:srgbClr val="DDE8F5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6757416" y="6163056"/>
            <a:ext cx="24185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 MVP, KPI 정의서, RACI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9313164" y="6163056"/>
            <a:ext cx="2510028" cy="402336"/>
          </a:xfrm>
          <a:prstGeom prst="rect">
            <a:avLst/>
          </a:prstGeom>
          <a:solidFill>
            <a:srgbClr val="FBECEB"/>
          </a:solidFill>
          <a:ln w="12700">
            <a:solidFill>
              <a:srgbClr val="FBECEB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9358884" y="6163056"/>
            <a:ext cx="24185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72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이관서(AI Ops 체크리스트), 월간 성과 리포트</a:t>
            </a:r>
            <a:endParaRPr lang="en-US" sz="950" dirty="0"/>
          </a:p>
        </p:txBody>
      </p:sp>
      <p:sp>
        <p:nvSpPr>
          <p:cNvPr id="88" name="Shape 86"/>
          <p:cNvSpPr/>
          <p:nvPr/>
        </p:nvSpPr>
        <p:spPr>
          <a:xfrm>
            <a:off x="9692640" y="457200"/>
            <a:ext cx="201168" cy="128016"/>
          </a:xfrm>
          <a:prstGeom prst="rect">
            <a:avLst/>
          </a:prstGeom>
          <a:solidFill>
            <a:srgbClr val="FBECEB"/>
          </a:solidFill>
          <a:ln w="15875">
            <a:solidFill>
              <a:srgbClr val="D7281E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9948672" y="420624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72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4대 한계 대응 보완 항목 (NEW)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74320"/>
            <a:ext cx="11430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FDE 조직 운영 모델 – 실행 전환 순환 구조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841248"/>
            <a:ext cx="1143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FDE 조직은 현장 문제 정의부터 운영 안착·자산화까지 한 팀이 순환하며, 매 사이클의 결과를 재사용 Asset으로 축적해 다음 과제의 실행 속도를 높임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681728" y="2240280"/>
            <a:ext cx="2834640" cy="2834640"/>
          </a:xfrm>
          <a:prstGeom prst="blockArc">
            <a:avLst>
              <a:gd name="adj1" fmla="val 14610000"/>
              <a:gd name="adj2" fmla="val 17790000"/>
              <a:gd name="adj3" fmla="val 19355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870448" y="231343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 rot="1800000">
            <a:off x="6551676" y="2530573"/>
            <a:ext cx="237744" cy="274320"/>
          </a:xfrm>
          <a:prstGeom prst="chevron">
            <a:avLst/>
          </a:prstGeom>
          <a:solidFill>
            <a:srgbClr val="3333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70348" y="1335024"/>
            <a:ext cx="2057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Embed·문제 정의  </a:t>
            </a:r>
            <a:pPr algn="ctr" indent="0" marL="0">
              <a:buNone/>
            </a:pPr>
            <a:r>
              <a:rPr lang="en-US" sz="950" b="1" dirty="0">
                <a:solidFill>
                  <a:srgbClr val="6E6E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[FD]</a:t>
            </a:r>
            <a:endParaRPr lang="en-US" sz="125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현업 상주, 문제·KPI 가설</a:t>
            </a:r>
            <a:endParaRPr lang="en-US" sz="125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Readiness 진단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81728" y="2240280"/>
            <a:ext cx="2834640" cy="2834640"/>
          </a:xfrm>
          <a:prstGeom prst="blockArc">
            <a:avLst>
              <a:gd name="adj1" fmla="val 18210000"/>
              <a:gd name="adj2" fmla="val 21390000"/>
              <a:gd name="adj3" fmla="val 19355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60315" y="288493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 rot="5400000">
            <a:off x="7123176" y="3520440"/>
            <a:ext cx="237744" cy="274320"/>
          </a:xfrm>
          <a:prstGeom prst="chevron">
            <a:avLst/>
          </a:prstGeom>
          <a:solidFill>
            <a:srgbClr val="3333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0987" y="2505456"/>
            <a:ext cx="2057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재설계·가치 합의  </a:t>
            </a:r>
            <a:pPr algn="l" indent="0" marL="0">
              <a:buNone/>
            </a:pPr>
            <a:r>
              <a:rPr lang="en-US" sz="950" b="1" dirty="0">
                <a:solidFill>
                  <a:srgbClr val="6E6E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[FD]</a:t>
            </a:r>
            <a:endParaRPr lang="en-US" sz="125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Workflow, ROI·KPI Baseline</a:t>
            </a:r>
            <a:endParaRPr lang="en-US" sz="125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승인(Gate)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681728" y="2240280"/>
            <a:ext cx="2834640" cy="2834640"/>
          </a:xfrm>
          <a:prstGeom prst="blockArc">
            <a:avLst>
              <a:gd name="adj1" fmla="val 210000"/>
              <a:gd name="adj2" fmla="val 3390000"/>
              <a:gd name="adj3" fmla="val 19355"/>
            </a:avLst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60315" y="402793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 rot="9000000">
            <a:off x="6551676" y="4510307"/>
            <a:ext cx="237744" cy="274320"/>
          </a:xfrm>
          <a:prstGeom prst="chevron">
            <a:avLst/>
          </a:prstGeom>
          <a:solidFill>
            <a:srgbClr val="3333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90987" y="4059936"/>
            <a:ext cx="2057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 구축  </a:t>
            </a:r>
            <a:pPr algn="l" indent="0" marL="0">
              <a:buNone/>
            </a:pPr>
            <a:r>
              <a:rPr lang="en-US" sz="950" b="1" dirty="0">
                <a:solidFill>
                  <a:srgbClr val="6E6E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[PRD]</a:t>
            </a:r>
            <a:endParaRPr lang="en-US" sz="125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아키텍처·개발</a:t>
            </a:r>
            <a:endParaRPr lang="en-US" sz="125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MCP·데이터 파이프라인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81728" y="2240280"/>
            <a:ext cx="2834640" cy="2834640"/>
          </a:xfrm>
          <a:prstGeom prst="blockArc">
            <a:avLst>
              <a:gd name="adj1" fmla="val 3810000"/>
              <a:gd name="adj2" fmla="val 6990000"/>
              <a:gd name="adj3" fmla="val 19355"/>
            </a:avLst>
          </a:prstGeom>
          <a:solidFill>
            <a:srgbClr val="2A8C82"/>
          </a:solidFill>
          <a:ln w="12700">
            <a:solidFill>
              <a:srgbClr val="2A8C8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70448" y="459943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 rot="12600000">
            <a:off x="5408676" y="4510307"/>
            <a:ext cx="237744" cy="274320"/>
          </a:xfrm>
          <a:prstGeom prst="chevron">
            <a:avLst/>
          </a:prstGeom>
          <a:solidFill>
            <a:srgbClr val="3333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70348" y="5230368"/>
            <a:ext cx="2057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8C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검증·현장 배포  </a:t>
            </a:r>
            <a:pPr algn="ctr" indent="0" marL="0">
              <a:buNone/>
            </a:pPr>
            <a:r>
              <a:rPr lang="en-US" sz="950" b="1" dirty="0">
                <a:solidFill>
                  <a:srgbClr val="6E6E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[FD+PRD]</a:t>
            </a:r>
            <a:endParaRPr lang="en-US" sz="125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품질·보안 검증</a:t>
            </a:r>
            <a:endParaRPr lang="en-US" sz="125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현업 적합성 검토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81728" y="2240280"/>
            <a:ext cx="2834640" cy="2834640"/>
          </a:xfrm>
          <a:prstGeom prst="blockArc">
            <a:avLst>
              <a:gd name="adj1" fmla="val 7410000"/>
              <a:gd name="adj2" fmla="val 10590000"/>
              <a:gd name="adj3" fmla="val 19355"/>
            </a:avLst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80581" y="402793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 rot="16200000">
            <a:off x="4837176" y="3520440"/>
            <a:ext cx="237744" cy="274320"/>
          </a:xfrm>
          <a:prstGeom prst="chevron">
            <a:avLst/>
          </a:prstGeom>
          <a:solidFill>
            <a:srgbClr val="3333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49709" y="4059936"/>
            <a:ext cx="2057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이관·성과 실측  </a:t>
            </a:r>
            <a:pPr algn="r" indent="0" marL="0">
              <a:buNone/>
            </a:pPr>
            <a:r>
              <a:rPr lang="en-US" sz="950" b="1" dirty="0">
                <a:solidFill>
                  <a:srgbClr val="6E6E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[PRD+현업]</a:t>
            </a:r>
            <a:endParaRPr lang="en-US" sz="1250" dirty="0"/>
          </a:p>
          <a:p>
            <a:pPr algn="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RACI 확정, Hypercare</a:t>
            </a:r>
            <a:endParaRPr lang="en-US" sz="1250" dirty="0"/>
          </a:p>
          <a:p>
            <a:pPr algn="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KPI 실측·ROI 검증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681728" y="2240280"/>
            <a:ext cx="2834640" cy="2834640"/>
          </a:xfrm>
          <a:prstGeom prst="blockArc">
            <a:avLst>
              <a:gd name="adj1" fmla="val 11010000"/>
              <a:gd name="adj2" fmla="val 14190000"/>
              <a:gd name="adj3" fmla="val 19355"/>
            </a:avLst>
          </a:prstGeom>
          <a:solidFill>
            <a:srgbClr val="D7281E"/>
          </a:solidFill>
          <a:ln w="12700">
            <a:solidFill>
              <a:srgbClr val="D7281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80581" y="288493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 rot="19800000">
            <a:off x="5408676" y="2530573"/>
            <a:ext cx="237744" cy="274320"/>
          </a:xfrm>
          <a:prstGeom prst="chevron">
            <a:avLst/>
          </a:prstGeom>
          <a:solidFill>
            <a:srgbClr val="3333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649709" y="2505456"/>
            <a:ext cx="2057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D72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자산화·확산  </a:t>
            </a:r>
            <a:pPr algn="r" indent="0" marL="0">
              <a:buNone/>
            </a:pPr>
            <a:r>
              <a:rPr lang="en-US" sz="950" b="1" dirty="0">
                <a:solidFill>
                  <a:srgbClr val="6E6E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[FDE]</a:t>
            </a:r>
            <a:endParaRPr lang="en-US" sz="1250" dirty="0"/>
          </a:p>
          <a:p>
            <a:pPr algn="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재사용 Agent·Connector</a:t>
            </a:r>
            <a:endParaRPr lang="en-US" sz="1250" dirty="0"/>
          </a:p>
          <a:p>
            <a:pPr algn="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표준 가이드, Next Wave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321808" y="2880360"/>
            <a:ext cx="1554480" cy="15544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A5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367528" y="292608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FDE 조직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FD + PRD</a:t>
            </a:r>
            <a:endParaRPr lang="en-US" sz="15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E6E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상주형</a:t>
            </a:r>
            <a:endParaRPr lang="en-US" sz="15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E6E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조직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365760" y="1508760"/>
            <a:ext cx="2240280" cy="5669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760" y="150876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FD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AX컨설팅 그룹 · Business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365760" y="2075688"/>
            <a:ext cx="2240280" cy="3364992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75488" y="2194560"/>
            <a:ext cx="2048256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현업 상주 문제 정의 (①)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업무 재설계 (②)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KPI·ROI·Business Case (②)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모델·RACI 설계 (⑤)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성과 실측·확산 발굴 (⑤⑥)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9582912" y="1508760"/>
            <a:ext cx="2240280" cy="56692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582912" y="150876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PRD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· Engineering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582912" y="2075688"/>
            <a:ext cx="2240280" cy="3364992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692640" y="2194560"/>
            <a:ext cx="2048256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 과제화·타당성 (②)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아키텍처 설계·개발 (③)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MCP·데이터 연계 (③)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품질·보안 검증 (④)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이관·Hypercare (⑤)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Asset화 (⑥)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365760" y="5806440"/>
            <a:ext cx="1463040" cy="749808"/>
          </a:xfrm>
          <a:prstGeom prst="rect">
            <a:avLst/>
          </a:prstGeom>
          <a:solidFill>
            <a:srgbClr val="D7281E"/>
          </a:solidFill>
          <a:ln w="12700">
            <a:solidFill>
              <a:srgbClr val="D7281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65760" y="5806440"/>
            <a:ext cx="1463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Enabler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4대 한계 해소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1920240" y="5806440"/>
            <a:ext cx="2407158" cy="749808"/>
          </a:xfrm>
          <a:prstGeom prst="rect">
            <a:avLst/>
          </a:prstGeom>
          <a:solidFill>
            <a:srgbClr val="FBECEB"/>
          </a:solidFill>
          <a:ln w="12700">
            <a:solidFill>
              <a:srgbClr val="FBECE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011680" y="5806440"/>
            <a:ext cx="222427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72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거버넌스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단계별 Gate·AX 협의체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보안 가이드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418838" y="5806440"/>
            <a:ext cx="2407158" cy="749808"/>
          </a:xfrm>
          <a:prstGeom prst="rect">
            <a:avLst/>
          </a:prstGeom>
          <a:solidFill>
            <a:srgbClr val="FBECEB"/>
          </a:solidFill>
          <a:ln w="12700">
            <a:solidFill>
              <a:srgbClr val="FBECE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510278" y="5806440"/>
            <a:ext cx="222427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72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데이터·인프라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AI-Ready Data 진단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MCP·Connector 표준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917436" y="5806440"/>
            <a:ext cx="2407158" cy="749808"/>
          </a:xfrm>
          <a:prstGeom prst="rect">
            <a:avLst/>
          </a:prstGeom>
          <a:solidFill>
            <a:srgbClr val="FBECEB"/>
          </a:solidFill>
          <a:ln w="12700">
            <a:solidFill>
              <a:srgbClr val="FBECE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008876" y="5806440"/>
            <a:ext cx="222427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72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KPI·ROI 프레임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Business Case·실측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9416034" y="5806440"/>
            <a:ext cx="2407158" cy="749808"/>
          </a:xfrm>
          <a:prstGeom prst="rect">
            <a:avLst/>
          </a:prstGeom>
          <a:solidFill>
            <a:srgbClr val="FBECEB"/>
          </a:solidFill>
          <a:ln w="12700">
            <a:solidFill>
              <a:srgbClr val="FBECE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507474" y="5806440"/>
            <a:ext cx="222427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72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R&amp;R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RACI·현업 Owner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Hypercare 이관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2026-10-15T00:28:18Z</dcterms:created>
  <dcterms:modified xsi:type="dcterms:W3CDTF">2026-10-15T00:28:18Z</dcterms:modified>
</cp:coreProperties>
</file>