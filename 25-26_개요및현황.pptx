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진단/과제발굴</c:v>
                </c:pt>
              </c:strCache>
            </c:strRef>
          </c:tx>
          <c:spPr>
            <a:solidFill>
              <a:srgbClr val="1F4E9A"/>
            </a:solidFill>
            <a:effectLst/>
          </c:spPr>
          <c:invertIfNegative val="0"/>
          <c:dLbls>
            <c:numFmt formatCode="0%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그룹사 (17건)</c:v>
                  </c:pt>
                  <c:pt idx="1">
                    <c:v>대외 (4건)</c:v>
                  </c:pt>
                  <c:pt idx="2">
                    <c:v>전체 (21건)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0.7058823529411765</c:v>
                </c:pt>
                <c:pt idx="1">
                  <c:v>0</c:v>
                </c:pt>
                <c:pt idx="2">
                  <c:v>0.5714285714285714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전략수립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0%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그룹사 (17건)</c:v>
                  </c:pt>
                  <c:pt idx="1">
                    <c:v>대외 (4건)</c:v>
                  </c:pt>
                  <c:pt idx="2">
                    <c:v>전체 (21건)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0.17647058823529413</c:v>
                </c:pt>
                <c:pt idx="1">
                  <c:v>0.25</c:v>
                </c:pt>
                <c:pt idx="2">
                  <c:v>0.19047619047619047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전문 컨설팅</c:v>
                </c:pt>
              </c:strCache>
            </c:strRef>
          </c:tx>
          <c:spPr>
            <a:solidFill>
              <a:srgbClr val="7FA1D6"/>
            </a:solidFill>
            <a:effectLst/>
          </c:spPr>
          <c:invertIfNegative val="0"/>
          <c:dLbls>
            <c:numFmt formatCode="0%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그룹사 (17건)</c:v>
                  </c:pt>
                  <c:pt idx="1">
                    <c:v>대외 (4건)</c:v>
                  </c:pt>
                  <c:pt idx="2">
                    <c:v>전체 (21건)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0.11764705882352941</c:v>
                </c:pt>
                <c:pt idx="1">
                  <c:v>0</c:v>
                </c:pt>
                <c:pt idx="2">
                  <c:v>0.09523809523809523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 컨설팅</c:v>
                </c:pt>
              </c:strCache>
            </c:strRef>
          </c:tx>
          <c:spPr>
            <a:solidFill>
              <a:srgbClr val="D0342C"/>
            </a:solidFill>
            <a:effectLst/>
          </c:spPr>
          <c:invertIfNegative val="0"/>
          <c:dLbls>
            <c:numFmt formatCode="0%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그룹사 (17건)</c:v>
                  </c:pt>
                  <c:pt idx="1">
                    <c:v>대외 (4건)</c:v>
                  </c:pt>
                  <c:pt idx="2">
                    <c:v>전체 (21건)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0.75</c:v>
                </c:pt>
                <c:pt idx="2">
                  <c:v>0.14285714285714285</c:v>
                </c:pt>
              </c:numCache>
            </c:numRef>
          </c:val>
        </c:ser>
        <c:dLbls>
          <c:numFmt formatCode="0%;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F232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AI과제 발굴</c:v>
                </c:pt>
              </c:strCache>
            </c:strRef>
          </c:tx>
          <c:spPr>
            <a:solidFill>
              <a:srgbClr val="1F4E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B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034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AI 진단/과제발굴</c:v>
                  </c:pt>
                  <c:pt idx="1">
                    <c:v>전략수립</c:v>
                  </c:pt>
                  <c:pt idx="2">
                    <c:v>Pre 컨설팅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28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F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유형 분류: '본원적 AI과제 진단' 9건 + 과제 도출·진단 3건을 AI 진단/과제발굴로 집계. 전문 컨설팅(KPI 로드맵, 객실요금 구현방안)은 과제 발굴 수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25~26 개요 및 현황</a:t>
            </a:r>
            <a:endParaRPr lang="en-US" sz="2600" dirty="0"/>
          </a:p>
        </p:txBody>
      </p:sp>
      <p:sp>
        <p:nvSpPr>
          <p:cNvPr id="3" name="panel 개요 및 현황"/>
          <p:cNvSpPr/>
          <p:nvPr/>
        </p:nvSpPr>
        <p:spPr>
          <a:xfrm>
            <a:off x="365760" y="1097280"/>
            <a:ext cx="5623560" cy="5321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4" name="panel header 개요 및 현황"/>
          <p:cNvSpPr txBox="1"/>
          <p:nvPr/>
        </p:nvSpPr>
        <p:spPr>
          <a:xfrm>
            <a:off x="365760" y="1097280"/>
            <a:ext cx="562356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개요 및 현황</a:t>
            </a:r>
            <a:endParaRPr lang="en-US" sz="1600" dirty="0"/>
          </a:p>
        </p:txBody>
      </p:sp>
      <p:sp>
        <p:nvSpPr>
          <p:cNvPr id="5" name="panel 유형별 수행 내역"/>
          <p:cNvSpPr/>
          <p:nvPr/>
        </p:nvSpPr>
        <p:spPr>
          <a:xfrm>
            <a:off x="6199632" y="1097280"/>
            <a:ext cx="5623560" cy="5321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6" name="panel header 유형별 수행 내역"/>
          <p:cNvSpPr txBox="1"/>
          <p:nvPr/>
        </p:nvSpPr>
        <p:spPr>
          <a:xfrm>
            <a:off x="6199632" y="1097280"/>
            <a:ext cx="562356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유형별 수행 내역</a:t>
            </a:r>
            <a:endParaRPr lang="en-US" sz="1600" dirty="0"/>
          </a:p>
        </p:txBody>
      </p:sp>
      <p:sp>
        <p:nvSpPr>
          <p:cNvPr id="7" name="머리표 주요 현황 ('25년~'26년)"/>
          <p:cNvSpPr/>
          <p:nvPr/>
        </p:nvSpPr>
        <p:spPr>
          <a:xfrm>
            <a:off x="530352" y="1691640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주요 현황 ('25년~'26년)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673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(단위 : 건)</a:t>
            </a:r>
            <a:endParaRPr lang="en-US" sz="950" dirty="0"/>
          </a:p>
        </p:txBody>
      </p:sp>
      <p:sp>
        <p:nvSpPr>
          <p:cNvPr id="10" name="현황 선제안"/>
          <p:cNvSpPr/>
          <p:nvPr/>
        </p:nvSpPr>
        <p:spPr>
          <a:xfrm>
            <a:off x="502920" y="2029968"/>
            <a:ext cx="1722120" cy="71323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선제안</a:t>
            </a:r>
            <a:endParaRPr lang="en-US" sz="13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10</a:t>
            </a:r>
            <a:endParaRPr lang="en-US" sz="1300" dirty="0"/>
          </a:p>
        </p:txBody>
      </p:sp>
      <p:sp>
        <p:nvSpPr>
          <p:cNvPr id="11" name="현황 프로젝트 수행"/>
          <p:cNvSpPr/>
          <p:nvPr/>
        </p:nvSpPr>
        <p:spPr>
          <a:xfrm>
            <a:off x="2316480" y="2029968"/>
            <a:ext cx="1722120" cy="71323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프로젝트 수행</a:t>
            </a:r>
            <a:endParaRPr lang="en-US" sz="13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27</a:t>
            </a:r>
            <a:endParaRPr lang="en-US" sz="1300" dirty="0"/>
          </a:p>
        </p:txBody>
      </p:sp>
      <p:sp>
        <p:nvSpPr>
          <p:cNvPr id="12" name="현황 AI과제 Pool"/>
          <p:cNvSpPr/>
          <p:nvPr/>
        </p:nvSpPr>
        <p:spPr>
          <a:xfrm>
            <a:off x="4130040" y="2029968"/>
            <a:ext cx="1722120" cy="71323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AI과제 Pool</a:t>
            </a:r>
            <a:endParaRPr lang="en-US" sz="13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108</a:t>
            </a:r>
            <a:endParaRPr lang="en-US" sz="1300" dirty="0"/>
          </a:p>
        </p:txBody>
      </p:sp>
      <p:graphicFrame>
        <p:nvGraphicFramePr>
          <p:cNvPr id="13" name="그룹사 대외 유형별 비중 차트" descr=""/>
          <p:cNvGraphicFramePr/>
          <p:nvPr/>
        </p:nvGraphicFramePr>
        <p:xfrm>
          <a:off x="502920" y="2816352"/>
          <a:ext cx="53492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머리표 주요 연계사업 성과"/>
          <p:cNvSpPr/>
          <p:nvPr/>
        </p:nvSpPr>
        <p:spPr>
          <a:xfrm>
            <a:off x="530352" y="4315968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2960" y="4224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주요 연계사업 성과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(단위 : 억)</a:t>
            </a:r>
            <a:endParaRPr lang="en-US" sz="950" dirty="0"/>
          </a:p>
        </p:txBody>
      </p:sp>
      <p:graphicFrame>
        <p:nvGraphicFramePr>
          <p:cNvPr id="2" name="연계사업 성과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645152"/>
          <a:ext cx="5349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68680"/>
                <a:gridCol w="2011680"/>
                <a:gridCol w="1554480"/>
              </a:tblGrid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1488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그룹사 AI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객실요금최적화시스템 구축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대표이사 보고 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백화점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브랜드 AI포탈 구축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'26.8월 오픈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차세대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 수주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신분당선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차세대 통합정보시스템 구축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수주 129억 (AI 12.5억)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KT&amp;G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차세대 PLM 시스템 구축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AI컨설팅 추가제안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유안타증권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ITO 사업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AI컨설팅·교육 추가제안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 수주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인벤토리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공항철도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AX과제이행 프로젝트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5.71억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문서탐색플랫폼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2.89억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머리표 유형별 프로젝트 수행 (27건)"/>
          <p:cNvSpPr/>
          <p:nvPr/>
        </p:nvSpPr>
        <p:spPr>
          <a:xfrm>
            <a:off x="6364224" y="1691640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656832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유형별 프로젝트 수행 (27건)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9491472" y="1673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(괄호 : AI과제 발굴 수)</a:t>
            </a:r>
            <a:endParaRPr lang="en-US" sz="950" dirty="0"/>
          </a:p>
        </p:txBody>
      </p:sp>
      <p:graphicFrame>
        <p:nvGraphicFramePr>
          <p:cNvPr id="3" name="유형별 수행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2029968"/>
          <a:ext cx="5349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85800"/>
                <a:gridCol w="3794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 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(비중)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 고객사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진단/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과제발굴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(57%)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[본원적 AI과제 진단] 캐피탈(7)·호텔(5)·하이마트(10)·웰푸드(4)·마트/슈퍼(10)·GRS(4)·칠성(5)·LGL(3)·케미칼(4)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[과제 도출·진단] 코리아세븐 점포관리(8)·건설 SAP 사전진단(5)·코리아세븐 SPOT Blueprint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7B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전략수립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(19%)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그룹사: 백화점(8)·컬처웍스(5)·물산(8)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대외: 공항철도(7)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B7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B7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(10%)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마트/슈퍼 수익성 KPI 성과관리 로드맵, 호텔 AI 객실요금 최적화 구현방안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(14%)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대외: 군인공제회(5)·신분당선(6)·KT&amp;G(4) — 차세대 시스템 Pre 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F3E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실습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F3E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교육·Camp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그룹사 임원: 코리아세븐·GRS·캐피탈·알미늄 / 실무자: 백화점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대외: 씨텍 (임원·실무자, 과제 도출 포함)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AI컨설팅 21건 (그룹사 17 · 대외 4) + 교육·Camp 6건 (그룹사 5 · 대외 1)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</a:tr>
            </a:tbl>
          </a:graphicData>
        </a:graphic>
      </p:graphicFrame>
      <p:sp>
        <p:nvSpPr>
          <p:cNvPr id="22" name="머리표 유형별 AI과제 발굴 (108건)"/>
          <p:cNvSpPr/>
          <p:nvPr/>
        </p:nvSpPr>
        <p:spPr>
          <a:xfrm>
            <a:off x="6364224" y="5257800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656832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유형별 AI과제 발굴 (108건)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9491472" y="5239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(단위 : 건)</a:t>
            </a:r>
            <a:endParaRPr lang="en-US" sz="950" dirty="0"/>
          </a:p>
        </p:txBody>
      </p:sp>
      <p:graphicFrame>
        <p:nvGraphicFramePr>
          <p:cNvPr id="25" name="유형별 과제 발굴 차트" descr=""/>
          <p:cNvGraphicFramePr/>
          <p:nvPr/>
        </p:nvGraphicFramePr>
        <p:xfrm>
          <a:off x="6336792" y="5532120"/>
          <a:ext cx="5349240" cy="841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2026-10-27T07:23:38Z</dcterms:created>
  <dcterms:modified xsi:type="dcterms:W3CDTF">2026-10-27T07:23:38Z</dcterms:modified>
</cp:coreProperties>
</file>