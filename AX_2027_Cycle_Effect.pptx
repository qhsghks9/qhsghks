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AX 전환 선순환 업무 체계 및 기대효과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4대 성공요인을 FDE 선순환 업무 체계로 내재화하여, 롯데그룹은 AI 실행 성과를, LIT는 지속형 AX 사업 모델을 확보함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760720" cy="384048"/>
          </a:xfrm>
          <a:prstGeom prst="homePlate">
            <a:avLst/>
          </a:prstGeom>
          <a:solidFill>
            <a:srgbClr val="2F4A82"/>
          </a:solidFill>
          <a:ln w="12700">
            <a:solidFill>
              <a:srgbClr val="2F4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AX 업무 체계 (선순환 구조)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57607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14580000"/>
              <a:gd name="adj2" fmla="val 17820000"/>
              <a:gd name="adj3" fmla="val 23626"/>
            </a:avLst>
          </a:prstGeom>
          <a:solidFill>
            <a:srgbClr val="2D3E6E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24140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현업 공동발의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1800000">
            <a:off x="3963924" y="2712316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18180000"/>
              <a:gd name="adj2" fmla="val 21420000"/>
              <a:gd name="adj3" fmla="val 23626"/>
            </a:avLst>
          </a:prstGeom>
          <a:solidFill>
            <a:srgbClr val="2D3E6E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9652" y="304952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업무 재설계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합의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599432" y="3813048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180000"/>
              <a:gd name="adj2" fmla="val 3420000"/>
              <a:gd name="adj3" fmla="val 23626"/>
            </a:avLst>
          </a:prstGeom>
          <a:solidFill>
            <a:srgbClr val="4767A3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9652" y="43205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Data·Infra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9000000">
            <a:off x="3963924" y="4913780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3780000"/>
              <a:gd name="adj2" fmla="val 7020000"/>
              <a:gd name="adj3" fmla="val 23626"/>
            </a:avLst>
          </a:prstGeom>
          <a:solidFill>
            <a:srgbClr val="4767A3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49560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구축·검증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12600000">
            <a:off x="2692908" y="4913780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7380000"/>
              <a:gd name="adj2" fmla="val 10620000"/>
              <a:gd name="adj3" fmla="val 23626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8188" y="43205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운영 이관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16200000">
            <a:off x="2057400" y="3813048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64792" y="2267712"/>
            <a:ext cx="3328416" cy="3328416"/>
          </a:xfrm>
          <a:prstGeom prst="blockArc">
            <a:avLst>
              <a:gd name="adj1" fmla="val 10980000"/>
              <a:gd name="adj2" fmla="val 14220000"/>
              <a:gd name="adj3" fmla="val 23626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88188" y="304952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자산화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19800000">
            <a:off x="2692908" y="2712316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2112264"/>
            <a:ext cx="3639312" cy="3639312"/>
          </a:xfrm>
          <a:prstGeom prst="blockArc">
            <a:avLst>
              <a:gd name="adj1" fmla="val 14580000"/>
              <a:gd name="adj2" fmla="val 21420000"/>
              <a:gd name="adj3" fmla="val 2010"/>
            </a:avLst>
          </a:prstGeom>
          <a:solidFill>
            <a:srgbClr val="2D3E6E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9344" y="2112264"/>
            <a:ext cx="3639312" cy="3639312"/>
          </a:xfrm>
          <a:prstGeom prst="blockArc">
            <a:avLst>
              <a:gd name="adj1" fmla="val 180000"/>
              <a:gd name="adj2" fmla="val 7020000"/>
              <a:gd name="adj3" fmla="val 2010"/>
            </a:avLst>
          </a:prstGeom>
          <a:solidFill>
            <a:srgbClr val="4767A3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9344" y="2112264"/>
            <a:ext cx="3639312" cy="3639312"/>
          </a:xfrm>
          <a:prstGeom prst="blockArc">
            <a:avLst>
              <a:gd name="adj1" fmla="val 7380000"/>
              <a:gd name="adj2" fmla="val 14220000"/>
              <a:gd name="adj3" fmla="val 2010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42616" y="3145536"/>
            <a:ext cx="1572768" cy="15727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26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97480" y="3200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조직</a:t>
            </a:r>
            <a:endParaRPr lang="en-US" sz="9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상시 가치 측정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포트폴리오 리뷰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개선·중단 판단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ROI → G2 입력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62272" y="1938528"/>
            <a:ext cx="1600200" cy="274320"/>
          </a:xfrm>
          <a:prstGeom prst="rect">
            <a:avLst/>
          </a:prstGeom>
          <a:solidFill>
            <a:srgbClr val="2D3E6E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17136" y="193852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현장 기반 문제정의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62272" y="221284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35424" y="221284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공동 발의·투자(G1)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KPI·ROI 사전 합의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62272" y="5248656"/>
            <a:ext cx="1600200" cy="274320"/>
          </a:xfrm>
          <a:prstGeom prst="rect">
            <a:avLst/>
          </a:prstGeom>
          <a:solidFill>
            <a:srgbClr val="4767A3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524865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Data&amp;Infra Ready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62272" y="5522976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35424" y="552297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 정제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MCP·Connector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248656"/>
            <a:ext cx="1600200" cy="274320"/>
          </a:xfrm>
          <a:prstGeom prst="rect">
            <a:avLst/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2064" y="524865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운영 안착·자산화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522976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" y="5522976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Ops 체크리스트 이관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Asset 축적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74520" y="2395728"/>
            <a:ext cx="658368" cy="274320"/>
          </a:xfrm>
          <a:prstGeom prst="line">
            <a:avLst/>
          </a:prstGeom>
          <a:noFill/>
          <a:ln w="12700">
            <a:solidFill>
              <a:srgbClr val="E0262B"/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" y="1938528"/>
            <a:ext cx="1600200" cy="731520"/>
          </a:xfrm>
          <a:prstGeom prst="rect">
            <a:avLst/>
          </a:prstGeom>
          <a:solidFill>
            <a:srgbClr val="FDECEC"/>
          </a:solidFill>
          <a:ln w="12700">
            <a:solidFill>
              <a:srgbClr val="E026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0352" y="193852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발의 트랙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Hypercare 이후 현업이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과제 발의 → ①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6053328"/>
            <a:ext cx="557784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605332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조직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스쿼드 = 현업(Owner·공동 투자) + FD(문제정의·KPI) + PRD(구축·AI Ops)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1847088"/>
            <a:ext cx="411480" cy="4663440"/>
          </a:xfrm>
          <a:custGeom>
            <a:avLst/>
            <a:gdLst/>
            <a:ahLst/>
            <a:cxnLst/>
            <a:rect l="l" t="t" r="r" b="b"/>
            <a:pathLst>
              <a:path w="411480" h="4663440">
                <a:moveTo>
                  <a:pt x="0" y="1463040"/>
                </a:moveTo>
                <a:lnTo>
                  <a:pt x="411480" y="0"/>
                </a:lnTo>
                <a:lnTo>
                  <a:pt x="411480" y="4663440"/>
                </a:lnTo>
                <a:lnTo>
                  <a:pt x="0" y="3200400"/>
                </a:lnTo>
                <a:close/>
              </a:path>
            </a:pathLst>
          </a:custGeom>
          <a:solidFill>
            <a:srgbClr val="E4E7ED"/>
          </a:solidFill>
          <a:ln w="12700">
            <a:solidFill>
              <a:srgbClr val="E4E7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37960" y="146304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4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37960" y="1847088"/>
            <a:ext cx="5285232" cy="0"/>
          </a:xfrm>
          <a:prstGeom prst="line">
            <a:avLst/>
          </a:prstGeom>
          <a:noFill/>
          <a:ln w="19050">
            <a:solidFill>
              <a:srgbClr val="2D3E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7960" y="1847088"/>
            <a:ext cx="5285232" cy="46634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11112" y="1938528"/>
            <a:ext cx="548640" cy="2139696"/>
          </a:xfrm>
          <a:prstGeom prst="rect">
            <a:avLst/>
          </a:prstGeom>
          <a:solidFill>
            <a:srgbClr val="2D3E6E"/>
          </a:solidFill>
          <a:ln w="12700">
            <a:solidFill>
              <a:srgbClr val="2D3E6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11112" y="1938528"/>
            <a:ext cx="5486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롯데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214616" y="1938528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14616" y="19385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전환율 제고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7214616" y="24140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1·3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677656" y="1938528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b="1" u="sng" dirty="0">
                <a:solidFill>
                  <a:srgbClr val="222222"/>
                </a:solidFill>
                <a:uFill>
                  <a:solidFill>
                    <a:srgbClr val="E0262B"/>
                  </a:solidFill>
                </a:u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공동 발의·투자로 본사업·운영 전환율 향상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Hypercare 이후 현업 자체 발의 과제 확대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677656" y="2642616"/>
            <a:ext cx="3072384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7214616" y="2670048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214616" y="26700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효율화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가시화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7214616" y="3145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4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8677656" y="2670048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포트폴리오 리뷰로 저성과 과제 개선·중단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ROI 기반 투자 Gate(G2) 의사결정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677656" y="3374136"/>
            <a:ext cx="3072384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7214616" y="3401568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214616" y="34015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공통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기반 확보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7214616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2·3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8677656" y="3401568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데이터·MCP 표준으로 계열사 중복 투자 방지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Asset 활용으로 계열사 확산 가속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611112" y="4206240"/>
            <a:ext cx="548640" cy="2139696"/>
          </a:xfrm>
          <a:prstGeom prst="rect">
            <a:avLst/>
          </a:prstGeom>
          <a:solidFill>
            <a:srgbClr val="4767A3"/>
          </a:solidFill>
          <a:ln w="12700">
            <a:solidFill>
              <a:srgbClr val="4767A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611112" y="4206240"/>
            <a:ext cx="5486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7214616" y="4206240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14616" y="42062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사업 모델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7214616" y="46817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6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1·4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8677656" y="420624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b="1" u="sng" dirty="0">
                <a:solidFill>
                  <a:srgbClr val="222222"/>
                </a:solidFill>
                <a:uFill>
                  <a:solidFill>
                    <a:srgbClr val="E0262B"/>
                  </a:solidFill>
                </a:u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일회성 컨설팅 → 실행·운영 지속형 사업으로 확장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컨설팅–구축–운영 연계 수주 구조 확보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677656" y="4910328"/>
            <a:ext cx="3072384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7214616" y="4937760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214616" y="49377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Biz+Eng+Ops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내재화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214616" y="54132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6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1·2·3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8677656" y="493776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FD+PRD 결합으로 문제정의~구축 일괄 수행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Ops 표준(드리프트·비용 관리) 운영 역량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677656" y="5641848"/>
            <a:ext cx="3072384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7214616" y="5669280"/>
            <a:ext cx="1371600" cy="676656"/>
          </a:xfrm>
          <a:prstGeom prst="rect">
            <a:avLst/>
          </a:prstGeom>
          <a:solidFill>
            <a:srgbClr val="CDD5E5"/>
          </a:solidFill>
          <a:ln w="12700">
            <a:solidFill>
              <a:srgbClr val="CDD5E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214616" y="5669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 기반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경쟁력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7214616" y="6144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67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성공요인 3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8677656" y="566928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Agent·Connector Asset으로 납기·원가 절감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레퍼런스 기반 대외 사업 확장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2026-10-15T00:28:18Z</dcterms:created>
  <dcterms:modified xsi:type="dcterms:W3CDTF">2026-10-15T00:28:18Z</dcterms:modified>
</cp:coreProperties>
</file>