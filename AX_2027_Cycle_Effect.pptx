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AX 전환 선순환 업무 체계 및 기대효과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868680"/>
            <a:ext cx="12188952" cy="0"/>
          </a:xfrm>
          <a:prstGeom prst="line">
            <a:avLst/>
          </a:prstGeom>
          <a:noFill/>
          <a:ln w="12700">
            <a:solidFill>
              <a:srgbClr val="C8C8C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AX 전환 4대 성공요인을 FDE 선순환 업무 체계로 내재화하여, 롯데그룹은 AI 실행 성과를, LIT는 지속형 AX 사업 모델을 확보함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760720" cy="384048"/>
          </a:xfrm>
          <a:prstGeom prst="homePlate">
            <a:avLst/>
          </a:prstGeom>
          <a:solidFill>
            <a:srgbClr val="2F4A82"/>
          </a:solidFill>
          <a:ln w="12700">
            <a:solidFill>
              <a:srgbClr val="2F4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630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AX 업무 체계 (선순환 구조)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847088"/>
            <a:ext cx="576072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D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64792" y="2267712"/>
            <a:ext cx="3328416" cy="3328416"/>
          </a:xfrm>
          <a:prstGeom prst="blockArc">
            <a:avLst>
              <a:gd name="adj1" fmla="val 14580000"/>
              <a:gd name="adj2" fmla="val 17820000"/>
              <a:gd name="adj3" fmla="val 23626"/>
            </a:avLst>
          </a:prstGeom>
          <a:solidFill>
            <a:srgbClr val="2D3E6E"/>
          </a:solidFill>
          <a:ln w="12700">
            <a:solidFill>
              <a:srgbClr val="2D3E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88920" y="2414016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현장 Embed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rot="1800000">
            <a:off x="3963924" y="2712316"/>
            <a:ext cx="201168" cy="237744"/>
          </a:xfrm>
          <a:prstGeom prst="chevron">
            <a:avLst/>
          </a:prstGeom>
          <a:solidFill>
            <a:srgbClr val="9AA6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64792" y="2267712"/>
            <a:ext cx="3328416" cy="3328416"/>
          </a:xfrm>
          <a:prstGeom prst="blockArc">
            <a:avLst>
              <a:gd name="adj1" fmla="val 18180000"/>
              <a:gd name="adj2" fmla="val 21420000"/>
              <a:gd name="adj3" fmla="val 23626"/>
            </a:avLst>
          </a:prstGeom>
          <a:solidFill>
            <a:srgbClr val="2D3E6E"/>
          </a:solidFill>
          <a:ln w="12700">
            <a:solidFill>
              <a:srgbClr val="2D3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89652" y="3049524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업무 재설계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KPI 합의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599432" y="3813048"/>
            <a:ext cx="201168" cy="237744"/>
          </a:xfrm>
          <a:prstGeom prst="chevron">
            <a:avLst/>
          </a:prstGeom>
          <a:solidFill>
            <a:srgbClr val="9AA6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64792" y="2267712"/>
            <a:ext cx="3328416" cy="3328416"/>
          </a:xfrm>
          <a:prstGeom prst="blockArc">
            <a:avLst>
              <a:gd name="adj1" fmla="val 180000"/>
              <a:gd name="adj2" fmla="val 3420000"/>
              <a:gd name="adj3" fmla="val 23626"/>
            </a:avLst>
          </a:prstGeom>
          <a:solidFill>
            <a:srgbClr val="4767A3"/>
          </a:solidFill>
          <a:ln w="12700">
            <a:solidFill>
              <a:srgbClr val="4767A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89652" y="4320540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Data·Infra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Readiness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 rot="9000000">
            <a:off x="3963924" y="4913780"/>
            <a:ext cx="201168" cy="237744"/>
          </a:xfrm>
          <a:prstGeom prst="chevron">
            <a:avLst/>
          </a:prstGeom>
          <a:solidFill>
            <a:srgbClr val="9AA6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64792" y="2267712"/>
            <a:ext cx="3328416" cy="3328416"/>
          </a:xfrm>
          <a:prstGeom prst="blockArc">
            <a:avLst>
              <a:gd name="adj1" fmla="val 3780000"/>
              <a:gd name="adj2" fmla="val 7020000"/>
              <a:gd name="adj3" fmla="val 23626"/>
            </a:avLst>
          </a:prstGeom>
          <a:solidFill>
            <a:srgbClr val="4767A3"/>
          </a:solidFill>
          <a:ln w="12700">
            <a:solidFill>
              <a:srgbClr val="4767A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88920" y="4956048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구축·검증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rot="12600000">
            <a:off x="2692908" y="4913780"/>
            <a:ext cx="201168" cy="237744"/>
          </a:xfrm>
          <a:prstGeom prst="chevron">
            <a:avLst/>
          </a:prstGeom>
          <a:solidFill>
            <a:srgbClr val="9AA6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64792" y="2267712"/>
            <a:ext cx="3328416" cy="3328416"/>
          </a:xfrm>
          <a:prstGeom prst="blockArc">
            <a:avLst>
              <a:gd name="adj1" fmla="val 7380000"/>
              <a:gd name="adj2" fmla="val 10620000"/>
              <a:gd name="adj3" fmla="val 23626"/>
            </a:avLst>
          </a:prstGeom>
          <a:solidFill>
            <a:srgbClr val="6A80B3"/>
          </a:solidFill>
          <a:ln w="12700">
            <a:solidFill>
              <a:srgbClr val="6A80B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8188" y="4320540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운영 이관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안착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rot="16200000">
            <a:off x="2057400" y="3813048"/>
            <a:ext cx="201168" cy="237744"/>
          </a:xfrm>
          <a:prstGeom prst="chevron">
            <a:avLst/>
          </a:prstGeom>
          <a:solidFill>
            <a:srgbClr val="9AA6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64792" y="2267712"/>
            <a:ext cx="3328416" cy="3328416"/>
          </a:xfrm>
          <a:prstGeom prst="blockArc">
            <a:avLst>
              <a:gd name="adj1" fmla="val 10980000"/>
              <a:gd name="adj2" fmla="val 14220000"/>
              <a:gd name="adj3" fmla="val 23626"/>
            </a:avLst>
          </a:prstGeom>
          <a:solidFill>
            <a:srgbClr val="6A80B3"/>
          </a:solidFill>
          <a:ln w="12700">
            <a:solidFill>
              <a:srgbClr val="6A80B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688188" y="3049524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자산화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확산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rot="19800000">
            <a:off x="2692908" y="2712316"/>
            <a:ext cx="201168" cy="237744"/>
          </a:xfrm>
          <a:prstGeom prst="chevron">
            <a:avLst/>
          </a:prstGeom>
          <a:solidFill>
            <a:srgbClr val="9AA6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09344" y="2112264"/>
            <a:ext cx="3639312" cy="3639312"/>
          </a:xfrm>
          <a:prstGeom prst="blockArc">
            <a:avLst>
              <a:gd name="adj1" fmla="val 14580000"/>
              <a:gd name="adj2" fmla="val 21420000"/>
              <a:gd name="adj3" fmla="val 2010"/>
            </a:avLst>
          </a:prstGeom>
          <a:solidFill>
            <a:srgbClr val="2D3E6E"/>
          </a:solidFill>
          <a:ln w="12700">
            <a:solidFill>
              <a:srgbClr val="2D3E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09344" y="2112264"/>
            <a:ext cx="3639312" cy="3639312"/>
          </a:xfrm>
          <a:prstGeom prst="blockArc">
            <a:avLst>
              <a:gd name="adj1" fmla="val 180000"/>
              <a:gd name="adj2" fmla="val 7020000"/>
              <a:gd name="adj3" fmla="val 2010"/>
            </a:avLst>
          </a:prstGeom>
          <a:solidFill>
            <a:srgbClr val="4767A3"/>
          </a:solidFill>
          <a:ln w="12700">
            <a:solidFill>
              <a:srgbClr val="4767A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09344" y="2112264"/>
            <a:ext cx="3639312" cy="3639312"/>
          </a:xfrm>
          <a:prstGeom prst="blockArc">
            <a:avLst>
              <a:gd name="adj1" fmla="val 7380000"/>
              <a:gd name="adj2" fmla="val 14220000"/>
              <a:gd name="adj3" fmla="val 2010"/>
            </a:avLst>
          </a:prstGeom>
          <a:solidFill>
            <a:srgbClr val="6A80B3"/>
          </a:solidFill>
          <a:ln w="12700">
            <a:solidFill>
              <a:srgbClr val="6A80B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42616" y="3145536"/>
            <a:ext cx="1572768" cy="15727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26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697480" y="320040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FDE 조직</a:t>
            </a:r>
            <a:endParaRPr lang="en-US" sz="9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0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상시 가치 측정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KPI·ROI 실측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다음 사이클 반영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62272" y="1938528"/>
            <a:ext cx="1600200" cy="274320"/>
          </a:xfrm>
          <a:prstGeom prst="rect">
            <a:avLst/>
          </a:prstGeom>
          <a:solidFill>
            <a:srgbClr val="2D3E6E"/>
          </a:solidFill>
          <a:ln w="12700">
            <a:solidFill>
              <a:srgbClr val="2D3E6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17136" y="193852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 현장 기반 문제정의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462272" y="2212848"/>
            <a:ext cx="1600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D3E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35424" y="2212848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 상주 문제 발굴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KPI·ROI 사전 합의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462272" y="5248656"/>
            <a:ext cx="1600200" cy="274320"/>
          </a:xfrm>
          <a:prstGeom prst="rect">
            <a:avLst/>
          </a:prstGeom>
          <a:solidFill>
            <a:srgbClr val="4767A3"/>
          </a:solidFill>
          <a:ln w="12700">
            <a:solidFill>
              <a:srgbClr val="4767A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17136" y="5248656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Data&amp;Infra Ready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62272" y="5522976"/>
            <a:ext cx="1600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767A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35424" y="5522976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AI-Ready Data 정제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MCP·Connector 확보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5248656"/>
            <a:ext cx="1600200" cy="274320"/>
          </a:xfrm>
          <a:prstGeom prst="rect">
            <a:avLst/>
          </a:prstGeom>
          <a:solidFill>
            <a:srgbClr val="6A80B3"/>
          </a:solidFill>
          <a:ln w="12700">
            <a:solidFill>
              <a:srgbClr val="6A80B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2064" y="5248656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운영 안착·자산화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57200" y="5522976"/>
            <a:ext cx="1600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A80B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0352" y="5522976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RACI·Hypercare 이관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재사용 Asset 축적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193852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성공요인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215798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1~3 : 외곽 그룹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: 중심 Hub (전 단계 공통)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" y="6053328"/>
            <a:ext cx="5577840" cy="365760"/>
          </a:xfrm>
          <a:prstGeom prst="rect">
            <a:avLst/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60533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3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 조직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FDE 공동 스쿼드 = FD (문제정의·KPI·운영모델) + PRD (Data·Agent 구축·운영 이관)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126480" y="1847088"/>
            <a:ext cx="411480" cy="4663440"/>
          </a:xfrm>
          <a:custGeom>
            <a:avLst/>
            <a:gdLst/>
            <a:ahLst/>
            <a:cxnLst/>
            <a:rect l="l" t="t" r="r" b="b"/>
            <a:pathLst>
              <a:path w="411480" h="4663440">
                <a:moveTo>
                  <a:pt x="0" y="1463040"/>
                </a:moveTo>
                <a:lnTo>
                  <a:pt x="411480" y="0"/>
                </a:lnTo>
                <a:lnTo>
                  <a:pt x="411480" y="4663440"/>
                </a:lnTo>
                <a:lnTo>
                  <a:pt x="0" y="3200400"/>
                </a:lnTo>
                <a:close/>
              </a:path>
            </a:pathLst>
          </a:custGeom>
          <a:solidFill>
            <a:srgbClr val="E4E7ED"/>
          </a:solidFill>
          <a:ln w="12700">
            <a:solidFill>
              <a:srgbClr val="E4E7ED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537960" y="1463040"/>
            <a:ext cx="5285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기대효과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537960" y="1847088"/>
            <a:ext cx="5285232" cy="0"/>
          </a:xfrm>
          <a:prstGeom prst="line">
            <a:avLst/>
          </a:prstGeom>
          <a:noFill/>
          <a:ln w="19050">
            <a:solidFill>
              <a:srgbClr val="2D3E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37960" y="1847088"/>
            <a:ext cx="5285232" cy="4663440"/>
          </a:xfrm>
          <a:prstGeom prst="rect">
            <a:avLst/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611112" y="1938528"/>
            <a:ext cx="548640" cy="2139696"/>
          </a:xfrm>
          <a:prstGeom prst="rect">
            <a:avLst/>
          </a:prstGeom>
          <a:solidFill>
            <a:srgbClr val="2D3E6E"/>
          </a:solidFill>
          <a:ln w="12700">
            <a:solidFill>
              <a:srgbClr val="2D3E6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611112" y="1938528"/>
            <a:ext cx="54864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롯데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7214616" y="1938528"/>
            <a:ext cx="1371600" cy="676656"/>
          </a:xfrm>
          <a:prstGeom prst="rect">
            <a:avLst/>
          </a:prstGeom>
          <a:solidFill>
            <a:srgbClr val="CDD5E5"/>
          </a:solidFill>
          <a:ln w="12700">
            <a:solidFill>
              <a:srgbClr val="CDD5E5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214616" y="193852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과제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전환율 제고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7214616" y="24140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3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성공요인 1·3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8677656" y="1938528"/>
            <a:ext cx="3072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b="1" u="sng" dirty="0">
                <a:solidFill>
                  <a:srgbClr val="222222"/>
                </a:solidFill>
                <a:uFill>
                  <a:solidFill>
                    <a:srgbClr val="E0262B"/>
                  </a:solidFill>
                </a:u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발굴 → 본사업·운영 전환율 향상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기반 문제정의로 실효성 높은 과제 선정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677656" y="2642616"/>
            <a:ext cx="3072384" cy="0"/>
          </a:xfrm>
          <a:prstGeom prst="line">
            <a:avLst/>
          </a:prstGeom>
          <a:noFill/>
          <a:ln w="9525">
            <a:solidFill>
              <a:srgbClr val="BFC6D4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7214616" y="2670048"/>
            <a:ext cx="1371600" cy="676656"/>
          </a:xfrm>
          <a:prstGeom prst="rect">
            <a:avLst/>
          </a:prstGeom>
          <a:solidFill>
            <a:srgbClr val="CDD5E5"/>
          </a:solidFill>
          <a:ln w="12700">
            <a:solidFill>
              <a:srgbClr val="CDD5E5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214616" y="267004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효율화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 가시화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7214616" y="314553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3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성공요인 4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8677656" y="2670048"/>
            <a:ext cx="3072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KPI·ROI 상시 측정으로 투자 의사결정 근거 확보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 기반 과제 포트폴리오 관리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8677656" y="3374136"/>
            <a:ext cx="3072384" cy="0"/>
          </a:xfrm>
          <a:prstGeom prst="line">
            <a:avLst/>
          </a:prstGeom>
          <a:noFill/>
          <a:ln w="9525">
            <a:solidFill>
              <a:srgbClr val="BFC6D4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7214616" y="3401568"/>
            <a:ext cx="1371600" cy="676656"/>
          </a:xfrm>
          <a:prstGeom prst="rect">
            <a:avLst/>
          </a:prstGeom>
          <a:solidFill>
            <a:srgbClr val="CDD5E5"/>
          </a:solidFill>
          <a:ln w="12700">
            <a:solidFill>
              <a:srgbClr val="CDD5E5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214616" y="340156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공통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AX 기반 확보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7214616" y="38770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3E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성공요인 2·3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8677656" y="3401568"/>
            <a:ext cx="3072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데이터·MCP 표준으로 계열사 중복 투자 방지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재사용 Asset 활용으로 계열사 확산 가속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611112" y="4206240"/>
            <a:ext cx="548640" cy="2139696"/>
          </a:xfrm>
          <a:prstGeom prst="rect">
            <a:avLst/>
          </a:prstGeom>
          <a:solidFill>
            <a:srgbClr val="4767A3"/>
          </a:solidFill>
          <a:ln w="12700">
            <a:solidFill>
              <a:srgbClr val="4767A3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611112" y="4206240"/>
            <a:ext cx="54864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LIT</a:t>
            </a:r>
            <a:endParaRPr lang="en-US" sz="1250" dirty="0"/>
          </a:p>
        </p:txBody>
      </p:sp>
      <p:sp>
        <p:nvSpPr>
          <p:cNvPr id="69" name="Shape 67"/>
          <p:cNvSpPr/>
          <p:nvPr/>
        </p:nvSpPr>
        <p:spPr>
          <a:xfrm>
            <a:off x="7214616" y="4206240"/>
            <a:ext cx="1371600" cy="676656"/>
          </a:xfrm>
          <a:prstGeom prst="rect">
            <a:avLst/>
          </a:prstGeom>
          <a:solidFill>
            <a:srgbClr val="CDD5E5"/>
          </a:solidFill>
          <a:ln w="12700">
            <a:solidFill>
              <a:srgbClr val="CDD5E5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7214616" y="420624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AX 사업 모델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7214616" y="468172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767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성공요인 1·4</a:t>
            </a:r>
            <a:endParaRPr lang="en-US" sz="800" dirty="0"/>
          </a:p>
        </p:txBody>
      </p:sp>
      <p:sp>
        <p:nvSpPr>
          <p:cNvPr id="72" name="Text 70"/>
          <p:cNvSpPr txBox="1"/>
          <p:nvPr/>
        </p:nvSpPr>
        <p:spPr>
          <a:xfrm>
            <a:off x="8677656" y="4206240"/>
            <a:ext cx="3072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b="1" u="sng" dirty="0">
                <a:solidFill>
                  <a:srgbClr val="222222"/>
                </a:solidFill>
                <a:uFill>
                  <a:solidFill>
                    <a:srgbClr val="E0262B"/>
                  </a:solidFill>
                </a:u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일회성 컨설팅 → 실행·운영 지속형 사업으로 확장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컨설팅–구축–운영 연계 수주 구조 확보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8677656" y="4910328"/>
            <a:ext cx="3072384" cy="0"/>
          </a:xfrm>
          <a:prstGeom prst="line">
            <a:avLst/>
          </a:prstGeom>
          <a:noFill/>
          <a:ln w="9525">
            <a:solidFill>
              <a:srgbClr val="BFC6D4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7214616" y="4937760"/>
            <a:ext cx="1371600" cy="676656"/>
          </a:xfrm>
          <a:prstGeom prst="rect">
            <a:avLst/>
          </a:prstGeom>
          <a:solidFill>
            <a:srgbClr val="CDD5E5"/>
          </a:solidFill>
          <a:ln w="12700">
            <a:solidFill>
              <a:srgbClr val="CDD5E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214616" y="493776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Biz+Engineering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역량 내재화</a:t>
            </a:r>
            <a:endParaRPr lang="en-US" sz="1050" dirty="0"/>
          </a:p>
        </p:txBody>
      </p:sp>
      <p:sp>
        <p:nvSpPr>
          <p:cNvPr id="76" name="Text 74"/>
          <p:cNvSpPr txBox="1"/>
          <p:nvPr/>
        </p:nvSpPr>
        <p:spPr>
          <a:xfrm>
            <a:off x="7214616" y="541324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767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성공요인 1·2</a:t>
            </a:r>
            <a:endParaRPr lang="en-US" sz="800" dirty="0"/>
          </a:p>
        </p:txBody>
      </p:sp>
      <p:sp>
        <p:nvSpPr>
          <p:cNvPr id="77" name="Text 75"/>
          <p:cNvSpPr txBox="1"/>
          <p:nvPr/>
        </p:nvSpPr>
        <p:spPr>
          <a:xfrm>
            <a:off x="8677656" y="4937760"/>
            <a:ext cx="3072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FD+PRD 결합으로 문제정의~구축 일괄 수행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 Readiness·MCP 구축 역량 축적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8677656" y="5641848"/>
            <a:ext cx="3072384" cy="0"/>
          </a:xfrm>
          <a:prstGeom prst="line">
            <a:avLst/>
          </a:prstGeom>
          <a:noFill/>
          <a:ln w="9525">
            <a:solidFill>
              <a:srgbClr val="BFC6D4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7214616" y="5669280"/>
            <a:ext cx="1371600" cy="676656"/>
          </a:xfrm>
          <a:prstGeom prst="rect">
            <a:avLst/>
          </a:prstGeom>
          <a:solidFill>
            <a:srgbClr val="CDD5E5"/>
          </a:solidFill>
          <a:ln w="12700">
            <a:solidFill>
              <a:srgbClr val="CDD5E5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7214616" y="566928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Asset 기반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 경쟁력</a:t>
            </a:r>
            <a:endParaRPr lang="en-US" sz="1050" dirty="0"/>
          </a:p>
        </p:txBody>
      </p:sp>
      <p:sp>
        <p:nvSpPr>
          <p:cNvPr id="81" name="Text 79"/>
          <p:cNvSpPr txBox="1"/>
          <p:nvPr/>
        </p:nvSpPr>
        <p:spPr>
          <a:xfrm>
            <a:off x="7214616" y="614476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767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성공요인 3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8677656" y="5669280"/>
            <a:ext cx="3072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Agent·Connector Asset으로 납기·원가 절감</a:t>
            </a:r>
            <a:endParaRPr lang="en-US" sz="100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 레퍼런스 기반 대외 사업 확장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2026-10-14T23:36:32Z</dcterms:created>
  <dcterms:modified xsi:type="dcterms:W3CDTF">2026-10-14T23:36:32Z</dcterms:modified>
</cp:coreProperties>
</file>