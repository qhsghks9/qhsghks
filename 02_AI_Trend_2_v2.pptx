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5214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02. 주요 현황 분석 _ AI Trend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1288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활용 목적이 '비용 절감'에서 '고객 가치와 매출 성장'으로 확장되고 있으며, 테마파크도 기존 고객·IP·상품의 가치를 AI로 극대화하는 방향으로 진화하고 있음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72768"/>
            <a:ext cx="5715000" cy="38404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가치창출의 변화</a:t>
            </a:r>
          </a:p>
        </p:txBody>
      </p:sp>
      <p:pic>
        <p:nvPicPr>
          <p:cNvPr id="5" name="Picture 4" descr="ic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17320" y="2084831"/>
            <a:ext cx="214884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AS-IS </a:t>
            </a:r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(효율중심 AI)</a:t>
            </a:r>
          </a:p>
          <a:p>
            <a:pPr algn="ctr"/>
            <a:r>
              <a:rPr sz="115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비용절감 · 생산성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084831"/>
            <a:ext cx="2148840" cy="594360"/>
          </a:xfrm>
          <a:prstGeom prst="rect">
            <a:avLst/>
          </a:prstGeom>
          <a:solidFill>
            <a:srgbClr val="FBE9E9"/>
          </a:solidFill>
          <a:ln w="12700">
            <a:solidFill>
              <a:srgbClr val="E6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 </a:t>
            </a:r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(가치창출 AI)</a:t>
            </a:r>
          </a:p>
          <a:p>
            <a:pPr algn="ctr"/>
            <a:r>
              <a:rPr sz="115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매출 · 가치 성장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93592" y="2212848"/>
            <a:ext cx="228600" cy="36576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2770632"/>
            <a:ext cx="21488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“AI로 비용을 줄이는</a:t>
            </a:r>
          </a:p>
          <a:p>
            <a:pPr algn="ctr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효율화 도구”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770632"/>
            <a:ext cx="21488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“AI로 고객 가치를 키우는</a:t>
            </a:r>
          </a:p>
          <a:p>
            <a:pPr algn="ctr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성장 엔진”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11880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611880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연령·세그먼트별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일괄 프로모션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630168" y="3776472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3611880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실시간 맥락 기반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1:1 초개인화 제안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97096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197096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고정 가격,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시즌별 할인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3630168" y="4361688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4197096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수요 연동 가격 ·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상품 조합 최적화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82312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IP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4782312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캐릭터 관람,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정형화된 굿즈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3630168" y="4946904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4782312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캐릭터와 대화,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맞춤 콘텐츠·굿즈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67528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5367528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방문 당일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파크 내 경험 중심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630168" y="5532120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0" y="5367528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방문 전/후 여정 연결,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재방문 유도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952744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5952744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포털 검색·OTA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경유 예약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3630168" y="6117336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5952744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쇼핑 에이전트가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검색·비교·예약 대행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572768"/>
            <a:ext cx="56235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AS-IS vs TO-BE 고객경험 비교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0" y="1993392"/>
            <a:ext cx="5623560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0" y="2103120"/>
            <a:ext cx="562356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157984"/>
            <a:ext cx="5257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 u="none">
                <a:solidFill>
                  <a:srgbClr val="FF5A5A"/>
                </a:solidFill>
                <a:latin typeface="맑은 고딕"/>
                <a:ea typeface="맑은 고딕"/>
                <a:cs typeface="맑은 고딕"/>
              </a:rPr>
              <a:t>VALUE CREATION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59152"/>
            <a:ext cx="5257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'고객 한 명의 가치'를 키우는 시대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670048"/>
            <a:ext cx="5257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0" i="0" u="none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고객 접점은 방문 당일 → 전 여정, 제안 단위는 세그먼트 → 개인으로 이동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127248"/>
            <a:ext cx="5623560" cy="768096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3127248"/>
            <a:ext cx="1325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+3,500</a:t>
            </a:r>
            <a:r>
              <a:rPr sz="13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191256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고객 접점  |  </a:t>
            </a:r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AI를 거쳐 들어오는 여행 고객 급증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483864"/>
            <a:ext cx="4023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생성형 AI 경유 美 여행 사이트 트래픽 3,500%↑('25.7), AI 유입 고객 체류시간 70%↑</a:t>
            </a:r>
            <a:r>
              <a:rPr sz="850" b="0" i="1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  (Adobe Analytics)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968496"/>
            <a:ext cx="5623560" cy="768096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3968496"/>
            <a:ext cx="1325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2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71</a:t>
            </a:r>
            <a:r>
              <a:rPr sz="13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032504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제안 단위  |  </a:t>
            </a:r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고객은 '나에게 맞춘' 제안을 기대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325112"/>
            <a:ext cx="4023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소비자 71% 개인화 기대·76% 부재 시 불만 / 개인화 시 매출 10~15%↑</a:t>
            </a:r>
            <a:r>
              <a:rPr sz="850" b="0" i="1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  (McKinsey, 2021)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809744"/>
            <a:ext cx="5623560" cy="768096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4809744"/>
            <a:ext cx="1325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2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+2~5</a:t>
            </a:r>
            <a:r>
              <a:rPr sz="13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873752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가격 정책  |  </a:t>
            </a:r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수요 연동 가격으로 매출·마진 개선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166359"/>
            <a:ext cx="4023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다이내믹 프라이싱 도입 시 매출 2~5%·마진 5~10% 개선 / USJ '19.1 도입</a:t>
            </a:r>
            <a:r>
              <a:rPr sz="850" b="0" i="1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  (McKinsey, 2022)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650992"/>
            <a:ext cx="5623560" cy="768096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5650992"/>
            <a:ext cx="1325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2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75</a:t>
            </a:r>
            <a:r>
              <a:rPr sz="13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715000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IP 활용  |  </a:t>
            </a:r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캐릭터와 '대화'하는 새로운 IP 소비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6007607"/>
            <a:ext cx="4023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Character.AI 이용자 하루 평균 75분 대화, 월 이용자 약 2,000만 명</a:t>
            </a:r>
            <a:r>
              <a:rPr sz="850" b="0" i="1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  (Sacra, 2025.12)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116128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출처: Adobe Analytics 'Generative AI Boosts Travel Planning'(2025.7), McKinsey 'The value of getting personalization right—or wrong—is multiplying'(2021), McKinsey 리테일 다이내믹 프라이싱 분석(2022), 니혼게이자이(USJ), Sacra 'Character.AI'(2025.12)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