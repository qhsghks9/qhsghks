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ca189300-0f94-f870-9cb3-b65ec289870c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구조: 세 번째 참고 장표(To Do List) 형식 - 진회색 배너 + 라벨/불릿 블록 + 노란 강조 연결문. 그룹사 ①Blue Print(ex. K7) ②AX Inno Camp ③FDE 실행(FDE Pod 도식: 3단계·Gate·자산화 순환). 대외: 전략영업 고객사 Pool → 역량 진단·Tier 그룹화(시스템 현대화/데이터 수준) → Tier별 선제안(개발·SaaS·클라우드 구독 연계) → 도입 시점 AI과제 접목으로 사업 범위 확장·수주 기여. 왼쪽 표 수치는 원본 기준(과제 상세 정리 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현장의 AI과제를 실행하고, 대외 Open Door 역할 강화하여 AI적용을 지원하고자 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AI과제 정의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27048"/>
            <a:ext cx="3611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188720"/>
            <a:ext cx="7616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1527048"/>
            <a:ext cx="761695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6459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고객사 현장에서 AI과제 발굴 등 PJT 수행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17건, 대외 4건 (총 21건)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산업별 밸류체인별 실행 가능 AI과제 확보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후속 Pilot 1건, 대외 차세대사업 129억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61488"/>
          <a:ext cx="35204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02920"/>
                <a:gridCol w="502920"/>
                <a:gridCol w="594360"/>
                <a:gridCol w="713232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화학 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1" name="left-implication"/>
          <p:cNvSpPr/>
          <p:nvPr/>
        </p:nvSpPr>
        <p:spPr>
          <a:xfrm>
            <a:off x="365760" y="4892040"/>
            <a:ext cx="361188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4965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" y="5276088"/>
            <a:ext cx="3392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그룹사 컨설팅 후, 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구축·운영까지 병목 해소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필요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대외 신규 시스템 도입 시, AX 관점 내장하여 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범위 확장 및 수주 기여</a:t>
            </a:r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확대 필요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06240" y="1645920"/>
            <a:ext cx="7616952" cy="347472"/>
          </a:xfrm>
          <a:prstGeom prst="homePlate">
            <a:avLst/>
          </a:prstGeom>
          <a:solidFill>
            <a:srgbClr val="3F3F3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43400" y="1645920"/>
            <a:ext cx="7159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pPr indent="0" marL="0">
              <a:buNone/>
            </a:pPr>
            <a:r>
              <a:rPr lang="en-US" sz="115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“실행체계 수립 → 현업 참여형 과제 도출 → 현장 실행까지 책임”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206240" y="2084832"/>
            <a:ext cx="1188720" cy="91440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06240" y="208483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AX 실행체계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수립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(Blue Print)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94960" y="2084832"/>
            <a:ext cx="2564892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04688" y="2246376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32704" y="2139696"/>
            <a:ext cx="22539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그룹사 궁극적 AX 지향점 정의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04688" y="251460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32704" y="2407920"/>
            <a:ext cx="22539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실행방안 및 로드맵 수립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04688" y="2782824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32704" y="2676144"/>
            <a:ext cx="22539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ex) K7 AX Blue Print 설계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69580" y="2084832"/>
            <a:ext cx="1188720" cy="91440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69580" y="208483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AX Inno Camp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(AI과제도출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258300" y="2084832"/>
            <a:ext cx="2564892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68028" y="2246376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496044" y="2139696"/>
            <a:ext cx="22539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활용한 현업 참여형 과제 도출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368028" y="251460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496044" y="2407920"/>
            <a:ext cx="22539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~ Pain Point 도출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368028" y="2782824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496044" y="2676144"/>
            <a:ext cx="225399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로드맵 수립 (대내/대외 공용)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17720" y="3035808"/>
            <a:ext cx="365760" cy="274320"/>
          </a:xfrm>
          <a:prstGeom prst="downArrow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206240" y="3044952"/>
            <a:ext cx="7616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 Print·과제 로드맵 기반 → </a:t>
            </a:r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현장 실행</a:t>
            </a:r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연결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206240" y="3346704"/>
            <a:ext cx="1188720" cy="14813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206240" y="3346704"/>
            <a:ext cx="1188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FDE 실행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(현장 밀착형)</a:t>
            </a:r>
            <a:endParaRPr lang="en-US" sz="1150" dirty="0"/>
          </a:p>
        </p:txBody>
      </p:sp>
      <p:sp>
        <p:nvSpPr>
          <p:cNvPr id="38" name="fde-block"/>
          <p:cNvSpPr/>
          <p:nvPr/>
        </p:nvSpPr>
        <p:spPr>
          <a:xfrm>
            <a:off x="5394960" y="3346704"/>
            <a:ext cx="64282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32120" y="3392424"/>
            <a:ext cx="6153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AI과제 도출~운영 안착까지 책임지는 </a:t>
            </a:r>
            <a:pPr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밀착형 실행 (FDE Pod)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532120" y="3621024"/>
            <a:ext cx="6153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AX컨설턴트 + 현업 + 엔지니어 Pod 상주 투입  |  Biz(업무 재설계) · ERP(Data·인프라) 협업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504688" y="3858768"/>
            <a:ext cx="2130552" cy="420624"/>
          </a:xfrm>
          <a:prstGeom prst="homePlate">
            <a:avLst/>
          </a:prstGeom>
          <a:solidFill>
            <a:srgbClr val="E7E6E6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14416" y="38587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현장 문제 정의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업무/목표 재설계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669280" y="4325112"/>
            <a:ext cx="170992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0" y="432511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① KPI·Baseline 합의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543800" y="3858768"/>
            <a:ext cx="2130552" cy="420624"/>
          </a:xfrm>
          <a:prstGeom prst="chevron">
            <a:avLst/>
          </a:prstGeom>
          <a:solidFill>
            <a:srgbClr val="E7E6E6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99832" y="38587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Data/인프라 준비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구현 및 검증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708392" y="4325112"/>
            <a:ext cx="170992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08392" y="432511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② MVP 검증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9582912" y="3858768"/>
            <a:ext cx="2130552" cy="420624"/>
          </a:xfrm>
          <a:prstGeom prst="chevron">
            <a:avLst/>
          </a:prstGeom>
          <a:solidFill>
            <a:srgbClr val="E7E6E6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838944" y="385876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전환 및 고도화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변화관리 및 확산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9747504" y="4325112"/>
            <a:ext cx="170992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747504" y="432511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③ 성과 실측 (ROI)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1347704" y="4535424"/>
            <a:ext cx="914" cy="128016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</a:ln>
        </p:spPr>
      </p:sp>
      <p:sp>
        <p:nvSpPr>
          <p:cNvPr id="54" name="Shape 51"/>
          <p:cNvSpPr/>
          <p:nvPr/>
        </p:nvSpPr>
        <p:spPr>
          <a:xfrm flipH="1">
            <a:off x="5779008" y="4663440"/>
            <a:ext cx="5568696" cy="914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</a:ln>
        </p:spPr>
      </p:sp>
      <p:sp>
        <p:nvSpPr>
          <p:cNvPr id="55" name="Shape 52"/>
          <p:cNvSpPr/>
          <p:nvPr/>
        </p:nvSpPr>
        <p:spPr>
          <a:xfrm flipV="1">
            <a:off x="5779008" y="4535424"/>
            <a:ext cx="914" cy="128016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  <a:tailEnd type="triangle"/>
          </a:ln>
        </p:spPr>
      </p:sp>
      <p:sp>
        <p:nvSpPr>
          <p:cNvPr id="56" name="Text 53"/>
          <p:cNvSpPr txBox="1"/>
          <p:nvPr/>
        </p:nvSpPr>
        <p:spPr>
          <a:xfrm>
            <a:off x="6510528" y="4562856"/>
            <a:ext cx="410565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재사용·자산화 → 다음 과제 사전 검증 및 타 계열사 유사 업무 확산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206240" y="4956048"/>
            <a:ext cx="7616952" cy="347472"/>
          </a:xfrm>
          <a:prstGeom prst="homePlate">
            <a:avLst/>
          </a:prstGeom>
          <a:solidFill>
            <a:srgbClr val="3F3F3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343400" y="4956048"/>
            <a:ext cx="7159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(Open Door)</a:t>
            </a:r>
            <a:pPr indent="0" marL="0">
              <a:buNone/>
            </a:pPr>
            <a:r>
              <a:rPr lang="en-US" sz="115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“전략영업 고객사 Pool 기반 선제안”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4206240" y="5394960"/>
            <a:ext cx="1188720" cy="923544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206240" y="5394960"/>
            <a:ext cx="11887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고객사 역량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진단·Tier화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394960" y="5394960"/>
            <a:ext cx="2564892" cy="923544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504688" y="5558028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632704" y="5449824"/>
            <a:ext cx="225399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수주(예정) 그룹사·고객사 역량 진단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504688" y="582930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632704" y="5721096"/>
            <a:ext cx="225399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현대화 / 데이터 수준 평가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504688" y="6100572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632704" y="5992368"/>
            <a:ext cx="225399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가능 수준별 Tier 그룹 구분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8069580" y="5394960"/>
            <a:ext cx="1188720" cy="923544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069580" y="5394960"/>
            <a:ext cx="11887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Tier별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선제안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9258300" y="5394960"/>
            <a:ext cx="2564892" cy="923544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368028" y="5558028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496044" y="5449824"/>
            <a:ext cx="225399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· SaaS · 클라우드 구독 사업 연계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9368028" y="582930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9496044" y="5721096"/>
            <a:ext cx="225399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시점에 AI과제 접목 제안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9368028" y="6100572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496044" y="5992368"/>
            <a:ext cx="225399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+ AI과제로 사업 범위 확대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7968996" y="5856732"/>
            <a:ext cx="91440" cy="91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8" name="Text 75"/>
          <p:cNvSpPr txBox="1"/>
          <p:nvPr/>
        </p:nvSpPr>
        <p:spPr>
          <a:xfrm>
            <a:off x="4206240" y="6355080"/>
            <a:ext cx="7616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시점에 AI과제 접목 → </a:t>
            </a:r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범위 확장 · 수주 기여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2026-10-20T08:06:30Z</dcterms:created>
  <dcterms:modified xsi:type="dcterms:W3CDTF">2026-10-20T08:06:30Z</dcterms:modified>
</cp:coreProperties>
</file>