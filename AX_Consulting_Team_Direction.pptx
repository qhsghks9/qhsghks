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ext INWAYIN" id="{f387f169-248a-02b0-ac64-17d593ccadd2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구조: 세 번째 참고 장표(To Do List) 형식 - 진회색 배너 + 라벨/불릿 블록 + 노란 강조 연결문. 그룹사 ①Blue Print(ex. K7) ②AX Inno Camp ③FDE 실행(FDE Pod 도식: 3단계·Gate·자산화 순환). 대외: 그룹사 검증 사례(Client Zero) 레퍼런스 기반 전략영업 고객사 선제안. 역량 진단·Tier화(Tier1 차세대시스템 도입 예정-공항철도 등, 1년 내 완료 / Tier2 데이터플랫폼·클라우드 예정-파리크라상 등) → Tier별 선제안(AX Quick Scan 2~4주 → 시스템+AI 결합 제안·구축 → 구축 후 AI 단계별 확장 → 표준 축적·확산). KPI: 결합 수주 건수·금액. 왼쪽 표 수치는 원본 기준(과제 상세 정리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46304"/>
            <a:ext cx="1145743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46304"/>
            <a:ext cx="11457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</a:rPr>
              <a:t>3. Next INWAYIN &gt; 현장 실행 기반 AX 가속화</a:t>
            </a:r>
            <a:endParaRPr lang="en-US" sz="2600" dirty="0"/>
          </a:p>
        </p:txBody>
      </p:sp>
      <p:sp>
        <p:nvSpPr>
          <p:cNvPr id="3" name="head-message"/>
          <p:cNvSpPr txBox="1"/>
          <p:nvPr/>
        </p:nvSpPr>
        <p:spPr>
          <a:xfrm>
            <a:off x="365760" y="713232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그룹사 현장의 AI과제를 실행하고, 대외 Open Door 역할 강화하여 AI적용을 지원하고자 함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18872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산업별 AI과제 정의 역량 축적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527048"/>
            <a:ext cx="3611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06240" y="1188720"/>
            <a:ext cx="7616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및 대외 AX 실행 가속화 지원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06240" y="1527048"/>
            <a:ext cx="761695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6459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▪ 고객사 현장에서 AI과제 발굴 등 PJT 수행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그룹사 17건, 대외 4건 (총 21건)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21945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▪ 산업별 밸류체인별 실행 가능 AI과제 확보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0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그룹사 후속 Pilot 1건, 대외 차세대사업 129억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61488"/>
          <a:ext cx="352044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502920"/>
                <a:gridCol w="502920"/>
                <a:gridCol w="594360"/>
                <a:gridCol w="713232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 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 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R&amp;D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</a:tbl>
          </a:graphicData>
        </a:graphic>
      </p:graphicFrame>
      <p:sp>
        <p:nvSpPr>
          <p:cNvPr id="11" name="left-implication"/>
          <p:cNvSpPr/>
          <p:nvPr/>
        </p:nvSpPr>
        <p:spPr>
          <a:xfrm>
            <a:off x="365760" y="4892040"/>
            <a:ext cx="361188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488" y="4965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75488" y="5276088"/>
            <a:ext cx="3392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그룹사 컨설팅 후, </a:t>
            </a:r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구축·운영까지 병목 해소</a:t>
            </a:r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필요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대외 신규 시스템 도입 시, AX 관점 내장하여 </a:t>
            </a:r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범위 확장 및 수주 기여</a:t>
            </a:r>
            <a:pPr indent="0" marL="0">
              <a:spcAft>
                <a:spcPts val="1000"/>
              </a:spcAft>
              <a:buNone/>
            </a:pPr>
            <a:r>
              <a:rPr lang="en-US" sz="11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확대 필요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06240" y="1645920"/>
            <a:ext cx="7616952" cy="347472"/>
          </a:xfrm>
          <a:prstGeom prst="homePlate">
            <a:avLst/>
          </a:prstGeom>
          <a:solidFill>
            <a:srgbClr val="3F3F3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43400" y="1645920"/>
            <a:ext cx="7159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그룹사</a:t>
            </a:r>
            <a:pPr indent="0" marL="0">
              <a:buNone/>
            </a:pPr>
            <a:r>
              <a:rPr lang="en-US" sz="1150" b="1" dirty="0">
                <a:solidFill>
                  <a:srgbClr val="FFD9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“실행체계 수립 → 현업 참여형 과제 도출 → 현장 실행까지 책임”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206240" y="2084832"/>
            <a:ext cx="1188720" cy="914400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06240" y="208483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AX 실행체계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수립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(Blue Print)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394960" y="2084832"/>
            <a:ext cx="2564892" cy="9144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04688" y="2246376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32704" y="2139696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그룹사 궁극적 AX 지향점 정의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04688" y="2514600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32704" y="2407920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실행방안 및 로드맵 수립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504688" y="2782824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32704" y="2676144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ex) K7 AX Blue Print 설계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069580" y="2084832"/>
            <a:ext cx="1188720" cy="914400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69580" y="208483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AX Inno Camp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(AI과제도출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258300" y="2084832"/>
            <a:ext cx="2564892" cy="9144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368028" y="2246376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496044" y="2139696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AI를 활용한 현업 참여형 과제 도출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9368028" y="2514600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496044" y="2407920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~ Pain Point 도출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368028" y="2782824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496044" y="2676144"/>
            <a:ext cx="225399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로드맵 수립 (대내/대외 공용)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617720" y="3035808"/>
            <a:ext cx="365760" cy="274320"/>
          </a:xfrm>
          <a:prstGeom prst="downArrow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206240" y="3044952"/>
            <a:ext cx="7616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 Print·과제 로드맵 기반 → </a:t>
            </a:r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현장 실행</a:t>
            </a:r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연결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206240" y="3346704"/>
            <a:ext cx="1188720" cy="1481328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206240" y="3346704"/>
            <a:ext cx="11887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FDE 실행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(현장 밀착형)</a:t>
            </a:r>
            <a:endParaRPr lang="en-US" sz="1150" dirty="0"/>
          </a:p>
        </p:txBody>
      </p:sp>
      <p:sp>
        <p:nvSpPr>
          <p:cNvPr id="38" name="fde-block"/>
          <p:cNvSpPr/>
          <p:nvPr/>
        </p:nvSpPr>
        <p:spPr>
          <a:xfrm>
            <a:off x="5394960" y="3346704"/>
            <a:ext cx="6428232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532120" y="3392424"/>
            <a:ext cx="6153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AI과제 도출~운영 안착까지 책임지는 </a:t>
            </a:r>
            <a:pPr indent="0" marL="0">
              <a:buNone/>
            </a:pPr>
            <a:r>
              <a:rPr lang="en-US" sz="11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밀착형 실행 (FDE Pod)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532120" y="3621024"/>
            <a:ext cx="6153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AX컨설턴트 + 현업 + 엔지니어 Pod 상주 투입  |  Biz(업무 재설계) · ERP(Data·인프라) 협업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504688" y="3858768"/>
            <a:ext cx="2130552" cy="420624"/>
          </a:xfrm>
          <a:prstGeom prst="homePlate">
            <a:avLst/>
          </a:prstGeom>
          <a:solidFill>
            <a:srgbClr val="E7E6E6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14416" y="3858768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현장 문제 정의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업무/목표 재설계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669280" y="4325112"/>
            <a:ext cx="170992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8FAAD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0" y="4325112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 ① KPI·Baseline 합의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7543800" y="3858768"/>
            <a:ext cx="2130552" cy="420624"/>
          </a:xfrm>
          <a:prstGeom prst="chevron">
            <a:avLst/>
          </a:prstGeom>
          <a:solidFill>
            <a:srgbClr val="E7E6E6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99832" y="3858768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Data/인프라 준비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AI 구현 및 검증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7708392" y="4325112"/>
            <a:ext cx="170992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8FAAD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708392" y="4325112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 ② MVP 검증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9582912" y="3858768"/>
            <a:ext cx="2130552" cy="420624"/>
          </a:xfrm>
          <a:prstGeom prst="chevron">
            <a:avLst/>
          </a:prstGeom>
          <a:solidFill>
            <a:srgbClr val="E7E6E6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838944" y="3858768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운영 전환 및 고도화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변화관리 및 확산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9747504" y="4325112"/>
            <a:ext cx="170992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8FAAD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747504" y="4325112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 ③ 성과 실측 (ROI)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11347704" y="4535424"/>
            <a:ext cx="914" cy="128016"/>
          </a:xfrm>
          <a:prstGeom prst="line">
            <a:avLst/>
          </a:prstGeom>
          <a:noFill/>
          <a:ln w="15875">
            <a:solidFill>
              <a:srgbClr val="4472C4"/>
            </a:solidFill>
            <a:prstDash val="dash"/>
          </a:ln>
        </p:spPr>
      </p:sp>
      <p:sp>
        <p:nvSpPr>
          <p:cNvPr id="54" name="Shape 51"/>
          <p:cNvSpPr/>
          <p:nvPr/>
        </p:nvSpPr>
        <p:spPr>
          <a:xfrm flipH="1">
            <a:off x="5779008" y="4663440"/>
            <a:ext cx="5568696" cy="914"/>
          </a:xfrm>
          <a:prstGeom prst="line">
            <a:avLst/>
          </a:prstGeom>
          <a:noFill/>
          <a:ln w="15875">
            <a:solidFill>
              <a:srgbClr val="4472C4"/>
            </a:solidFill>
            <a:prstDash val="dash"/>
          </a:ln>
        </p:spPr>
      </p:sp>
      <p:sp>
        <p:nvSpPr>
          <p:cNvPr id="55" name="Shape 52"/>
          <p:cNvSpPr/>
          <p:nvPr/>
        </p:nvSpPr>
        <p:spPr>
          <a:xfrm flipV="1">
            <a:off x="5779008" y="4535424"/>
            <a:ext cx="914" cy="128016"/>
          </a:xfrm>
          <a:prstGeom prst="line">
            <a:avLst/>
          </a:prstGeom>
          <a:noFill/>
          <a:ln w="15875">
            <a:solidFill>
              <a:srgbClr val="4472C4"/>
            </a:solidFill>
            <a:prstDash val="dash"/>
            <a:tailEnd type="triangle"/>
          </a:ln>
        </p:spPr>
      </p:sp>
      <p:sp>
        <p:nvSpPr>
          <p:cNvPr id="56" name="Text 53"/>
          <p:cNvSpPr txBox="1"/>
          <p:nvPr/>
        </p:nvSpPr>
        <p:spPr>
          <a:xfrm>
            <a:off x="6510528" y="4562856"/>
            <a:ext cx="4105656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2F559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재사용·자산화 → 다음 과제 사전 검증 및 타 계열사 유사 업무 확산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206240" y="4956048"/>
            <a:ext cx="7616952" cy="347472"/>
          </a:xfrm>
          <a:prstGeom prst="homePlate">
            <a:avLst/>
          </a:prstGeom>
          <a:solidFill>
            <a:srgbClr val="3F3F3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343400" y="4956048"/>
            <a:ext cx="7159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대외 (Open Door)</a:t>
            </a:r>
            <a:pPr indent="0" marL="0">
              <a:buNone/>
            </a:pPr>
            <a:r>
              <a:rPr lang="en-US" sz="1150" b="1" dirty="0">
                <a:solidFill>
                  <a:srgbClr val="FFD9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“그룹사 검증 사례(Client Zero) 기반 전략영업 고객사 선제안”</a:t>
            </a:r>
            <a:endParaRPr lang="en-US" sz="1350" dirty="0"/>
          </a:p>
        </p:txBody>
      </p:sp>
      <p:sp>
        <p:nvSpPr>
          <p:cNvPr id="59" name="Shape 56"/>
          <p:cNvSpPr/>
          <p:nvPr/>
        </p:nvSpPr>
        <p:spPr>
          <a:xfrm>
            <a:off x="4206240" y="5394960"/>
            <a:ext cx="1188720" cy="923544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206240" y="5394960"/>
            <a:ext cx="118872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고객사 역량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진단·Tier화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5394960" y="5394960"/>
            <a:ext cx="2564892" cy="923544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504688" y="5558028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5632704" y="5449824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시스템·데이터 수준 진단 → Tier 구분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504688" y="5829300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32704" y="5721096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Tier1 : 차세대 도입 (공항철도 등)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5504688" y="6100572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32704" y="5992368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Tier2 : 클라우드 (파리크라상 등)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8069580" y="5394960"/>
            <a:ext cx="1188720" cy="923544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069580" y="5394960"/>
            <a:ext cx="118872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Tier별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선제안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258300" y="5394960"/>
            <a:ext cx="2564892" cy="923544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368028" y="5558028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496044" y="5449824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Quick Scan(2~4주) 과제 발굴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9368028" y="5829300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9496044" y="5721096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시스템+AI 결합 제안·구축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9368028" y="6100572"/>
            <a:ext cx="54864" cy="548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496044" y="5992368"/>
            <a:ext cx="2253996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후 AI 단계 확장·표준화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7968996" y="5856732"/>
            <a:ext cx="91440" cy="914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8" name="Text 75"/>
          <p:cNvSpPr txBox="1"/>
          <p:nvPr/>
        </p:nvSpPr>
        <p:spPr>
          <a:xfrm>
            <a:off x="4206240" y="6355080"/>
            <a:ext cx="7616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시점에 AI과제 접목 → </a:t>
            </a:r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범위 확장 · 수주 기여</a:t>
            </a:r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highlight>
                  <a:srgbClr val="FFFF00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(KPI : 결합 수주 건수·금액)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FDE">
  <a:themeElements>
    <a:clrScheme name="AX FDE">
      <a:dk1>
        <a:srgbClr val="000000"/>
      </a:dk1>
      <a:lt1>
        <a:srgbClr val="FFFFFF"/>
      </a:lt1>
      <a:dk2>
        <a:srgbClr val="1F2A44"/>
      </a:dk2>
      <a:lt2>
        <a:srgbClr val="F2F2F2"/>
      </a:lt2>
      <a:accent1>
        <a:srgbClr val="2F5597"/>
      </a:accent1>
      <a:accent2>
        <a:srgbClr val="4A5674"/>
      </a:accent2>
      <a:accent3>
        <a:srgbClr val="595959"/>
      </a:accent3>
      <a:accent4>
        <a:srgbClr val="E8ECF4"/>
      </a:accent4>
      <a:accent5>
        <a:srgbClr val="FFD966"/>
      </a:accent5>
      <a:accent6>
        <a:srgbClr val="C00000"/>
      </a:accent6>
      <a:hlink>
        <a:srgbClr val="2F5597"/>
      </a:hlink>
      <a:folHlink>
        <a:srgbClr val="4A5674"/>
      </a:folHlink>
    </a:clrScheme>
    <a:fontScheme name="AX F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현장 실행 기반 AX 가속화</dc:title>
  <dc:subject>PptxGenJS Presentation</dc:subject>
  <dc:creator>PptxGenJS</dc:creator>
  <cp:lastModifiedBy>PptxGenJS</cp:lastModifiedBy>
  <cp:revision>1</cp:revision>
  <dcterms:created xsi:type="dcterms:W3CDTF">2026-10-20T09:19:50Z</dcterms:created>
  <dcterms:modified xsi:type="dcterms:W3CDTF">2026-10-20T09:19:50Z</dcterms:modified>
</cp:coreProperties>
</file>