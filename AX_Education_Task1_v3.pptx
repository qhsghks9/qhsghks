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과제1 AX교육" id="{ed5422e3-e67d-7351-86e6-3c6853ba9d7b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거버닝: 인재개발원과 그룹 공통 AI 교육 체계를 마련하고, AX Camp 활용 교육으로 현업 주도 과제를 발굴해 AX진단·AX-PI·구축 사업으로 연계. 왼쪽: ① 그룹 공통 AI 교육(직무·계층별 교육, AX 역량 인증 제도) ② AX Camp 활용 교육(추진 목적). 오른쪽 상단: 롯데백화점 AX Camp 교육 개요(2026.10.30, 실무자 30명) 및 추진 프로세스·산출물. 오른쪽 하단: AX Camp → AX진단 → AX-PI → 구축 사업(사업부), 구축 사례는 교육 콘텐츠로 환류.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20040" y="182880"/>
            <a:ext cx="115214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20040" y="182880"/>
            <a:ext cx="11521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4. '27년 중점추진과제  &gt;  </a:t>
            </a:r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① AX 변화관리를 통한 그룹사 AX 사업화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804672"/>
            <a:ext cx="11521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인재개발원과 </a:t>
            </a:r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그룹 공통 AI 교육 체계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를 마련하고, </a:t>
            </a:r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AX Camp 활용 교육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으로 현업 주도 과제를 발굴하여 AX진단·AX-PI·구축 사업으로 이어지는 </a:t>
            </a:r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그룹사 AX 사업화 Open Door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를 마련함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463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컨설팅 AX교육 서비스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1865376"/>
            <a:ext cx="39319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26280" y="1463040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AX교육 기반 사업화 방안 (예시. 롯데백화점)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26280" y="1865376"/>
            <a:ext cx="7342632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8" name="step-1"/>
          <p:cNvSpPr/>
          <p:nvPr/>
        </p:nvSpPr>
        <p:spPr>
          <a:xfrm>
            <a:off x="320040" y="1965960"/>
            <a:ext cx="914400" cy="1225296"/>
          </a:xfrm>
          <a:prstGeom prst="flowChartOffpageConnector">
            <a:avLst/>
          </a:prstGeom>
          <a:solidFill>
            <a:schemeClr val="tx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196596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AX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교육</a:t>
            </a:r>
            <a:endParaRPr lang="en-US" sz="1400" dirty="0"/>
          </a:p>
        </p:txBody>
      </p:sp>
      <p:sp>
        <p:nvSpPr>
          <p:cNvPr id="10" name="step-2"/>
          <p:cNvSpPr/>
          <p:nvPr/>
        </p:nvSpPr>
        <p:spPr>
          <a:xfrm>
            <a:off x="320040" y="3127248"/>
            <a:ext cx="914400" cy="1225296"/>
          </a:xfrm>
          <a:prstGeom prst="flowChartOffpageConnector">
            <a:avLst/>
          </a:prstGeom>
          <a:solidFill>
            <a:schemeClr val="bg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" y="3127248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AX진단/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과제화</a:t>
            </a:r>
            <a:endParaRPr lang="en-US" sz="1100" dirty="0"/>
          </a:p>
        </p:txBody>
      </p:sp>
      <p:sp>
        <p:nvSpPr>
          <p:cNvPr id="12" name="step-3"/>
          <p:cNvSpPr/>
          <p:nvPr/>
        </p:nvSpPr>
        <p:spPr>
          <a:xfrm>
            <a:off x="320040" y="4288536"/>
            <a:ext cx="914400" cy="1225296"/>
          </a:xfrm>
          <a:prstGeom prst="flowChartOffpageConnector">
            <a:avLst/>
          </a:prstGeom>
          <a:solidFill>
            <a:schemeClr val="bg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0040" y="4288536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AX-PI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컨설팅</a:t>
            </a:r>
            <a:endParaRPr lang="en-US" sz="1100" dirty="0"/>
          </a:p>
        </p:txBody>
      </p:sp>
      <p:sp>
        <p:nvSpPr>
          <p:cNvPr id="14" name="step-4"/>
          <p:cNvSpPr/>
          <p:nvPr/>
        </p:nvSpPr>
        <p:spPr>
          <a:xfrm>
            <a:off x="320040" y="5449824"/>
            <a:ext cx="914400" cy="1225296"/>
          </a:xfrm>
          <a:prstGeom prst="flowChartOffpageConnector">
            <a:avLst/>
          </a:prstGeom>
          <a:solidFill>
            <a:schemeClr val="bg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0040" y="5449824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구축/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Quick-Win</a:t>
            </a:r>
            <a:endParaRPr lang="en-US" sz="1100" dirty="0"/>
          </a:p>
        </p:txBody>
      </p:sp>
      <p:sp>
        <p:nvSpPr>
          <p:cNvPr id="16" name="left-box-1"/>
          <p:cNvSpPr/>
          <p:nvPr/>
        </p:nvSpPr>
        <p:spPr>
          <a:xfrm>
            <a:off x="1371600" y="1965960"/>
            <a:ext cx="2880360" cy="21031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1965960"/>
            <a:ext cx="2880360" cy="384048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99616" y="2039112"/>
            <a:ext cx="237744" cy="23774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499616" y="2039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828800" y="19659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그룹 공통 AI 교육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24048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인재개발원 협업 → AX컨설팅팀 콘텐츠 제공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273405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① 직무·계층별 교육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536192" y="2980944"/>
            <a:ext cx="2624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buSzPct val="100000"/>
              <a:buChar char="•"/>
            </a:pPr>
            <a:r>
              <a:rPr lang="en-US" sz="900" dirty="0">
                <a:solidFill>
                  <a:schemeClr val="tx2"/>
                </a:solidFill>
              </a:rPr>
              <a:t>계층별 '변화 역할' 기반 AI 교육</a:t>
            </a:r>
            <a:endParaRPr lang="en-US" sz="900" dirty="0"/>
          </a:p>
          <a:p>
            <a:pPr marL="114300" indent="-114300">
              <a:buSzPct val="100000"/>
              <a:buChar char="•"/>
            </a:pPr>
            <a:r>
              <a:rPr lang="en-US" sz="900" dirty="0">
                <a:solidFill>
                  <a:schemeClr val="tx2"/>
                </a:solidFill>
              </a:rPr>
              <a:t>직무별 현장 시나리오 기반 실습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339242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② AX 역량 인증 제도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536192" y="3639312"/>
            <a:ext cx="2624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buSzPct val="100000"/>
              <a:buChar char="•"/>
            </a:pPr>
            <a:r>
              <a:rPr lang="en-US" sz="900" dirty="0">
                <a:solidFill>
                  <a:schemeClr val="tx2"/>
                </a:solidFill>
              </a:rPr>
              <a:t>4단계(이해→적용→구현→내재화) 인증</a:t>
            </a:r>
            <a:endParaRPr lang="en-US" sz="900" dirty="0"/>
          </a:p>
          <a:p>
            <a:pPr marL="114300" indent="-114300">
              <a:buSzPct val="100000"/>
              <a:buChar char="•"/>
            </a:pPr>
            <a:r>
              <a:rPr lang="en-US" sz="900" dirty="0">
                <a:solidFill>
                  <a:schemeClr val="tx2"/>
                </a:solidFill>
              </a:rPr>
              <a:t>HR 연계 임직원 AX 성장 경로 관리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811780" y="4087368"/>
            <a:ext cx="0" cy="256032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headEnd type="triangle"/>
          </a:ln>
        </p:spPr>
      </p:sp>
      <p:sp>
        <p:nvSpPr>
          <p:cNvPr id="27" name="Text 25"/>
          <p:cNvSpPr txBox="1"/>
          <p:nvPr/>
        </p:nvSpPr>
        <p:spPr>
          <a:xfrm>
            <a:off x="2884932" y="40965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accent3"/>
                </a:solidFill>
              </a:rPr>
              <a:t>현장 사례·Agent 반영</a:t>
            </a:r>
            <a:endParaRPr lang="en-US" sz="850" dirty="0"/>
          </a:p>
        </p:txBody>
      </p:sp>
      <p:sp>
        <p:nvSpPr>
          <p:cNvPr id="28" name="left-box-2"/>
          <p:cNvSpPr/>
          <p:nvPr/>
        </p:nvSpPr>
        <p:spPr>
          <a:xfrm>
            <a:off x="1371600" y="4361688"/>
            <a:ext cx="2880360" cy="224028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71600" y="4361688"/>
            <a:ext cx="2880360" cy="384048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99616" y="4434840"/>
            <a:ext cx="237744" cy="237744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499616" y="44348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828800" y="436168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AX Camp 활용 교육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463040" y="480060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그룹사 AI 니즈 → 그룹사 선제안·사업화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463040" y="5093208"/>
            <a:ext cx="2697480" cy="219456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463040" y="509320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추진 목적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463040" y="5349240"/>
            <a:ext cx="2697480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463040" y="53492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현업 주도형 AX 과제 발굴·구현 프로그램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463040" y="5660136"/>
            <a:ext cx="1321308" cy="36576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490472" y="5660136"/>
            <a:ext cx="12664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개인 AI 활용 →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조직 혁신 과제로 확장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839212" y="5660136"/>
            <a:ext cx="1321308" cy="36576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866644" y="5660136"/>
            <a:ext cx="12664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데이터 기반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설계·구현까지 경험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 rot="10800000">
            <a:off x="2702052" y="6062472"/>
            <a:ext cx="219456" cy="109728"/>
          </a:xfrm>
          <a:prstGeom prst="triangle">
            <a:avLst/>
          </a:prstGeom>
          <a:solidFill>
            <a:schemeClr val="tx1"/>
          </a:solidFill>
          <a:ln/>
        </p:spPr>
      </p:sp>
      <p:sp>
        <p:nvSpPr>
          <p:cNvPr id="43" name="Shape 41"/>
          <p:cNvSpPr/>
          <p:nvPr/>
        </p:nvSpPr>
        <p:spPr>
          <a:xfrm>
            <a:off x="1463040" y="6199632"/>
            <a:ext cx="1321308" cy="347472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490472" y="6199632"/>
            <a:ext cx="12664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3"/>
                </a:solidFill>
              </a:rPr>
              <a:t>현업 주도 AX 과제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chemeClr val="accent3"/>
                </a:solidFill>
              </a:rPr>
              <a:t>발굴 방법론 내재화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839212" y="6199632"/>
            <a:ext cx="1321308" cy="347472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866644" y="6199632"/>
            <a:ext cx="12664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3"/>
                </a:solidFill>
              </a:rPr>
              <a:t>AX진단 연계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chemeClr val="accent3"/>
                </a:solidFill>
              </a:rPr>
              <a:t>→ 사업 Open Door</a:t>
            </a:r>
            <a:endParaRPr lang="en-US" sz="850" dirty="0"/>
          </a:p>
        </p:txBody>
      </p:sp>
      <p:sp>
        <p:nvSpPr>
          <p:cNvPr id="47" name="camp-panel"/>
          <p:cNvSpPr/>
          <p:nvPr/>
        </p:nvSpPr>
        <p:spPr>
          <a:xfrm>
            <a:off x="4526280" y="1965960"/>
            <a:ext cx="7342632" cy="23317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26280" y="1965960"/>
            <a:ext cx="7342632" cy="384048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526280" y="1965960"/>
            <a:ext cx="7342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롯데백화점 AX Camp 교육 개요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636008" y="2450592"/>
            <a:ext cx="713232" cy="384048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636008" y="245059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대상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349240" y="2450592"/>
            <a:ext cx="1920240" cy="384048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422392" y="24505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롯데백화점 e-커머스부문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실무자 30명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636008" y="2871216"/>
            <a:ext cx="713232" cy="384048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636008" y="2871216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목적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349240" y="2871216"/>
            <a:ext cx="1920240" cy="384048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422392" y="28712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데이터로 고객을 이해하고,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AI Agent로 고객 경험 구현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636008" y="3291840"/>
            <a:ext cx="713232" cy="384048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636008" y="3291840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일시/장소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349240" y="3291840"/>
            <a:ext cx="1920240" cy="384048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422392" y="3291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2026.10.30(금)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이노베이트 본사 12층</a:t>
            </a:r>
            <a:endParaRPr lang="en-US" sz="850" dirty="0"/>
          </a:p>
        </p:txBody>
      </p:sp>
      <p:sp>
        <p:nvSpPr>
          <p:cNvPr id="62" name="Text 60"/>
          <p:cNvSpPr txBox="1"/>
          <p:nvPr/>
        </p:nvSpPr>
        <p:spPr>
          <a:xfrm>
            <a:off x="7434072" y="244144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▪ AX Camp 추진 프로세스</a:t>
            </a:r>
            <a:endParaRPr lang="en-US" sz="1100" dirty="0"/>
          </a:p>
        </p:txBody>
      </p:sp>
      <p:sp>
        <p:nvSpPr>
          <p:cNvPr id="63" name="camp-step-1"/>
          <p:cNvSpPr/>
          <p:nvPr/>
        </p:nvSpPr>
        <p:spPr>
          <a:xfrm>
            <a:off x="7434072" y="2734056"/>
            <a:ext cx="905256" cy="493776"/>
          </a:xfrm>
          <a:prstGeom prst="homePlate">
            <a:avLst/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470648" y="2734056"/>
            <a:ext cx="722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고객 데이터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분석</a:t>
            </a:r>
            <a:endParaRPr lang="en-US" sz="850" dirty="0"/>
          </a:p>
        </p:txBody>
      </p:sp>
      <p:sp>
        <p:nvSpPr>
          <p:cNvPr id="65" name="Text 63"/>
          <p:cNvSpPr txBox="1"/>
          <p:nvPr/>
        </p:nvSpPr>
        <p:spPr>
          <a:xfrm>
            <a:off x="7452360" y="3273552"/>
            <a:ext cx="832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고객군·Persona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AS-IS 고객여정</a:t>
            </a:r>
            <a:endParaRPr lang="en-US" sz="800" dirty="0"/>
          </a:p>
        </p:txBody>
      </p:sp>
      <p:sp>
        <p:nvSpPr>
          <p:cNvPr id="66" name="camp-step-2"/>
          <p:cNvSpPr/>
          <p:nvPr/>
        </p:nvSpPr>
        <p:spPr>
          <a:xfrm>
            <a:off x="8302752" y="2734056"/>
            <a:ext cx="905256" cy="493776"/>
          </a:xfrm>
          <a:prstGeom prst="chevron">
            <a:avLst/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8458200" y="2734056"/>
            <a:ext cx="612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Agent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과제 도출</a:t>
            </a:r>
            <a:endParaRPr lang="en-US" sz="850" dirty="0"/>
          </a:p>
        </p:txBody>
      </p:sp>
      <p:sp>
        <p:nvSpPr>
          <p:cNvPr id="68" name="Text 66"/>
          <p:cNvSpPr txBox="1"/>
          <p:nvPr/>
        </p:nvSpPr>
        <p:spPr>
          <a:xfrm>
            <a:off x="8321040" y="3273552"/>
            <a:ext cx="832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TO-BE 고객여정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Agent 후보 선정</a:t>
            </a:r>
            <a:endParaRPr lang="en-US" sz="800" dirty="0"/>
          </a:p>
        </p:txBody>
      </p:sp>
      <p:sp>
        <p:nvSpPr>
          <p:cNvPr id="69" name="camp-step-3"/>
          <p:cNvSpPr/>
          <p:nvPr/>
        </p:nvSpPr>
        <p:spPr>
          <a:xfrm>
            <a:off x="9171432" y="2734056"/>
            <a:ext cx="905256" cy="493776"/>
          </a:xfrm>
          <a:prstGeom prst="chevron">
            <a:avLst/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9326880" y="2734056"/>
            <a:ext cx="612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딥리서치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외부조사</a:t>
            </a:r>
            <a:endParaRPr lang="en-US" sz="850" dirty="0"/>
          </a:p>
        </p:txBody>
      </p:sp>
      <p:sp>
        <p:nvSpPr>
          <p:cNvPr id="71" name="Text 69"/>
          <p:cNvSpPr txBox="1"/>
          <p:nvPr/>
        </p:nvSpPr>
        <p:spPr>
          <a:xfrm>
            <a:off x="9189720" y="3273552"/>
            <a:ext cx="832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유사 사례 조사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구현 방식 비교</a:t>
            </a:r>
            <a:endParaRPr lang="en-US" sz="800" dirty="0"/>
          </a:p>
        </p:txBody>
      </p:sp>
      <p:sp>
        <p:nvSpPr>
          <p:cNvPr id="72" name="camp-step-4"/>
          <p:cNvSpPr/>
          <p:nvPr/>
        </p:nvSpPr>
        <p:spPr>
          <a:xfrm>
            <a:off x="10040112" y="2734056"/>
            <a:ext cx="905256" cy="493776"/>
          </a:xfrm>
          <a:prstGeom prst="chevron">
            <a:avLst/>
          </a:prstGeom>
          <a:solidFill>
            <a:schemeClr val="bg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10195560" y="2734056"/>
            <a:ext cx="612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Agent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기획·설계</a:t>
            </a:r>
            <a:endParaRPr lang="en-US" sz="850" dirty="0"/>
          </a:p>
        </p:txBody>
      </p:sp>
      <p:sp>
        <p:nvSpPr>
          <p:cNvPr id="74" name="Text 72"/>
          <p:cNvSpPr txBox="1"/>
          <p:nvPr/>
        </p:nvSpPr>
        <p:spPr>
          <a:xfrm>
            <a:off x="10058400" y="3273552"/>
            <a:ext cx="832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기능·화면·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데이터 명세화</a:t>
            </a:r>
            <a:endParaRPr lang="en-US" sz="800" dirty="0"/>
          </a:p>
        </p:txBody>
      </p:sp>
      <p:sp>
        <p:nvSpPr>
          <p:cNvPr id="75" name="camp-step-5"/>
          <p:cNvSpPr/>
          <p:nvPr/>
        </p:nvSpPr>
        <p:spPr>
          <a:xfrm>
            <a:off x="10908792" y="2734056"/>
            <a:ext cx="905256" cy="493776"/>
          </a:xfrm>
          <a:prstGeom prst="chevron">
            <a:avLst/>
          </a:prstGeom>
          <a:solidFill>
            <a:schemeClr val="accent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11064240" y="2734056"/>
            <a:ext cx="612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Agent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개발</a:t>
            </a:r>
            <a:endParaRPr lang="en-US" sz="850" dirty="0"/>
          </a:p>
        </p:txBody>
      </p:sp>
      <p:sp>
        <p:nvSpPr>
          <p:cNvPr id="77" name="Text 75"/>
          <p:cNvSpPr txBox="1"/>
          <p:nvPr/>
        </p:nvSpPr>
        <p:spPr>
          <a:xfrm>
            <a:off x="10927080" y="3273552"/>
            <a:ext cx="832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서비스화면 및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Agent 구현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4636008" y="3749040"/>
            <a:ext cx="713232" cy="47548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4636008" y="374904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산출물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5404104" y="3749040"/>
            <a:ext cx="2069592" cy="475488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5449824" y="3749040"/>
            <a:ext cx="1978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고객 데이터 분석 결과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고객군·고객여정·인사이트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7519416" y="3749040"/>
            <a:ext cx="2069592" cy="475488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7565136" y="3749040"/>
            <a:ext cx="1978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AI Agent 기획서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기능·화면·데이터 명세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9634728" y="3749040"/>
            <a:ext cx="2069592" cy="475488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9680448" y="3749040"/>
            <a:ext cx="1978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Agent 완성본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서비스화면 1종, 업무효율화 Agent 2종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 rot="10800000">
            <a:off x="5074920" y="4325112"/>
            <a:ext cx="6245352" cy="201168"/>
          </a:xfrm>
          <a:prstGeom prst="trapezoid">
            <a:avLst/>
          </a:prstGeom>
          <a:solidFill>
            <a:schemeClr val="bg2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4526280" y="4553712"/>
            <a:ext cx="7342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AX Camp 교육 기반 사업화 프로세스 (Open Door)</a:t>
            </a:r>
            <a:endParaRPr lang="en-US" sz="1400" dirty="0"/>
          </a:p>
        </p:txBody>
      </p:sp>
      <p:sp>
        <p:nvSpPr>
          <p:cNvPr id="88" name="Shape 86"/>
          <p:cNvSpPr/>
          <p:nvPr/>
        </p:nvSpPr>
        <p:spPr>
          <a:xfrm>
            <a:off x="11132820" y="5065776"/>
            <a:ext cx="0" cy="374904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372100" y="5065776"/>
            <a:ext cx="576072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372100" y="5065776"/>
            <a:ext cx="0" cy="374904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>
            <a:off x="6720840" y="4928616"/>
            <a:ext cx="2971800" cy="274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6720840" y="492861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구축 사례·Agent → 교육 콘텐츠 반영</a:t>
            </a:r>
            <a:endParaRPr lang="en-US" sz="1000" dirty="0"/>
          </a:p>
        </p:txBody>
      </p:sp>
      <p:sp>
        <p:nvSpPr>
          <p:cNvPr id="93" name="biz-node-1"/>
          <p:cNvSpPr/>
          <p:nvPr/>
        </p:nvSpPr>
        <p:spPr>
          <a:xfrm>
            <a:off x="4663440" y="5440680"/>
            <a:ext cx="1417320" cy="54864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4663440" y="54406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AX Camp</a:t>
            </a:r>
            <a:endParaRPr lang="en-US" sz="1150" dirty="0"/>
          </a:p>
        </p:txBody>
      </p:sp>
      <p:sp>
        <p:nvSpPr>
          <p:cNvPr id="95" name="Text 93"/>
          <p:cNvSpPr txBox="1"/>
          <p:nvPr/>
        </p:nvSpPr>
        <p:spPr>
          <a:xfrm>
            <a:off x="4572000" y="604418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현업 참여 AI 과제 발굴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Agent 기획서·프로토타입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6108192" y="5715000"/>
            <a:ext cx="448056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7" name="Text 95"/>
          <p:cNvSpPr txBox="1"/>
          <p:nvPr/>
        </p:nvSpPr>
        <p:spPr>
          <a:xfrm>
            <a:off x="6080760" y="540410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accent1"/>
                </a:solidFill>
              </a:rPr>
              <a:t>Open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chemeClr val="accent1"/>
                </a:solidFill>
              </a:rPr>
              <a:t>Door</a:t>
            </a:r>
            <a:endParaRPr lang="en-US" sz="750" dirty="0"/>
          </a:p>
        </p:txBody>
      </p:sp>
      <p:sp>
        <p:nvSpPr>
          <p:cNvPr id="98" name="biz-node-2"/>
          <p:cNvSpPr/>
          <p:nvPr/>
        </p:nvSpPr>
        <p:spPr>
          <a:xfrm>
            <a:off x="6583680" y="5440680"/>
            <a:ext cx="1417320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6583680" y="54406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AX진단 컨설팅</a:t>
            </a:r>
            <a:endParaRPr lang="en-US" sz="1150" dirty="0"/>
          </a:p>
        </p:txBody>
      </p:sp>
      <p:sp>
        <p:nvSpPr>
          <p:cNvPr id="100" name="Text 98"/>
          <p:cNvSpPr txBox="1"/>
          <p:nvPr/>
        </p:nvSpPr>
        <p:spPr>
          <a:xfrm>
            <a:off x="6492240" y="604418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도출 과제 선별·진단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AX-PI / Quick-Win 분류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8028432" y="5715000"/>
            <a:ext cx="448056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2" name="Text 100"/>
          <p:cNvSpPr txBox="1"/>
          <p:nvPr/>
        </p:nvSpPr>
        <p:spPr>
          <a:xfrm>
            <a:off x="8001000" y="540410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accent1"/>
                </a:solidFill>
              </a:rPr>
              <a:t>Open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chemeClr val="accent1"/>
                </a:solidFill>
              </a:rPr>
              <a:t>Door</a:t>
            </a:r>
            <a:endParaRPr lang="en-US" sz="750" dirty="0"/>
          </a:p>
        </p:txBody>
      </p:sp>
      <p:sp>
        <p:nvSpPr>
          <p:cNvPr id="103" name="biz-node-3"/>
          <p:cNvSpPr/>
          <p:nvPr/>
        </p:nvSpPr>
        <p:spPr>
          <a:xfrm>
            <a:off x="8503920" y="5440680"/>
            <a:ext cx="1417320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8503920" y="54406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AX-PI 컨설팅</a:t>
            </a:r>
            <a:endParaRPr lang="en-US" sz="1150" dirty="0"/>
          </a:p>
        </p:txBody>
      </p:sp>
      <p:sp>
        <p:nvSpPr>
          <p:cNvPr id="105" name="Text 103"/>
          <p:cNvSpPr txBox="1"/>
          <p:nvPr/>
        </p:nvSpPr>
        <p:spPr>
          <a:xfrm>
            <a:off x="8412480" y="604418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온/오프 통합 To-Be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구축 요건·RFP 정의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9948672" y="5715000"/>
            <a:ext cx="448056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7" name="Text 105"/>
          <p:cNvSpPr txBox="1"/>
          <p:nvPr/>
        </p:nvSpPr>
        <p:spPr>
          <a:xfrm>
            <a:off x="9921240" y="540410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accent1"/>
                </a:solidFill>
              </a:rPr>
              <a:t>Open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chemeClr val="accent1"/>
                </a:solidFill>
              </a:rPr>
              <a:t>Door</a:t>
            </a:r>
            <a:endParaRPr lang="en-US" sz="750" dirty="0"/>
          </a:p>
        </p:txBody>
      </p:sp>
      <p:sp>
        <p:nvSpPr>
          <p:cNvPr id="108" name="biz-node-4"/>
          <p:cNvSpPr/>
          <p:nvPr/>
        </p:nvSpPr>
        <p:spPr>
          <a:xfrm>
            <a:off x="10424160" y="5440680"/>
            <a:ext cx="1417320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10424160" y="54406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구축 사업 (사업부)</a:t>
            </a:r>
            <a:endParaRPr lang="en-US" sz="1150" dirty="0"/>
          </a:p>
        </p:txBody>
      </p:sp>
      <p:sp>
        <p:nvSpPr>
          <p:cNvPr id="110" name="Text 108"/>
          <p:cNvSpPr txBox="1"/>
          <p:nvPr/>
        </p:nvSpPr>
        <p:spPr>
          <a:xfrm>
            <a:off x="10332720" y="604418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AI 기반 온/오프 통합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e-커머스 구축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 Consulting">
  <a:themeElements>
    <a:clrScheme name="AX Consulting">
      <a:dk1>
        <a:srgbClr val="000000"/>
      </a:dk1>
      <a:lt1>
        <a:srgbClr val="FFFFFF"/>
      </a:lt1>
      <a:dk2>
        <a:srgbClr val="404040"/>
      </a:dk2>
      <a:lt2>
        <a:srgbClr val="F2F2F2"/>
      </a:lt2>
      <a:accent1>
        <a:srgbClr val="0B2A6F"/>
      </a:accent1>
      <a:accent2>
        <a:srgbClr val="DCE6F5"/>
      </a:accent2>
      <a:accent3>
        <a:srgbClr val="1F3FB0"/>
      </a:accent3>
      <a:accent4>
        <a:srgbClr val="D9D9D9"/>
      </a:accent4>
      <a:accent5>
        <a:srgbClr val="7F7F7F"/>
      </a:accent5>
      <a:accent6>
        <a:srgbClr val="BFBFBF"/>
      </a:accent6>
      <a:hlink>
        <a:srgbClr val="1F3FB0"/>
      </a:hlink>
      <a:folHlink>
        <a:srgbClr val="0B2A6F"/>
      </a:folHlink>
    </a:clrScheme>
    <a:fontScheme name="AX Consulting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2026-10-31T10:54:10Z</dcterms:created>
  <dcterms:modified xsi:type="dcterms:W3CDTF">2026-10-31T10:54:10Z</dcterms:modified>
</cp:coreProperties>
</file>