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과제1 AX교육" id="{c3c8bb4e-9f1e-60fe-e793-117204c47e54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왼쪽: 추진 프로세스 중 AX교육 단계의 배경·목적·범위. 오른쪽: AX Inno-Camp의 추진 방안(데이터 기반 인사이트 → Agent 과제 설계 → 직접 구현), 기대 효과(현업·과제·사업 측면), 롯데백화점 이커머스 세부운영 계획('26.10.30 Camp → 진단·PI → 사업부 '27 온/오프 통합 e커머스 구축 연계). 투입 인원 N과 '26.10/'26.11 일정은 안(案)이며 실제 값으로 수정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0040" y="201168"/>
            <a:ext cx="115214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0040" y="201168"/>
            <a:ext cx="11521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4. '27년 중점추진과제  &gt;  </a:t>
            </a:r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① AX 변화관리를 통한 그룹사 AX 사업화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1024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컨설팅 AX 교육 서비스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1444752"/>
            <a:ext cx="3931920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</a:ln>
        </p:spPr>
      </p:sp>
      <p:sp>
        <p:nvSpPr>
          <p:cNvPr id="5" name="step-1"/>
          <p:cNvSpPr/>
          <p:nvPr/>
        </p:nvSpPr>
        <p:spPr>
          <a:xfrm>
            <a:off x="320040" y="1600200"/>
            <a:ext cx="960120" cy="1024128"/>
          </a:xfrm>
          <a:prstGeom prst="flowChartOffpageConnector">
            <a:avLst/>
          </a:prstGeom>
          <a:solidFill>
            <a:schemeClr val="tx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20040" y="1600200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교육</a:t>
            </a:r>
            <a:endParaRPr lang="en-US" sz="1300" dirty="0"/>
          </a:p>
        </p:txBody>
      </p:sp>
      <p:sp>
        <p:nvSpPr>
          <p:cNvPr id="7" name="step-2"/>
          <p:cNvSpPr/>
          <p:nvPr/>
        </p:nvSpPr>
        <p:spPr>
          <a:xfrm>
            <a:off x="320040" y="2587752"/>
            <a:ext cx="960120" cy="1024128"/>
          </a:xfrm>
          <a:prstGeom prst="flowChartOffpageConnector">
            <a:avLst/>
          </a:prstGeom>
          <a:solidFill>
            <a:schemeClr val="bg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" y="2587752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AX진단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컨설팅</a:t>
            </a:r>
            <a:endParaRPr lang="en-US" sz="1150" dirty="0"/>
          </a:p>
        </p:txBody>
      </p:sp>
      <p:sp>
        <p:nvSpPr>
          <p:cNvPr id="9" name="step-3"/>
          <p:cNvSpPr/>
          <p:nvPr/>
        </p:nvSpPr>
        <p:spPr>
          <a:xfrm>
            <a:off x="320040" y="3575304"/>
            <a:ext cx="960120" cy="1024128"/>
          </a:xfrm>
          <a:prstGeom prst="flowChartOffpageConnector">
            <a:avLst/>
          </a:prstGeom>
          <a:solidFill>
            <a:schemeClr val="bg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" y="3575304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AX-PI</a:t>
            </a:r>
            <a:endParaRPr lang="en-US" sz="1150" dirty="0"/>
          </a:p>
        </p:txBody>
      </p:sp>
      <p:sp>
        <p:nvSpPr>
          <p:cNvPr id="11" name="step-4"/>
          <p:cNvSpPr/>
          <p:nvPr/>
        </p:nvSpPr>
        <p:spPr>
          <a:xfrm>
            <a:off x="320040" y="4562856"/>
            <a:ext cx="960120" cy="1024128"/>
          </a:xfrm>
          <a:prstGeom prst="flowChartOffpageConnector">
            <a:avLst/>
          </a:prstGeom>
          <a:solidFill>
            <a:schemeClr val="bg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0040" y="4562856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AX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Quick-win</a:t>
            </a:r>
            <a:endParaRPr lang="en-US" sz="1150" dirty="0"/>
          </a:p>
        </p:txBody>
      </p:sp>
      <p:sp>
        <p:nvSpPr>
          <p:cNvPr id="13" name="step-5"/>
          <p:cNvSpPr/>
          <p:nvPr/>
        </p:nvSpPr>
        <p:spPr>
          <a:xfrm>
            <a:off x="320040" y="5550408"/>
            <a:ext cx="960120" cy="1024128"/>
          </a:xfrm>
          <a:prstGeom prst="flowChartOffpageConnector">
            <a:avLst/>
          </a:prstGeom>
          <a:solidFill>
            <a:schemeClr val="bg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5550408"/>
            <a:ext cx="960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구축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chemeClr val="accent5"/>
                </a:solidFill>
              </a:rPr>
              <a:t>(사업부)</a:t>
            </a:r>
            <a:endParaRPr lang="en-US" sz="1150" dirty="0"/>
          </a:p>
        </p:txBody>
      </p:sp>
      <p:sp>
        <p:nvSpPr>
          <p:cNvPr id="15" name="left-box-1"/>
          <p:cNvSpPr/>
          <p:nvPr/>
        </p:nvSpPr>
        <p:spPr>
          <a:xfrm>
            <a:off x="1417320" y="1600200"/>
            <a:ext cx="2834640" cy="1600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17320" y="1600200"/>
            <a:ext cx="2834640" cy="246888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17320" y="1600200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추진 배경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490472" y="1883664"/>
            <a:ext cx="2688336" cy="29260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490472" y="1883664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개인 AI 활용은 확산, 조직 혁신 해법은 부재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490472" y="2212848"/>
            <a:ext cx="865632" cy="365760"/>
          </a:xfrm>
          <a:prstGeom prst="rect">
            <a:avLst/>
          </a:prstGeom>
          <a:solidFill>
            <a:schemeClr val="bg2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17904" y="2212848"/>
            <a:ext cx="810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개인 단위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AI 활용 확산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401824" y="2212848"/>
            <a:ext cx="865632" cy="365760"/>
          </a:xfrm>
          <a:prstGeom prst="rect">
            <a:avLst/>
          </a:prstGeom>
          <a:solidFill>
            <a:schemeClr val="bg2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429256" y="2212848"/>
            <a:ext cx="810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실무자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AI 활용 니즈↑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313176" y="2212848"/>
            <a:ext cx="865632" cy="365760"/>
          </a:xfrm>
          <a:prstGeom prst="rect">
            <a:avLst/>
          </a:prstGeom>
          <a:solidFill>
            <a:schemeClr val="bg2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40608" y="2212848"/>
            <a:ext cx="810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조직 단위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혁신 해법 부재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 rot="10800000">
            <a:off x="2724912" y="2606040"/>
            <a:ext cx="219456" cy="109728"/>
          </a:xfrm>
          <a:prstGeom prst="triangle">
            <a:avLst/>
          </a:prstGeom>
          <a:solidFill>
            <a:schemeClr val="tx1"/>
          </a:solidFill>
          <a:ln/>
        </p:spPr>
      </p:sp>
      <p:sp>
        <p:nvSpPr>
          <p:cNvPr id="27" name="Shape 25"/>
          <p:cNvSpPr/>
          <p:nvPr/>
        </p:nvSpPr>
        <p:spPr>
          <a:xfrm>
            <a:off x="1490472" y="2743200"/>
            <a:ext cx="1316736" cy="32918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517904" y="2743200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실무자 중심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조직 업무 혁신 해법 필요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862072" y="2743200"/>
            <a:ext cx="1316736" cy="32918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9504" y="2743200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개인 활용 넘어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프로세스 단위 AX 필요</a:t>
            </a:r>
            <a:endParaRPr lang="en-US" sz="850" dirty="0"/>
          </a:p>
        </p:txBody>
      </p:sp>
      <p:sp>
        <p:nvSpPr>
          <p:cNvPr id="31" name="left-box-2"/>
          <p:cNvSpPr/>
          <p:nvPr/>
        </p:nvSpPr>
        <p:spPr>
          <a:xfrm>
            <a:off x="1417320" y="3273552"/>
            <a:ext cx="2834640" cy="1600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17320" y="3273552"/>
            <a:ext cx="2834640" cy="246888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417320" y="327355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추진 목적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490472" y="3557016"/>
            <a:ext cx="2688336" cy="292608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490472" y="3557016"/>
            <a:ext cx="2688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현업 주도형 AX 과제 발굴·구현 프로그램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490472" y="3886200"/>
            <a:ext cx="1321308" cy="365760"/>
          </a:xfrm>
          <a:prstGeom prst="rect">
            <a:avLst/>
          </a:prstGeom>
          <a:solidFill>
            <a:schemeClr val="bg2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517904" y="3886200"/>
            <a:ext cx="12664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개인 AI 활용 →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조직 혁신 과제로 확장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857500" y="3886200"/>
            <a:ext cx="1321308" cy="365760"/>
          </a:xfrm>
          <a:prstGeom prst="rect">
            <a:avLst/>
          </a:prstGeom>
          <a:solidFill>
            <a:schemeClr val="bg2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84932" y="3886200"/>
            <a:ext cx="12664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데이터 기반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설계·구현까지 경험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 rot="10800000">
            <a:off x="2724912" y="4279392"/>
            <a:ext cx="219456" cy="109728"/>
          </a:xfrm>
          <a:prstGeom prst="triangle">
            <a:avLst/>
          </a:prstGeom>
          <a:solidFill>
            <a:schemeClr val="tx1"/>
          </a:solidFill>
          <a:ln/>
        </p:spPr>
      </p:sp>
      <p:sp>
        <p:nvSpPr>
          <p:cNvPr id="41" name="Shape 39"/>
          <p:cNvSpPr/>
          <p:nvPr/>
        </p:nvSpPr>
        <p:spPr>
          <a:xfrm>
            <a:off x="1490472" y="4416552"/>
            <a:ext cx="1316736" cy="32918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517904" y="44165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현업 주도 AX 과제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발굴 방법론 내재화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862072" y="4416552"/>
            <a:ext cx="1316736" cy="32918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889504" y="4416552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AX진단 연계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→ 사업 Open Door</a:t>
            </a:r>
            <a:endParaRPr lang="en-US" sz="850" dirty="0"/>
          </a:p>
        </p:txBody>
      </p:sp>
      <p:sp>
        <p:nvSpPr>
          <p:cNvPr id="45" name="left-box-3"/>
          <p:cNvSpPr/>
          <p:nvPr/>
        </p:nvSpPr>
        <p:spPr>
          <a:xfrm>
            <a:off x="1417320" y="4946904"/>
            <a:ext cx="2834640" cy="1600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417320" y="4946904"/>
            <a:ext cx="2834640" cy="246888"/>
          </a:xfrm>
          <a:prstGeom prst="rect">
            <a:avLst/>
          </a:prstGeom>
          <a:solidFill>
            <a:schemeClr val="accent4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1417320" y="4946904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추진 단계</a:t>
            </a:r>
            <a:endParaRPr lang="en-US" sz="1200" dirty="0"/>
          </a:p>
        </p:txBody>
      </p:sp>
      <p:sp>
        <p:nvSpPr>
          <p:cNvPr id="48" name="left-stage-1"/>
          <p:cNvSpPr/>
          <p:nvPr/>
        </p:nvSpPr>
        <p:spPr>
          <a:xfrm>
            <a:off x="1490472" y="5230368"/>
            <a:ext cx="969264" cy="384048"/>
          </a:xfrm>
          <a:prstGeom prst="homePlat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508760" y="5230368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1단계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AI 활용 역량</a:t>
            </a:r>
            <a:endParaRPr lang="en-US" sz="800" dirty="0"/>
          </a:p>
        </p:txBody>
      </p:sp>
      <p:sp>
        <p:nvSpPr>
          <p:cNvPr id="50" name="left-stage-2"/>
          <p:cNvSpPr/>
          <p:nvPr/>
        </p:nvSpPr>
        <p:spPr>
          <a:xfrm>
            <a:off x="2350008" y="5230368"/>
            <a:ext cx="969264" cy="384048"/>
          </a:xfrm>
          <a:prstGeom prst="chevron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2478024" y="5230368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2단계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혁신 과제 발굴</a:t>
            </a:r>
            <a:endParaRPr lang="en-US" sz="800" dirty="0"/>
          </a:p>
        </p:txBody>
      </p:sp>
      <p:sp>
        <p:nvSpPr>
          <p:cNvPr id="52" name="left-stage-3"/>
          <p:cNvSpPr/>
          <p:nvPr/>
        </p:nvSpPr>
        <p:spPr>
          <a:xfrm>
            <a:off x="3209544" y="5230368"/>
            <a:ext cx="969264" cy="384048"/>
          </a:xfrm>
          <a:prstGeom prst="chevron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337560" y="5230368"/>
            <a:ext cx="6949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3단계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chemeClr val="tx1"/>
                </a:solidFill>
              </a:rPr>
              <a:t>사업 연계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490472" y="5641848"/>
            <a:ext cx="865632" cy="365760"/>
          </a:xfrm>
          <a:prstGeom prst="rect">
            <a:avLst/>
          </a:prstGeom>
          <a:solidFill>
            <a:schemeClr val="bg2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517904" y="5641848"/>
            <a:ext cx="810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AI·Agent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업무 활용 실습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2401824" y="5641848"/>
            <a:ext cx="865632" cy="365760"/>
          </a:xfrm>
          <a:prstGeom prst="rect">
            <a:avLst/>
          </a:prstGeom>
          <a:solidFill>
            <a:schemeClr val="bg2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2429256" y="5641848"/>
            <a:ext cx="810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Pain Point →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Agent 구현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313176" y="5641848"/>
            <a:ext cx="865632" cy="365760"/>
          </a:xfrm>
          <a:prstGeom prst="rect">
            <a:avLst/>
          </a:prstGeom>
          <a:solidFill>
            <a:schemeClr val="bg2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3340608" y="5641848"/>
            <a:ext cx="810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과제 리스트 →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2"/>
                </a:solidFill>
              </a:rPr>
              <a:t>AX진단 제안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 rot="10800000">
            <a:off x="2724912" y="6035040"/>
            <a:ext cx="219456" cy="109728"/>
          </a:xfrm>
          <a:prstGeom prst="triangle">
            <a:avLst/>
          </a:prstGeom>
          <a:solidFill>
            <a:schemeClr val="tx1"/>
          </a:solidFill>
          <a:ln/>
        </p:spPr>
      </p:sp>
      <p:sp>
        <p:nvSpPr>
          <p:cNvPr id="61" name="Shape 59"/>
          <p:cNvSpPr/>
          <p:nvPr/>
        </p:nvSpPr>
        <p:spPr>
          <a:xfrm>
            <a:off x="1490472" y="6172200"/>
            <a:ext cx="1316736" cy="32918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517904" y="6172200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1차 Pilot: 롯데백화점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이커머스 ('26.10.30)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2862072" y="6172200"/>
            <a:ext cx="1316736" cy="329184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889504" y="6172200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'27 그룹사 확산 및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chemeClr val="accent3"/>
                </a:solidFill>
              </a:rPr>
              <a:t>진단 연계 본격화</a:t>
            </a:r>
            <a:endParaRPr lang="en-US" sz="850" dirty="0"/>
          </a:p>
        </p:txBody>
      </p:sp>
      <p:sp>
        <p:nvSpPr>
          <p:cNvPr id="65" name="approach-header"/>
          <p:cNvSpPr/>
          <p:nvPr/>
        </p:nvSpPr>
        <p:spPr>
          <a:xfrm>
            <a:off x="4480560" y="1024128"/>
            <a:ext cx="5120640" cy="38404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572000" y="10241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AX교육 Approach (AX Inno-Camp)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4480560" y="1481328"/>
            <a:ext cx="7360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▪ 현업 업무·데이터에서 출발하는 실습형 교육 </a:t>
            </a:r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→ AX 과제 발굴 → 진단 → 사업부 본사업 연계</a:t>
            </a:r>
            <a:endParaRPr lang="en-US" sz="1250" dirty="0"/>
          </a:p>
        </p:txBody>
      </p:sp>
      <p:sp>
        <p:nvSpPr>
          <p:cNvPr id="68" name="row-label-1"/>
          <p:cNvSpPr/>
          <p:nvPr/>
        </p:nvSpPr>
        <p:spPr>
          <a:xfrm>
            <a:off x="4480560" y="1874520"/>
            <a:ext cx="960120" cy="1508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480560" y="1874520"/>
            <a:ext cx="960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추진 방안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559552" y="191109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•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업무 경험·데이터에서 출발 → </a:t>
            </a:r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현업이 AI Agent 과제를 발굴·설계·구현</a:t>
            </a:r>
            <a:endParaRPr lang="en-US" sz="1250" dirty="0"/>
          </a:p>
        </p:txBody>
      </p:sp>
      <p:sp>
        <p:nvSpPr>
          <p:cNvPr id="71" name="Text 69"/>
          <p:cNvSpPr txBox="1"/>
          <p:nvPr/>
        </p:nvSpPr>
        <p:spPr>
          <a:xfrm>
            <a:off x="5715000" y="2176272"/>
            <a:ext cx="5897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e.g. [롯데백화점 이커머스] 가상 데이터 6종으로 고객 분석 → Agent 기획 → 구현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577840" y="2459736"/>
            <a:ext cx="1810512" cy="676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77840" y="2459736"/>
            <a:ext cx="566928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577840" y="245973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01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5632704" y="2642616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데이터 기반 인사이트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고객군·여정·Pain Point 도출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 rot="5400000">
            <a:off x="7370064" y="2715768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77" name="Shape 75"/>
          <p:cNvSpPr/>
          <p:nvPr/>
        </p:nvSpPr>
        <p:spPr>
          <a:xfrm>
            <a:off x="7662672" y="2459736"/>
            <a:ext cx="1847088" cy="676656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662672" y="2459736"/>
            <a:ext cx="566928" cy="1828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662672" y="245973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02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7717536" y="2642616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AI Agent 과제 설계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AI 활용 기회 발굴, Agent 기획서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 rot="5400000">
            <a:off x="9491472" y="2715768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82" name="Shape 80"/>
          <p:cNvSpPr/>
          <p:nvPr/>
        </p:nvSpPr>
        <p:spPr>
          <a:xfrm>
            <a:off x="9784080" y="2459736"/>
            <a:ext cx="1810512" cy="676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784080" y="2459736"/>
            <a:ext cx="566928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784080" y="245973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03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9838944" y="2642616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직접 구현·검증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CodeAgent/Onflow 구현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5577840" y="3172968"/>
            <a:ext cx="6016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※ Co-Creation: 현업(참가자) + AX 컨설팅팀(퍼실리테이터) + AI 혁신센터·D&amp;AX(AI 전문가)</a:t>
            </a:r>
            <a:endParaRPr lang="en-US" sz="900" dirty="0"/>
          </a:p>
        </p:txBody>
      </p:sp>
      <p:sp>
        <p:nvSpPr>
          <p:cNvPr id="87" name="row-label-2"/>
          <p:cNvSpPr/>
          <p:nvPr/>
        </p:nvSpPr>
        <p:spPr>
          <a:xfrm>
            <a:off x="4480560" y="3456432"/>
            <a:ext cx="960120" cy="1508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480560" y="3456432"/>
            <a:ext cx="960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기대 효과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559552" y="349300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•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교육 산출물 = AX진단 입력물 → </a:t>
            </a:r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일회성 교육이 아닌 사업 파이프라인</a:t>
            </a:r>
            <a:endParaRPr lang="en-US" sz="1250" dirty="0"/>
          </a:p>
        </p:txBody>
      </p:sp>
      <p:sp>
        <p:nvSpPr>
          <p:cNvPr id="90" name="Text 88"/>
          <p:cNvSpPr txBox="1"/>
          <p:nvPr/>
        </p:nvSpPr>
        <p:spPr>
          <a:xfrm>
            <a:off x="5715000" y="3758184"/>
            <a:ext cx="5897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e.g. 타사 Innovation Camp는 아이디어·설계에서 종료 ↔ 당사는 구현 실습 + 진단·PI 연계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5577840" y="4041648"/>
            <a:ext cx="1810512" cy="676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577840" y="4041648"/>
            <a:ext cx="566928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577840" y="404164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현업</a:t>
            </a:r>
            <a:endParaRPr lang="en-US" sz="900" dirty="0"/>
          </a:p>
        </p:txBody>
      </p:sp>
      <p:sp>
        <p:nvSpPr>
          <p:cNvPr id="94" name="Text 92"/>
          <p:cNvSpPr txBox="1"/>
          <p:nvPr/>
        </p:nvSpPr>
        <p:spPr>
          <a:xfrm>
            <a:off x="5632704" y="4224528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현업 주도 변화관리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AX 역량·공감대 확보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 rot="5400000">
            <a:off x="7370064" y="4297680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62672" y="4041648"/>
            <a:ext cx="1847088" cy="676656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662672" y="4041648"/>
            <a:ext cx="566928" cy="1828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7662672" y="404164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과제</a:t>
            </a:r>
            <a:endParaRPr lang="en-US" sz="900" dirty="0"/>
          </a:p>
        </p:txBody>
      </p:sp>
      <p:sp>
        <p:nvSpPr>
          <p:cNvPr id="99" name="Text 97"/>
          <p:cNvSpPr txBox="1"/>
          <p:nvPr/>
        </p:nvSpPr>
        <p:spPr>
          <a:xfrm>
            <a:off x="7717536" y="4224528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AX 과제 Pool 확보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bg1"/>
                </a:solidFill>
              </a:rPr>
              <a:t>적합성·가용성·실현성 검증</a:t>
            </a:r>
            <a:endParaRPr lang="en-US" sz="1200" dirty="0"/>
          </a:p>
        </p:txBody>
      </p:sp>
      <p:sp>
        <p:nvSpPr>
          <p:cNvPr id="100" name="Shape 98"/>
          <p:cNvSpPr/>
          <p:nvPr/>
        </p:nvSpPr>
        <p:spPr>
          <a:xfrm rot="5400000">
            <a:off x="9491472" y="4297680"/>
            <a:ext cx="274320" cy="164592"/>
          </a:xfrm>
          <a:prstGeom prst="triangle">
            <a:avLst/>
          </a:prstGeom>
          <a:solidFill>
            <a:schemeClr val="accent6"/>
          </a:solidFill>
          <a:ln/>
        </p:spPr>
      </p:sp>
      <p:sp>
        <p:nvSpPr>
          <p:cNvPr id="101" name="Shape 99"/>
          <p:cNvSpPr/>
          <p:nvPr/>
        </p:nvSpPr>
        <p:spPr>
          <a:xfrm>
            <a:off x="9784080" y="4041648"/>
            <a:ext cx="1810512" cy="676656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9784080" y="4041648"/>
            <a:ext cx="566928" cy="182880"/>
          </a:xfrm>
          <a:prstGeom prst="rect">
            <a:avLst/>
          </a:prstGeom>
          <a:solidFill>
            <a:schemeClr val="accent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84080" y="404164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사업</a:t>
            </a:r>
            <a:endParaRPr lang="en-US" sz="900" dirty="0"/>
          </a:p>
        </p:txBody>
      </p:sp>
      <p:sp>
        <p:nvSpPr>
          <p:cNvPr id="104" name="Text 102"/>
          <p:cNvSpPr txBox="1"/>
          <p:nvPr/>
        </p:nvSpPr>
        <p:spPr>
          <a:xfrm>
            <a:off x="9838944" y="4224528"/>
            <a:ext cx="17007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사업부 본사업 연계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AX진단 → AX-PI / Quick-Win</a:t>
            </a:r>
            <a:endParaRPr lang="en-US" sz="1200" dirty="0"/>
          </a:p>
        </p:txBody>
      </p:sp>
      <p:sp>
        <p:nvSpPr>
          <p:cNvPr id="105" name="row-label-3"/>
          <p:cNvSpPr/>
          <p:nvPr/>
        </p:nvSpPr>
        <p:spPr>
          <a:xfrm>
            <a:off x="4480560" y="5038344"/>
            <a:ext cx="960120" cy="1508760"/>
          </a:xfrm>
          <a:prstGeom prst="rect">
            <a:avLst/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4480560" y="5038344"/>
            <a:ext cx="960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세부운영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계획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(e.g.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백화점)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559552" y="507492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accent5"/>
                </a:solidFill>
              </a:rPr>
              <a:t>• </a:t>
            </a:r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Inno-Camp 결과를 </a:t>
            </a:r>
            <a:pPr indent="0" marL="0">
              <a:buNone/>
            </a:pPr>
            <a:r>
              <a:rPr lang="en-US" sz="1250" b="1" dirty="0">
                <a:solidFill>
                  <a:schemeClr val="accent3"/>
                </a:solidFill>
              </a:rPr>
              <a:t>사업부 '27 온/오프 통합 e커머스 구축으로 연계</a:t>
            </a:r>
            <a:endParaRPr lang="en-US" sz="1250" dirty="0"/>
          </a:p>
        </p:txBody>
      </p:sp>
      <p:sp>
        <p:nvSpPr>
          <p:cNvPr id="108" name="Text 106"/>
          <p:cNvSpPr txBox="1"/>
          <p:nvPr/>
        </p:nvSpPr>
        <p:spPr>
          <a:xfrm>
            <a:off x="5715000" y="5340096"/>
            <a:ext cx="5897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09" name="plan-step-1"/>
          <p:cNvSpPr/>
          <p:nvPr/>
        </p:nvSpPr>
        <p:spPr>
          <a:xfrm>
            <a:off x="5577840" y="5385816"/>
            <a:ext cx="1280160" cy="530352"/>
          </a:xfrm>
          <a:prstGeom prst="homePlate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5623560" y="5385816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과정 설계·준비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'26.10</a:t>
            </a:r>
            <a:endParaRPr lang="en-US" sz="950" dirty="0"/>
          </a:p>
        </p:txBody>
      </p:sp>
      <p:sp>
        <p:nvSpPr>
          <p:cNvPr id="111" name="Text 109"/>
          <p:cNvSpPr txBox="1"/>
          <p:nvPr/>
        </p:nvSpPr>
        <p:spPr>
          <a:xfrm>
            <a:off x="5669280" y="59527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데이터셋 6종·실습 시나리오</a:t>
            </a:r>
            <a:endParaRPr lang="en-US" sz="900" dirty="0"/>
          </a:p>
        </p:txBody>
      </p:sp>
      <p:sp>
        <p:nvSpPr>
          <p:cNvPr id="112" name="plan-step-2"/>
          <p:cNvSpPr/>
          <p:nvPr/>
        </p:nvSpPr>
        <p:spPr>
          <a:xfrm>
            <a:off x="6766560" y="5385816"/>
            <a:ext cx="1280160" cy="530352"/>
          </a:xfrm>
          <a:prstGeom prst="chevron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6949440" y="53858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Camp 운영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bg1"/>
                </a:solidFill>
              </a:rPr>
              <a:t>'26.10.30 ✓</a:t>
            </a:r>
            <a:endParaRPr lang="en-US" sz="950" dirty="0"/>
          </a:p>
        </p:txBody>
      </p:sp>
      <p:sp>
        <p:nvSpPr>
          <p:cNvPr id="114" name="Text 112"/>
          <p:cNvSpPr txBox="1"/>
          <p:nvPr/>
        </p:nvSpPr>
        <p:spPr>
          <a:xfrm>
            <a:off x="6858000" y="59527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분석 → 기획 → 구현 실습</a:t>
            </a:r>
            <a:endParaRPr lang="en-US" sz="900" dirty="0"/>
          </a:p>
        </p:txBody>
      </p:sp>
      <p:sp>
        <p:nvSpPr>
          <p:cNvPr id="115" name="plan-step-3"/>
          <p:cNvSpPr/>
          <p:nvPr/>
        </p:nvSpPr>
        <p:spPr>
          <a:xfrm>
            <a:off x="7955280" y="5385816"/>
            <a:ext cx="1280160" cy="530352"/>
          </a:xfrm>
          <a:prstGeom prst="chevron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8138160" y="53858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결과 정리·진단 제안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'26.11</a:t>
            </a:r>
            <a:endParaRPr lang="en-US" sz="950" dirty="0"/>
          </a:p>
        </p:txBody>
      </p:sp>
      <p:sp>
        <p:nvSpPr>
          <p:cNvPr id="117" name="Text 115"/>
          <p:cNvSpPr txBox="1"/>
          <p:nvPr/>
        </p:nvSpPr>
        <p:spPr>
          <a:xfrm>
            <a:off x="8046720" y="59527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과제 리스트·진단 제안서</a:t>
            </a:r>
            <a:endParaRPr lang="en-US" sz="900" dirty="0"/>
          </a:p>
        </p:txBody>
      </p:sp>
      <p:sp>
        <p:nvSpPr>
          <p:cNvPr id="118" name="plan-step-4"/>
          <p:cNvSpPr/>
          <p:nvPr/>
        </p:nvSpPr>
        <p:spPr>
          <a:xfrm>
            <a:off x="9144000" y="5385816"/>
            <a:ext cx="1280160" cy="530352"/>
          </a:xfrm>
          <a:prstGeom prst="chevron">
            <a:avLst/>
          </a:prstGeom>
          <a:solidFill>
            <a:schemeClr val="accent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9326880" y="53858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tx1"/>
                </a:solidFill>
              </a:rPr>
              <a:t>진단·PI / QW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tx1"/>
                </a:solidFill>
              </a:rPr>
              <a:t>'26.4Q~'27.1H</a:t>
            </a:r>
            <a:endParaRPr lang="en-US" sz="950" dirty="0"/>
          </a:p>
        </p:txBody>
      </p:sp>
      <p:sp>
        <p:nvSpPr>
          <p:cNvPr id="120" name="Text 118"/>
          <p:cNvSpPr txBox="1"/>
          <p:nvPr/>
        </p:nvSpPr>
        <p:spPr>
          <a:xfrm>
            <a:off x="9235440" y="59527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To-Be·구축 요건, Agent 실증</a:t>
            </a:r>
            <a:endParaRPr lang="en-US" sz="900" dirty="0"/>
          </a:p>
        </p:txBody>
      </p:sp>
      <p:sp>
        <p:nvSpPr>
          <p:cNvPr id="121" name="plan-step-5"/>
          <p:cNvSpPr/>
          <p:nvPr/>
        </p:nvSpPr>
        <p:spPr>
          <a:xfrm>
            <a:off x="10332720" y="5385816"/>
            <a:ext cx="1280160" cy="530352"/>
          </a:xfrm>
          <a:prstGeom prst="chevron">
            <a:avLst/>
          </a:prstGeom>
          <a:solidFill>
            <a:schemeClr val="accent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10515600" y="53858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chemeClr val="bg1"/>
                </a:solidFill>
              </a:rPr>
              <a:t>사업부 본사업</a:t>
            </a:r>
            <a:endParaRPr lang="en-US" sz="950" dirty="0"/>
          </a:p>
          <a:p>
            <a:pPr algn="ctr" indent="0" marL="0">
              <a:buNone/>
            </a:pPr>
            <a:r>
              <a:rPr lang="en-US" sz="850" dirty="0">
                <a:solidFill>
                  <a:schemeClr val="bg1"/>
                </a:solidFill>
              </a:rPr>
              <a:t>'27</a:t>
            </a:r>
            <a:endParaRPr lang="en-US" sz="950" dirty="0"/>
          </a:p>
        </p:txBody>
      </p:sp>
      <p:sp>
        <p:nvSpPr>
          <p:cNvPr id="123" name="Text 121"/>
          <p:cNvSpPr txBox="1"/>
          <p:nvPr/>
        </p:nvSpPr>
        <p:spPr>
          <a:xfrm>
            <a:off x="10424160" y="595274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통합 e커머스 구축</a:t>
            </a:r>
            <a:endParaRPr lang="en-US" sz="900" dirty="0"/>
          </a:p>
        </p:txBody>
      </p:sp>
      <p:sp>
        <p:nvSpPr>
          <p:cNvPr id="124" name="Text 122"/>
          <p:cNvSpPr txBox="1"/>
          <p:nvPr/>
        </p:nvSpPr>
        <p:spPr>
          <a:xfrm>
            <a:off x="5577840" y="6291072"/>
            <a:ext cx="6016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※ 투입: Advisor 1, 퍼실리테이터 N, AI 전문가 N  /  산출물: Agent 기획서, 프로토타입 3종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000000"/>
      </a:dk1>
      <a:lt1>
        <a:srgbClr val="FFFFFF"/>
      </a:lt1>
      <a:dk2>
        <a:srgbClr val="404040"/>
      </a:dk2>
      <a:lt2>
        <a:srgbClr val="F2F2F2"/>
      </a:lt2>
      <a:accent1>
        <a:srgbClr val="7B4FA8"/>
      </a:accent1>
      <a:accent2>
        <a:srgbClr val="EDE6F5"/>
      </a:accent2>
      <a:accent3>
        <a:srgbClr val="1F3FB0"/>
      </a:accent3>
      <a:accent4>
        <a:srgbClr val="D9D9D9"/>
      </a:accent4>
      <a:accent5>
        <a:srgbClr val="7F7F7F"/>
      </a:accent5>
      <a:accent6>
        <a:srgbClr val="BFBFBF"/>
      </a:accent6>
      <a:hlink>
        <a:srgbClr val="1F3FB0"/>
      </a:hlink>
      <a:folHlink>
        <a:srgbClr val="7B4FA8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2026-10-31T05:18:04Z</dcterms:created>
  <dcterms:modified xsi:type="dcterms:W3CDTF">2026-10-31T05:18:04Z</dcterms:modified>
</cp:coreProperties>
</file>