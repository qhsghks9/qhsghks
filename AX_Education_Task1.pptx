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과제1 AX교육" id="{e631978b-d56c-1a7d-efab-a85de97a453b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왼쪽: 추진 프로세스 중 AX교육 단계의 배경·목적·범위. 오른쪽: 롯데백화점 이커머스 AX Inno-Camp('26.10.30)를 출발점으로 AX진단·Quick-Win 실증을 거쳐 '27 AI 기반 온/오프 통합 e커머스 서비스 구축 사업으로 이어지는 사업화 흐름. 행2·3 시기는 안(案)이며 실제 일정으로 수정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20040" y="201168"/>
            <a:ext cx="115214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20040" y="201168"/>
            <a:ext cx="1152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4. '27년 중점추진과제  &gt;  </a:t>
            </a:r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① AX 변화관리를 통한 그룹사 AX 사업화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320040" y="10241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컨설팅 AX 교육 서비스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20040" y="1444752"/>
            <a:ext cx="393192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</a:ln>
        </p:spPr>
      </p:sp>
      <p:sp>
        <p:nvSpPr>
          <p:cNvPr id="5" name="step-1"/>
          <p:cNvSpPr/>
          <p:nvPr/>
        </p:nvSpPr>
        <p:spPr>
          <a:xfrm>
            <a:off x="320040" y="1600200"/>
            <a:ext cx="960120" cy="1024128"/>
          </a:xfrm>
          <a:prstGeom prst="flowChartOffpageConnector">
            <a:avLst/>
          </a:prstGeom>
          <a:solidFill>
            <a:schemeClr val="tx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20040" y="1600200"/>
            <a:ext cx="960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AX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교육</a:t>
            </a:r>
            <a:endParaRPr lang="en-US" sz="1300" dirty="0"/>
          </a:p>
        </p:txBody>
      </p:sp>
      <p:sp>
        <p:nvSpPr>
          <p:cNvPr id="7" name="step-2"/>
          <p:cNvSpPr/>
          <p:nvPr/>
        </p:nvSpPr>
        <p:spPr>
          <a:xfrm>
            <a:off x="320040" y="2587752"/>
            <a:ext cx="960120" cy="1024128"/>
          </a:xfrm>
          <a:prstGeom prst="flowChartOffpageConnector">
            <a:avLst/>
          </a:prstGeom>
          <a:solidFill>
            <a:schemeClr val="bg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0040" y="2587752"/>
            <a:ext cx="960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5"/>
                </a:solidFill>
              </a:rPr>
              <a:t>AX진단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chemeClr val="accent5"/>
                </a:solidFill>
              </a:rPr>
              <a:t>컨설팅</a:t>
            </a:r>
            <a:endParaRPr lang="en-US" sz="1150" dirty="0"/>
          </a:p>
        </p:txBody>
      </p:sp>
      <p:sp>
        <p:nvSpPr>
          <p:cNvPr id="9" name="step-3"/>
          <p:cNvSpPr/>
          <p:nvPr/>
        </p:nvSpPr>
        <p:spPr>
          <a:xfrm>
            <a:off x="320040" y="3575304"/>
            <a:ext cx="960120" cy="1024128"/>
          </a:xfrm>
          <a:prstGeom prst="flowChartOffpageConnector">
            <a:avLst/>
          </a:prstGeom>
          <a:solidFill>
            <a:schemeClr val="bg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0040" y="3575304"/>
            <a:ext cx="960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5"/>
                </a:solidFill>
              </a:rPr>
              <a:t>AX-PI</a:t>
            </a:r>
            <a:endParaRPr lang="en-US" sz="1150" dirty="0"/>
          </a:p>
        </p:txBody>
      </p:sp>
      <p:sp>
        <p:nvSpPr>
          <p:cNvPr id="11" name="step-4"/>
          <p:cNvSpPr/>
          <p:nvPr/>
        </p:nvSpPr>
        <p:spPr>
          <a:xfrm>
            <a:off x="320040" y="4562856"/>
            <a:ext cx="960120" cy="1024128"/>
          </a:xfrm>
          <a:prstGeom prst="flowChartOffpageConnector">
            <a:avLst/>
          </a:prstGeom>
          <a:solidFill>
            <a:schemeClr val="bg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4562856"/>
            <a:ext cx="960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5"/>
                </a:solidFill>
              </a:rPr>
              <a:t>AX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chemeClr val="accent5"/>
                </a:solidFill>
              </a:rPr>
              <a:t>Quick-win</a:t>
            </a:r>
            <a:endParaRPr lang="en-US" sz="1150" dirty="0"/>
          </a:p>
        </p:txBody>
      </p:sp>
      <p:sp>
        <p:nvSpPr>
          <p:cNvPr id="13" name="step-5"/>
          <p:cNvSpPr/>
          <p:nvPr/>
        </p:nvSpPr>
        <p:spPr>
          <a:xfrm>
            <a:off x="320040" y="5550408"/>
            <a:ext cx="960120" cy="1024128"/>
          </a:xfrm>
          <a:prstGeom prst="flowChartOffpageConnector">
            <a:avLst/>
          </a:prstGeom>
          <a:solidFill>
            <a:schemeClr val="bg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0040" y="5550408"/>
            <a:ext cx="960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5"/>
                </a:solidFill>
              </a:rPr>
              <a:t>구축</a:t>
            </a:r>
            <a:endParaRPr lang="en-US" sz="1150" dirty="0"/>
          </a:p>
        </p:txBody>
      </p:sp>
      <p:sp>
        <p:nvSpPr>
          <p:cNvPr id="15" name="left-box-1"/>
          <p:cNvSpPr/>
          <p:nvPr/>
        </p:nvSpPr>
        <p:spPr>
          <a:xfrm>
            <a:off x="1417320" y="1600200"/>
            <a:ext cx="2834640" cy="14630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17320" y="1600200"/>
            <a:ext cx="2834640" cy="310896"/>
          </a:xfrm>
          <a:prstGeom prst="rect">
            <a:avLst/>
          </a:prstGeom>
          <a:solidFill>
            <a:schemeClr val="accent4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417320" y="160020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추진 배경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1984248"/>
            <a:ext cx="2670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chemeClr val="tx2"/>
                </a:solidFill>
              </a:rPr>
              <a:t>그룹사 AX 공감대는 높으나 현업의 AI 활용 경험·실행 과제 부족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chemeClr val="tx2"/>
                </a:solidFill>
              </a:rPr>
              <a:t>Top-down 과제 발굴의 현장 적합성 한계 → 현업 주도 변화관리 필요</a:t>
            </a:r>
            <a:endParaRPr lang="en-US" sz="1050" dirty="0"/>
          </a:p>
        </p:txBody>
      </p:sp>
      <p:sp>
        <p:nvSpPr>
          <p:cNvPr id="19" name="left-box-2"/>
          <p:cNvSpPr/>
          <p:nvPr/>
        </p:nvSpPr>
        <p:spPr>
          <a:xfrm>
            <a:off x="1417320" y="3154680"/>
            <a:ext cx="2834640" cy="16002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17320" y="3154680"/>
            <a:ext cx="2834640" cy="310896"/>
          </a:xfrm>
          <a:prstGeom prst="rect">
            <a:avLst/>
          </a:prstGeom>
          <a:solidFill>
            <a:schemeClr val="accent4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417320" y="315468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추진 목적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3538728"/>
            <a:ext cx="26700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chemeClr val="tx2"/>
                </a:solidFill>
              </a:rPr>
              <a:t>현업이 자기 업무 데이터로 Pain Point를 찾고 AI Agent 과제를 설계·구현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chemeClr val="tx2"/>
                </a:solidFill>
              </a:rPr>
              <a:t>교육 산출물(Agent 기획서·프로토타입)을 AX진단으로 연계 → 사업 Open Door</a:t>
            </a:r>
            <a:endParaRPr lang="en-US" sz="1050" dirty="0"/>
          </a:p>
        </p:txBody>
      </p:sp>
      <p:sp>
        <p:nvSpPr>
          <p:cNvPr id="23" name="left-box-3"/>
          <p:cNvSpPr/>
          <p:nvPr/>
        </p:nvSpPr>
        <p:spPr>
          <a:xfrm>
            <a:off x="1417320" y="4846320"/>
            <a:ext cx="2834640" cy="16916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17320" y="4846320"/>
            <a:ext cx="2834640" cy="310896"/>
          </a:xfrm>
          <a:prstGeom prst="rect">
            <a:avLst/>
          </a:prstGeom>
          <a:solidFill>
            <a:schemeClr val="accent4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417320" y="484632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추진 범위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508760" y="5230368"/>
            <a:ext cx="26700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chemeClr val="tx2"/>
                </a:solidFill>
              </a:rPr>
              <a:t>1차 Pilot: 롯데백화점 이커머스부문 ('26.10.30)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chemeClr val="tx2"/>
                </a:solidFill>
              </a:rPr>
              <a:t>데이터 분석 → 과제 도출 → 외부조사 → 기획서 → Agent 개발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chemeClr val="tx2"/>
                </a:solidFill>
              </a:rPr>
              <a:t>'27년 업종별 데이터셋·시나리오 표준화 → 그룹사 확산</a:t>
            </a:r>
            <a:endParaRPr lang="en-US" sz="1050" dirty="0"/>
          </a:p>
        </p:txBody>
      </p:sp>
      <p:sp>
        <p:nvSpPr>
          <p:cNvPr id="27" name="approach-header"/>
          <p:cNvSpPr/>
          <p:nvPr/>
        </p:nvSpPr>
        <p:spPr>
          <a:xfrm>
            <a:off x="4480560" y="1024128"/>
            <a:ext cx="5120640" cy="38404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72000" y="102412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AX교육 기반 사업화 Approach (e.g. 롯데백화점)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4480560" y="1481328"/>
            <a:ext cx="7360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3"/>
                </a:solidFill>
              </a:rPr>
              <a:t>▪ 현업 주도 과제 발굴 → 진단·실증 → 본사업 수주 연결 </a:t>
            </a:r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(교육 → 진단 → PI/Quick-Win → '27 구축)</a:t>
            </a:r>
            <a:endParaRPr lang="en-US" sz="1250" dirty="0"/>
          </a:p>
        </p:txBody>
      </p:sp>
      <p:sp>
        <p:nvSpPr>
          <p:cNvPr id="30" name="row-label-1"/>
          <p:cNvSpPr/>
          <p:nvPr/>
        </p:nvSpPr>
        <p:spPr>
          <a:xfrm>
            <a:off x="4480560" y="1874520"/>
            <a:ext cx="960120" cy="15087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480560" y="1874520"/>
            <a:ext cx="960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교육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Open Door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'26.10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559552" y="1911096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• 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현업 AI 활용 경험 부족 → </a:t>
            </a:r>
            <a:pPr indent="0" marL="0">
              <a:buNone/>
            </a:pPr>
            <a:r>
              <a:rPr lang="en-US" sz="1250" b="1" dirty="0">
                <a:solidFill>
                  <a:schemeClr val="accent3"/>
                </a:solidFill>
              </a:rPr>
              <a:t>실습형 AX Inno-Camp로 현업 주도 과제 발굴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5715000" y="2185416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e.g. [롯데백화점 이커머스] 가상 데이터 6종 기반 고객 인사이트 도출 → Agent 기획·구현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577840" y="2478024"/>
            <a:ext cx="1783080" cy="60350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577840" y="2478024"/>
            <a:ext cx="685800" cy="18288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577840" y="247802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이슈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5650992" y="2660904"/>
            <a:ext cx="1636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현업 AX 공감대·과제 부재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 rot="5400000">
            <a:off x="7351776" y="2642616"/>
            <a:ext cx="274320" cy="164592"/>
          </a:xfrm>
          <a:prstGeom prst="triangle">
            <a:avLst/>
          </a:prstGeom>
          <a:solidFill>
            <a:schemeClr val="accent6"/>
          </a:solidFill>
          <a:ln/>
        </p:spPr>
      </p:sp>
      <p:sp>
        <p:nvSpPr>
          <p:cNvPr id="39" name="Shape 37"/>
          <p:cNvSpPr/>
          <p:nvPr/>
        </p:nvSpPr>
        <p:spPr>
          <a:xfrm>
            <a:off x="7653528" y="2478024"/>
            <a:ext cx="1874520" cy="603504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653528" y="2478024"/>
            <a:ext cx="685800" cy="1828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7653528" y="247802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AX 활동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7726680" y="2660904"/>
            <a:ext cx="17282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AX Inno-Camp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 rot="5400000">
            <a:off x="9518904" y="2642616"/>
            <a:ext cx="274320" cy="164592"/>
          </a:xfrm>
          <a:prstGeom prst="triangle">
            <a:avLst/>
          </a:prstGeom>
          <a:solidFill>
            <a:schemeClr val="accent6"/>
          </a:solidFill>
          <a:ln/>
        </p:spPr>
      </p:sp>
      <p:sp>
        <p:nvSpPr>
          <p:cNvPr id="44" name="Shape 42"/>
          <p:cNvSpPr/>
          <p:nvPr/>
        </p:nvSpPr>
        <p:spPr>
          <a:xfrm>
            <a:off x="9820656" y="2478024"/>
            <a:ext cx="1737360" cy="60350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820656" y="2478024"/>
            <a:ext cx="685800" cy="18288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9820656" y="247802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기대효과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9893808" y="2660904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현업 주도 AX 과제 Pool 확보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7498080" y="30906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※ 고객 데이터 분석 / Agent 기획서 /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프로토타입 3종</a:t>
            </a:r>
            <a:endParaRPr lang="en-US" sz="850" dirty="0"/>
          </a:p>
        </p:txBody>
      </p:sp>
      <p:sp>
        <p:nvSpPr>
          <p:cNvPr id="49" name="row-label-2"/>
          <p:cNvSpPr/>
          <p:nvPr/>
        </p:nvSpPr>
        <p:spPr>
          <a:xfrm>
            <a:off x="4480560" y="3456432"/>
            <a:ext cx="960120" cy="15087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480560" y="3456432"/>
            <a:ext cx="960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진단·실증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'26.4Q~'27.1H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559552" y="3493008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• 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교육 과제 실현성 검증 필요 → </a:t>
            </a:r>
            <a:pPr indent="0" marL="0">
              <a:buNone/>
            </a:pPr>
            <a:r>
              <a:rPr lang="en-US" sz="1250" b="1" dirty="0">
                <a:solidFill>
                  <a:schemeClr val="accent3"/>
                </a:solidFill>
              </a:rPr>
              <a:t>AX진단으로 과제 구조화, Quick-Win으로 실증</a:t>
            </a:r>
            <a:endParaRPr lang="en-US" sz="1250" dirty="0"/>
          </a:p>
        </p:txBody>
      </p:sp>
      <p:sp>
        <p:nvSpPr>
          <p:cNvPr id="52" name="Text 50"/>
          <p:cNvSpPr txBox="1"/>
          <p:nvPr/>
        </p:nvSpPr>
        <p:spPr>
          <a:xfrm>
            <a:off x="5715000" y="3767328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e.g. 교육 도출 CRM·고객여정 과제 고도화 → AX-PI / Quick-Win 유형 분류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577840" y="4059936"/>
            <a:ext cx="1783080" cy="60350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577840" y="4059936"/>
            <a:ext cx="685800" cy="18288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577840" y="4059936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이슈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5650992" y="4242816"/>
            <a:ext cx="1636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과제 실현성·효과 불확실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 rot="5400000">
            <a:off x="7351776" y="4224528"/>
            <a:ext cx="274320" cy="164592"/>
          </a:xfrm>
          <a:prstGeom prst="triangle">
            <a:avLst/>
          </a:prstGeom>
          <a:solidFill>
            <a:schemeClr val="accent6"/>
          </a:solidFill>
          <a:ln/>
        </p:spPr>
      </p:sp>
      <p:sp>
        <p:nvSpPr>
          <p:cNvPr id="58" name="Shape 56"/>
          <p:cNvSpPr/>
          <p:nvPr/>
        </p:nvSpPr>
        <p:spPr>
          <a:xfrm>
            <a:off x="7653528" y="4059936"/>
            <a:ext cx="1874520" cy="603504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653528" y="4059936"/>
            <a:ext cx="685800" cy="1828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653528" y="4059936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AX 활동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7726680" y="4242816"/>
            <a:ext cx="17282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AX진단 + Agent 실증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 rot="5400000">
            <a:off x="9518904" y="4224528"/>
            <a:ext cx="274320" cy="164592"/>
          </a:xfrm>
          <a:prstGeom prst="triangle">
            <a:avLst/>
          </a:prstGeom>
          <a:solidFill>
            <a:schemeClr val="accent6"/>
          </a:solidFill>
          <a:ln/>
        </p:spPr>
      </p:sp>
      <p:sp>
        <p:nvSpPr>
          <p:cNvPr id="63" name="Shape 61"/>
          <p:cNvSpPr/>
          <p:nvPr/>
        </p:nvSpPr>
        <p:spPr>
          <a:xfrm>
            <a:off x="9820656" y="4059936"/>
            <a:ext cx="1737360" cy="60350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820656" y="4059936"/>
            <a:ext cx="685800" cy="18288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820656" y="4059936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기대효과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9893808" y="4242816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효과 실증 → 사업 범위 확정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7498080" y="467258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※ 실데이터·시스템 진단 /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레터 발송 Agent 실구현</a:t>
            </a:r>
            <a:endParaRPr lang="en-US" sz="850" dirty="0"/>
          </a:p>
        </p:txBody>
      </p:sp>
      <p:sp>
        <p:nvSpPr>
          <p:cNvPr id="68" name="row-label-3"/>
          <p:cNvSpPr/>
          <p:nvPr/>
        </p:nvSpPr>
        <p:spPr>
          <a:xfrm>
            <a:off x="4480560" y="5038344"/>
            <a:ext cx="960120" cy="15087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4480560" y="5038344"/>
            <a:ext cx="960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본사업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구축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'27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5559552" y="5074920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• 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온/오프 고객 데이터·여정 단절 → </a:t>
            </a:r>
            <a:pPr indent="0" marL="0">
              <a:buNone/>
            </a:pPr>
            <a:r>
              <a:rPr lang="en-US" sz="1250" b="1" dirty="0">
                <a:solidFill>
                  <a:schemeClr val="accent3"/>
                </a:solidFill>
              </a:rPr>
              <a:t>AX-PI 기반 온/오프 통합 e커머스 구축</a:t>
            </a:r>
            <a:endParaRPr lang="en-US" sz="1250" dirty="0"/>
          </a:p>
        </p:txBody>
      </p:sp>
      <p:sp>
        <p:nvSpPr>
          <p:cNvPr id="71" name="Text 69"/>
          <p:cNvSpPr txBox="1"/>
          <p:nvPr/>
        </p:nvSpPr>
        <p:spPr>
          <a:xfrm>
            <a:off x="5715000" y="5349240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e.g. '27 AI 기반 온/오프 통합 e커머스 서비스 구축 프로젝트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577840" y="5641848"/>
            <a:ext cx="1783080" cy="60350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577840" y="5641848"/>
            <a:ext cx="685800" cy="18288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577840" y="56418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이슈</a:t>
            </a:r>
            <a:endParaRPr lang="en-US" sz="900" dirty="0"/>
          </a:p>
        </p:txBody>
      </p:sp>
      <p:sp>
        <p:nvSpPr>
          <p:cNvPr id="75" name="Text 73"/>
          <p:cNvSpPr txBox="1"/>
          <p:nvPr/>
        </p:nvSpPr>
        <p:spPr>
          <a:xfrm>
            <a:off x="5650992" y="5824728"/>
            <a:ext cx="1636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온/오프 통합 고객경험 필요</a:t>
            </a:r>
            <a:endParaRPr lang="en-US" sz="1200" dirty="0"/>
          </a:p>
        </p:txBody>
      </p:sp>
      <p:sp>
        <p:nvSpPr>
          <p:cNvPr id="76" name="Shape 74"/>
          <p:cNvSpPr/>
          <p:nvPr/>
        </p:nvSpPr>
        <p:spPr>
          <a:xfrm rot="5400000">
            <a:off x="7351776" y="5806440"/>
            <a:ext cx="274320" cy="164592"/>
          </a:xfrm>
          <a:prstGeom prst="triangle">
            <a:avLst/>
          </a:prstGeom>
          <a:solidFill>
            <a:schemeClr val="accent6"/>
          </a:solidFill>
          <a:ln/>
        </p:spPr>
      </p:sp>
      <p:sp>
        <p:nvSpPr>
          <p:cNvPr id="77" name="Shape 75"/>
          <p:cNvSpPr/>
          <p:nvPr/>
        </p:nvSpPr>
        <p:spPr>
          <a:xfrm>
            <a:off x="7653528" y="5641848"/>
            <a:ext cx="1874520" cy="603504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7653528" y="5641848"/>
            <a:ext cx="685800" cy="1828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7653528" y="56418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AX 활동</a:t>
            </a:r>
            <a:endParaRPr lang="en-US" sz="900" dirty="0"/>
          </a:p>
        </p:txBody>
      </p:sp>
      <p:sp>
        <p:nvSpPr>
          <p:cNvPr id="80" name="Text 78"/>
          <p:cNvSpPr txBox="1"/>
          <p:nvPr/>
        </p:nvSpPr>
        <p:spPr>
          <a:xfrm>
            <a:off x="7726680" y="5824728"/>
            <a:ext cx="17282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AI 통합 e커머스 플랫폼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 rot="5400000">
            <a:off x="9518904" y="5806440"/>
            <a:ext cx="274320" cy="164592"/>
          </a:xfrm>
          <a:prstGeom prst="triangle">
            <a:avLst/>
          </a:prstGeom>
          <a:solidFill>
            <a:schemeClr val="accent6"/>
          </a:solidFill>
          <a:ln/>
        </p:spPr>
      </p:sp>
      <p:sp>
        <p:nvSpPr>
          <p:cNvPr id="82" name="Shape 80"/>
          <p:cNvSpPr/>
          <p:nvPr/>
        </p:nvSpPr>
        <p:spPr>
          <a:xfrm>
            <a:off x="9820656" y="5641848"/>
            <a:ext cx="1737360" cy="60350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820656" y="5641848"/>
            <a:ext cx="685800" cy="18288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820656" y="56418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기대효과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9893808" y="5824728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구축 사업 수주 / 매출 확대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7498080" y="625449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※ 통합 고객 데이터 /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개인화 추천·Agent 서비스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11558016" y="2779776"/>
            <a:ext cx="128016" cy="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1686032" y="2779776"/>
            <a:ext cx="0" cy="3163824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1558016" y="5943600"/>
            <a:ext cx="128016" cy="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  <a:headEnd type="triangle"/>
          </a:ln>
        </p:spPr>
      </p:sp>
      <p:sp>
        <p:nvSpPr>
          <p:cNvPr id="90" name="Text 88"/>
          <p:cNvSpPr txBox="1"/>
          <p:nvPr/>
        </p:nvSpPr>
        <p:spPr>
          <a:xfrm rot="5400000">
            <a:off x="10853928" y="400507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단계별 사업 확대 · 타 그룹사 확산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X Consulting">
  <a:themeElements>
    <a:clrScheme name="AX Consulting">
      <a:dk1>
        <a:srgbClr val="000000"/>
      </a:dk1>
      <a:lt1>
        <a:srgbClr val="FFFFFF"/>
      </a:lt1>
      <a:dk2>
        <a:srgbClr val="404040"/>
      </a:dk2>
      <a:lt2>
        <a:srgbClr val="F2F2F2"/>
      </a:lt2>
      <a:accent1>
        <a:srgbClr val="7B4FA8"/>
      </a:accent1>
      <a:accent2>
        <a:srgbClr val="EDE6F5"/>
      </a:accent2>
      <a:accent3>
        <a:srgbClr val="1F3FB0"/>
      </a:accent3>
      <a:accent4>
        <a:srgbClr val="D9D9D9"/>
      </a:accent4>
      <a:accent5>
        <a:srgbClr val="7F7F7F"/>
      </a:accent5>
      <a:accent6>
        <a:srgbClr val="BFBFBF"/>
      </a:accent6>
      <a:hlink>
        <a:srgbClr val="1F3FB0"/>
      </a:hlink>
      <a:folHlink>
        <a:srgbClr val="7B4FA8"/>
      </a:folHlink>
    </a:clrScheme>
    <a:fontScheme name="AX Consulting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2026-10-31T02:11:03Z</dcterms:created>
  <dcterms:modified xsi:type="dcterms:W3CDTF">2026-10-31T02:11:03Z</dcterms:modified>
</cp:coreProperties>
</file>