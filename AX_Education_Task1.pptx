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1 AX교육" id="{1620c140-9431-36f3-bdad-fff7d9b6db3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왼쪽: 추진 프로세스 중 AX교육 단계의 배경·목적·범위. 오른쪽: AX Inno-Camp의 추진 방안(데이터 기반 인사이트 → Agent 과제 설계 → 직접 구현), 기대 효과(현업·과제·사업 측면), 롯데백화점 이커머스 세부운영 계획('26.10.30 Camp → 진단·PI → 사업부 '27 온/오프 통합 e커머스 구축 연계). 투입 인원 N과 '26.10/'26.11 일정은 안(案)이며 실제 값으로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 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① AX 변화관리를 통한 그룹사 AX 사업화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024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컨설팅 AX 교육 서비스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444752"/>
            <a:ext cx="39319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5" name="step-1"/>
          <p:cNvSpPr/>
          <p:nvPr/>
        </p:nvSpPr>
        <p:spPr>
          <a:xfrm>
            <a:off x="320040" y="1600200"/>
            <a:ext cx="960120" cy="1024128"/>
          </a:xfrm>
          <a:prstGeom prst="flowChartOffpageConnector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1600200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</a:t>
            </a:r>
            <a:endParaRPr lang="en-US" sz="1300" dirty="0"/>
          </a:p>
        </p:txBody>
      </p:sp>
      <p:sp>
        <p:nvSpPr>
          <p:cNvPr id="7" name="step-2"/>
          <p:cNvSpPr/>
          <p:nvPr/>
        </p:nvSpPr>
        <p:spPr>
          <a:xfrm>
            <a:off x="320040" y="2587752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" y="2587752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AX진단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컨설팅</a:t>
            </a:r>
            <a:endParaRPr lang="en-US" sz="1150" dirty="0"/>
          </a:p>
        </p:txBody>
      </p:sp>
      <p:sp>
        <p:nvSpPr>
          <p:cNvPr id="9" name="step-3"/>
          <p:cNvSpPr/>
          <p:nvPr/>
        </p:nvSpPr>
        <p:spPr>
          <a:xfrm>
            <a:off x="320040" y="3575304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3575304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AX-PI</a:t>
            </a:r>
            <a:endParaRPr lang="en-US" sz="1150" dirty="0"/>
          </a:p>
        </p:txBody>
      </p:sp>
      <p:sp>
        <p:nvSpPr>
          <p:cNvPr id="11" name="step-4"/>
          <p:cNvSpPr/>
          <p:nvPr/>
        </p:nvSpPr>
        <p:spPr>
          <a:xfrm>
            <a:off x="320040" y="4562856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4562856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Quick-win</a:t>
            </a:r>
            <a:endParaRPr lang="en-US" sz="1150" dirty="0"/>
          </a:p>
        </p:txBody>
      </p:sp>
      <p:sp>
        <p:nvSpPr>
          <p:cNvPr id="13" name="step-5"/>
          <p:cNvSpPr/>
          <p:nvPr/>
        </p:nvSpPr>
        <p:spPr>
          <a:xfrm>
            <a:off x="320040" y="5550408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5550408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구축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(사업부)</a:t>
            </a:r>
            <a:endParaRPr lang="en-US" sz="1150" dirty="0"/>
          </a:p>
        </p:txBody>
      </p:sp>
      <p:sp>
        <p:nvSpPr>
          <p:cNvPr id="15" name="left-box-1"/>
          <p:cNvSpPr/>
          <p:nvPr/>
        </p:nvSpPr>
        <p:spPr>
          <a:xfrm>
            <a:off x="1417320" y="1600200"/>
            <a:ext cx="2834640" cy="14630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17320" y="160020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17320" y="16002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배경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1984248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그룹사 AX 공감대는 높으나 현업의 AI 활용 경험·실행 과제 부족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Top-down 과제 발굴의 현장 적합성 한계 → 현업 주도 변화관리 필요</a:t>
            </a:r>
            <a:endParaRPr lang="en-US" sz="1050" dirty="0"/>
          </a:p>
        </p:txBody>
      </p:sp>
      <p:sp>
        <p:nvSpPr>
          <p:cNvPr id="19" name="left-box-2"/>
          <p:cNvSpPr/>
          <p:nvPr/>
        </p:nvSpPr>
        <p:spPr>
          <a:xfrm>
            <a:off x="1417320" y="3154680"/>
            <a:ext cx="2834640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15468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목적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538728"/>
            <a:ext cx="2670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현업이 자기 업무 데이터로 Pain Point를 찾고 AI Agent 과제를 설계·구현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교육 산출물(Agent 기획서·프로토타입)을 AX진단으로 연계 → 사업 Open Door</a:t>
            </a:r>
            <a:endParaRPr lang="en-US" sz="1050" dirty="0"/>
          </a:p>
        </p:txBody>
      </p:sp>
      <p:sp>
        <p:nvSpPr>
          <p:cNvPr id="23" name="left-box-3"/>
          <p:cNvSpPr/>
          <p:nvPr/>
        </p:nvSpPr>
        <p:spPr>
          <a:xfrm>
            <a:off x="1417320" y="4846320"/>
            <a:ext cx="2834640" cy="16916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17320" y="4846320"/>
            <a:ext cx="2834640" cy="310896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4846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범위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230368"/>
            <a:ext cx="2670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1차 Pilot: 롯데백화점 이커머스부문 ('26.10.30)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데이터 분석 → 과제 도출 → 외부조사 → 기획서 → Agent 개발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2"/>
                </a:solidFill>
              </a:rPr>
              <a:t>'27년 업종별 데이터셋·시나리오 표준화 → 그룹사 확산</a:t>
            </a:r>
            <a:endParaRPr lang="en-US" sz="1050" dirty="0"/>
          </a:p>
        </p:txBody>
      </p:sp>
      <p:sp>
        <p:nvSpPr>
          <p:cNvPr id="27" name="approach-header"/>
          <p:cNvSpPr/>
          <p:nvPr/>
        </p:nvSpPr>
        <p:spPr>
          <a:xfrm>
            <a:off x="4480560" y="1024128"/>
            <a:ext cx="5120640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0" y="10241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AX교육 Approach (AX Inno-Camp)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1481328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▪ 현업 업무·데이터에서 출발하는 실습형 교육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→ AX 과제 발굴 → 진단 → 사업부 본사업 연계</a:t>
            </a:r>
            <a:endParaRPr lang="en-US" sz="1250" dirty="0"/>
          </a:p>
        </p:txBody>
      </p:sp>
      <p:sp>
        <p:nvSpPr>
          <p:cNvPr id="30" name="row-label-1"/>
          <p:cNvSpPr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방안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559552" y="19110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업무 경험·데이터에서 출발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현업이 AI Agent 과제를 발굴·설계·구현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2176272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[롯데백화점 이커머스] 가상 데이터 6종으로 고객 분석 → Agent 기획 → 구현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577840" y="2459736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77840" y="2459736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77840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01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632704" y="2642616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데이터 기반 인사이트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고객군·여정·Pain Point 도출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rot="5400000">
            <a:off x="7370064" y="271576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39" name="Shape 37"/>
          <p:cNvSpPr/>
          <p:nvPr/>
        </p:nvSpPr>
        <p:spPr>
          <a:xfrm>
            <a:off x="7662672" y="2459736"/>
            <a:ext cx="1847088" cy="67665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62672" y="2459736"/>
            <a:ext cx="566928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662672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02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717536" y="264261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 Agent 과제 설계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AI 활용 기회 발굴, Agent 기획서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 rot="5400000">
            <a:off x="9491472" y="271576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44" name="Shape 42"/>
          <p:cNvSpPr/>
          <p:nvPr/>
        </p:nvSpPr>
        <p:spPr>
          <a:xfrm>
            <a:off x="9784080" y="2459736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784080" y="2459736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84080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03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38944" y="2642616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직접 구현·검증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CodeAgent/Onflow 구현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577840" y="3172968"/>
            <a:ext cx="6016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※ Co-Creation: 현업(참가자) + AX 컨설팅팀(퍼실리테이터) + AI 혁신센터·D&amp;AX(AI 전문가)</a:t>
            </a:r>
            <a:endParaRPr lang="en-US" sz="900" dirty="0"/>
          </a:p>
        </p:txBody>
      </p:sp>
      <p:sp>
        <p:nvSpPr>
          <p:cNvPr id="49" name="row-label-2"/>
          <p:cNvSpPr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기대 효과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559552" y="3493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교육 산출물 = AX진단 입력물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일회성 교육이 아닌 사업 파이프라인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5715000" y="3758184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타사 Innovation Camp는 아이디어·설계에서 종료 ↔ 당사는 구현 실습 + 진단·PI 연계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577840" y="4041648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4041648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577840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현업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5632704" y="4224528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현업 주도 변화관리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AX 역량·공감대 확보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 rot="5400000">
            <a:off x="7370064" y="429768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58" name="Shape 56"/>
          <p:cNvSpPr/>
          <p:nvPr/>
        </p:nvSpPr>
        <p:spPr>
          <a:xfrm>
            <a:off x="7662672" y="4041648"/>
            <a:ext cx="1847088" cy="67665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62672" y="4041648"/>
            <a:ext cx="566928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62672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과제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717536" y="422452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AX 과제 Pool 확보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적합성·가용성·실현성 검증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 rot="5400000">
            <a:off x="9491472" y="429768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63" name="Shape 61"/>
          <p:cNvSpPr/>
          <p:nvPr/>
        </p:nvSpPr>
        <p:spPr>
          <a:xfrm>
            <a:off x="9784080" y="4041648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784080" y="4041648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84080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사업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9838944" y="4224528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사업부 본사업 연계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AX진단 → AX-PI / Quick-Win</a:t>
            </a:r>
            <a:endParaRPr lang="en-US" sz="1200" dirty="0"/>
          </a:p>
        </p:txBody>
      </p:sp>
      <p:sp>
        <p:nvSpPr>
          <p:cNvPr id="67" name="row-label-3"/>
          <p:cNvSpPr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세부운영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(e.g.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백화점)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559552" y="5074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Inno-Camp 결과를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사업부 '27 온/오프 통합 e커머스 구축으로 연계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5715000" y="5340096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1" name="plan-step-1"/>
          <p:cNvSpPr/>
          <p:nvPr/>
        </p:nvSpPr>
        <p:spPr>
          <a:xfrm>
            <a:off x="5577840" y="5385816"/>
            <a:ext cx="1280160" cy="530352"/>
          </a:xfrm>
          <a:prstGeom prst="homePlat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623560" y="538581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과정 설계·준비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'26.10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566928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데이터셋 6종·실습 시나리오</a:t>
            </a:r>
            <a:endParaRPr lang="en-US" sz="900" dirty="0"/>
          </a:p>
        </p:txBody>
      </p:sp>
      <p:sp>
        <p:nvSpPr>
          <p:cNvPr id="74" name="plan-step-2"/>
          <p:cNvSpPr/>
          <p:nvPr/>
        </p:nvSpPr>
        <p:spPr>
          <a:xfrm>
            <a:off x="6766560" y="5385816"/>
            <a:ext cx="1280160" cy="530352"/>
          </a:xfrm>
          <a:prstGeom prst="chevron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94944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Camp 운영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'26.10.30 ✓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685800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분석 → 기획 → 구현 실습</a:t>
            </a:r>
            <a:endParaRPr lang="en-US" sz="900" dirty="0"/>
          </a:p>
        </p:txBody>
      </p:sp>
      <p:sp>
        <p:nvSpPr>
          <p:cNvPr id="77" name="plan-step-3"/>
          <p:cNvSpPr/>
          <p:nvPr/>
        </p:nvSpPr>
        <p:spPr>
          <a:xfrm>
            <a:off x="7955280" y="5385816"/>
            <a:ext cx="1280160" cy="530352"/>
          </a:xfrm>
          <a:prstGeom prst="chevron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결과 정리·진단 제안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'26.11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804672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과제 리스트·진단 제안서</a:t>
            </a:r>
            <a:endParaRPr lang="en-US" sz="900" dirty="0"/>
          </a:p>
        </p:txBody>
      </p:sp>
      <p:sp>
        <p:nvSpPr>
          <p:cNvPr id="80" name="plan-step-4"/>
          <p:cNvSpPr/>
          <p:nvPr/>
        </p:nvSpPr>
        <p:spPr>
          <a:xfrm>
            <a:off x="9144000" y="5385816"/>
            <a:ext cx="1280160" cy="530352"/>
          </a:xfrm>
          <a:prstGeom prst="chevron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32688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진단·PI / QW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'26.4Q~'27.1H</a:t>
            </a:r>
            <a:endParaRPr lang="en-US" sz="950" dirty="0"/>
          </a:p>
        </p:txBody>
      </p:sp>
      <p:sp>
        <p:nvSpPr>
          <p:cNvPr id="82" name="Text 80"/>
          <p:cNvSpPr txBox="1"/>
          <p:nvPr/>
        </p:nvSpPr>
        <p:spPr>
          <a:xfrm>
            <a:off x="923544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To-Be·구축 요건, Agent 실증</a:t>
            </a:r>
            <a:endParaRPr lang="en-US" sz="900" dirty="0"/>
          </a:p>
        </p:txBody>
      </p:sp>
      <p:sp>
        <p:nvSpPr>
          <p:cNvPr id="83" name="plan-step-5"/>
          <p:cNvSpPr/>
          <p:nvPr/>
        </p:nvSpPr>
        <p:spPr>
          <a:xfrm>
            <a:off x="10332720" y="5385816"/>
            <a:ext cx="1280160" cy="530352"/>
          </a:xfrm>
          <a:prstGeom prst="chevron">
            <a:avLst/>
          </a:prstGeom>
          <a:solidFill>
            <a:schemeClr val="accent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1560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사업부 본사업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'27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1042416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통합 e커머스 구축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5577840" y="6291072"/>
            <a:ext cx="6016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※ 투입: Advisor 1, 퍼실리테이터 N, AI 전문가 N  /  산출물: Agent 기획서, 프로토타입 3종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000000"/>
      </a:dk1>
      <a:lt1>
        <a:srgbClr val="FFFFFF"/>
      </a:lt1>
      <a:dk2>
        <a:srgbClr val="404040"/>
      </a:dk2>
      <a:lt2>
        <a:srgbClr val="F2F2F2"/>
      </a:lt2>
      <a:accent1>
        <a:srgbClr val="7B4FA8"/>
      </a:accent1>
      <a:accent2>
        <a:srgbClr val="EDE6F5"/>
      </a:accent2>
      <a:accent3>
        <a:srgbClr val="1F3FB0"/>
      </a:accent3>
      <a:accent4>
        <a:srgbClr val="D9D9D9"/>
      </a:accent4>
      <a:accent5>
        <a:srgbClr val="7F7F7F"/>
      </a:accent5>
      <a:accent6>
        <a:srgbClr val="BFBFBF"/>
      </a:accent6>
      <a:hlink>
        <a:srgbClr val="1F3FB0"/>
      </a:hlink>
      <a:folHlink>
        <a:srgbClr val="7B4FA8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2026-10-31T02:31:11Z</dcterms:created>
  <dcterms:modified xsi:type="dcterms:W3CDTF">2026-10-31T02:31:11Z</dcterms:modified>
</cp:coreProperties>
</file>