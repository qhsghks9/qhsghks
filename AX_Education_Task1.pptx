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과제1 AX교육" id="{fab73d31-cf62-a215-5dd9-32c572f0d8b9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왼쪽: 추진 프로세스 중 AX교육 단계의 배경·목적·범위. 오른쪽: 롯데백화점 이커머스 AX Inno-Camp('26.10.30)를 출발점으로 AX진단·Quick-Win 실증을 거쳐 AX-PI로 To-Be·구축 요건을 정의해 사업부의 '27 AI 기반 온/오프 통합 e커머스 서비스 구축 사업으로 연계하는 사업화 흐름. 행2·3 시기는 안(案)이며 실제 일정으로 수정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 '27년 중점추진과제  &gt;  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① AX 변화관리를 통한 그룹사 AX 사업화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10241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컨설팅 AX 교육 서비스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444752"/>
            <a:ext cx="3931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5" name="step-1"/>
          <p:cNvSpPr/>
          <p:nvPr/>
        </p:nvSpPr>
        <p:spPr>
          <a:xfrm>
            <a:off x="320040" y="1600200"/>
            <a:ext cx="960120" cy="1024128"/>
          </a:xfrm>
          <a:prstGeom prst="flowChartOffpageConnector">
            <a:avLst/>
          </a:prstGeom>
          <a:solidFill>
            <a:schemeClr val="tx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60020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교육</a:t>
            </a:r>
            <a:endParaRPr lang="en-US" sz="1300" dirty="0"/>
          </a:p>
        </p:txBody>
      </p:sp>
      <p:sp>
        <p:nvSpPr>
          <p:cNvPr id="7" name="step-2"/>
          <p:cNvSpPr/>
          <p:nvPr/>
        </p:nvSpPr>
        <p:spPr>
          <a:xfrm>
            <a:off x="320040" y="2587752"/>
            <a:ext cx="960120" cy="1024128"/>
          </a:xfrm>
          <a:prstGeom prst="flowChartOffpageConnector">
            <a:avLst/>
          </a:prstGeom>
          <a:solidFill>
            <a:schemeClr val="bg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" y="2587752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AX진단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컨설팅</a:t>
            </a:r>
            <a:endParaRPr lang="en-US" sz="1150" dirty="0"/>
          </a:p>
        </p:txBody>
      </p:sp>
      <p:sp>
        <p:nvSpPr>
          <p:cNvPr id="9" name="step-3"/>
          <p:cNvSpPr/>
          <p:nvPr/>
        </p:nvSpPr>
        <p:spPr>
          <a:xfrm>
            <a:off x="320040" y="3575304"/>
            <a:ext cx="960120" cy="1024128"/>
          </a:xfrm>
          <a:prstGeom prst="flowChartOffpageConnector">
            <a:avLst/>
          </a:prstGeom>
          <a:solidFill>
            <a:schemeClr val="bg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3575304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AX-PI</a:t>
            </a:r>
            <a:endParaRPr lang="en-US" sz="1150" dirty="0"/>
          </a:p>
        </p:txBody>
      </p:sp>
      <p:sp>
        <p:nvSpPr>
          <p:cNvPr id="11" name="step-4"/>
          <p:cNvSpPr/>
          <p:nvPr/>
        </p:nvSpPr>
        <p:spPr>
          <a:xfrm>
            <a:off x="320040" y="4562856"/>
            <a:ext cx="960120" cy="1024128"/>
          </a:xfrm>
          <a:prstGeom prst="flowChartOffpageConnector">
            <a:avLst/>
          </a:prstGeom>
          <a:solidFill>
            <a:schemeClr val="bg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4562856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AX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Quick-win</a:t>
            </a:r>
            <a:endParaRPr lang="en-US" sz="1150" dirty="0"/>
          </a:p>
        </p:txBody>
      </p:sp>
      <p:sp>
        <p:nvSpPr>
          <p:cNvPr id="13" name="step-5"/>
          <p:cNvSpPr/>
          <p:nvPr/>
        </p:nvSpPr>
        <p:spPr>
          <a:xfrm>
            <a:off x="320040" y="5550408"/>
            <a:ext cx="960120" cy="1024128"/>
          </a:xfrm>
          <a:prstGeom prst="flowChartOffpageConnector">
            <a:avLst/>
          </a:prstGeom>
          <a:solidFill>
            <a:schemeClr val="bg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555040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구축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(사업부)</a:t>
            </a:r>
            <a:endParaRPr lang="en-US" sz="1150" dirty="0"/>
          </a:p>
        </p:txBody>
      </p:sp>
      <p:sp>
        <p:nvSpPr>
          <p:cNvPr id="15" name="left-box-1"/>
          <p:cNvSpPr/>
          <p:nvPr/>
        </p:nvSpPr>
        <p:spPr>
          <a:xfrm>
            <a:off x="1417320" y="1600200"/>
            <a:ext cx="2834640" cy="14630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" y="1600200"/>
            <a:ext cx="2834640" cy="310896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7320" y="1600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추진 배경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1984248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그룹사 AX 공감대는 높으나 현업의 AI 활용 경험·실행 과제 부족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Top-down 과제 발굴의 현장 적합성 한계 → 현업 주도 변화관리 필요</a:t>
            </a:r>
            <a:endParaRPr lang="en-US" sz="1050" dirty="0"/>
          </a:p>
        </p:txBody>
      </p:sp>
      <p:sp>
        <p:nvSpPr>
          <p:cNvPr id="19" name="left-box-2"/>
          <p:cNvSpPr/>
          <p:nvPr/>
        </p:nvSpPr>
        <p:spPr>
          <a:xfrm>
            <a:off x="1417320" y="3154680"/>
            <a:ext cx="2834640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3154680"/>
            <a:ext cx="2834640" cy="310896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17320" y="3154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추진 목적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538728"/>
            <a:ext cx="2670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현업이 자기 업무 데이터로 Pain Point를 찾고 AI Agent 과제를 설계·구현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교육 산출물(Agent 기획서·프로토타입)을 AX진단으로 연계 → 사업 Open Door</a:t>
            </a:r>
            <a:endParaRPr lang="en-US" sz="1050" dirty="0"/>
          </a:p>
        </p:txBody>
      </p:sp>
      <p:sp>
        <p:nvSpPr>
          <p:cNvPr id="23" name="left-box-3"/>
          <p:cNvSpPr/>
          <p:nvPr/>
        </p:nvSpPr>
        <p:spPr>
          <a:xfrm>
            <a:off x="1417320" y="4846320"/>
            <a:ext cx="2834640" cy="1691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4846320"/>
            <a:ext cx="2834640" cy="310896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48463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추진 범위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230368"/>
            <a:ext cx="2670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1차 Pilot: 롯데백화점 이커머스부문 ('26.10.30)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데이터 분석 → 과제 도출 → 외부조사 → 기획서 → Agent 개발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'27년 업종별 데이터셋·시나리오 표준화 → 그룹사 확산</a:t>
            </a:r>
            <a:endParaRPr lang="en-US" sz="1050" dirty="0"/>
          </a:p>
        </p:txBody>
      </p:sp>
      <p:sp>
        <p:nvSpPr>
          <p:cNvPr id="27" name="approach-header"/>
          <p:cNvSpPr/>
          <p:nvPr/>
        </p:nvSpPr>
        <p:spPr>
          <a:xfrm>
            <a:off x="4480560" y="1024128"/>
            <a:ext cx="512064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0" y="10241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AX교육 기반 사업화 Approach (e.g. 롯데백화점)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1481328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▪ 현업 주도 과제 발굴 → 진단·실증 → 사업부 본사업 연계 </a:t>
            </a:r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(교육 → 진단 → PI/Quick-Win → 사업부 구축)</a:t>
            </a:r>
            <a:endParaRPr lang="en-US" sz="1250" dirty="0"/>
          </a:p>
        </p:txBody>
      </p:sp>
      <p:sp>
        <p:nvSpPr>
          <p:cNvPr id="30" name="row-label-1"/>
          <p:cNvSpPr/>
          <p:nvPr/>
        </p:nvSpPr>
        <p:spPr>
          <a:xfrm>
            <a:off x="4480560" y="1874520"/>
            <a:ext cx="960120" cy="15087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80560" y="1874520"/>
            <a:ext cx="960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교육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Open Door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'26.10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559552" y="191109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•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현업 AI 활용 경험 부족 → </a:t>
            </a:r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실습형 AX Inno-Camp로 현업 주도 과제 발굴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715000" y="218541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e.g. [롯데백화점 이커머스] 가상 데이터 6종 기반 고객 인사이트 도출 → Agent 기획·구현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77840" y="2478024"/>
            <a:ext cx="1783080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2478024"/>
            <a:ext cx="685800" cy="1828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577840" y="24780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이슈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650992" y="2660904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현업 AX 공감대·과제 부재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 rot="5400000">
            <a:off x="7351776" y="2642616"/>
            <a:ext cx="274320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39" name="Shape 37"/>
          <p:cNvSpPr/>
          <p:nvPr/>
        </p:nvSpPr>
        <p:spPr>
          <a:xfrm>
            <a:off x="7653528" y="2478024"/>
            <a:ext cx="1874520" cy="60350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53528" y="2478024"/>
            <a:ext cx="685800" cy="182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653528" y="24780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AX 활동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726680" y="2660904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AX Inno-Camp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 rot="5400000">
            <a:off x="9518904" y="2642616"/>
            <a:ext cx="274320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44" name="Shape 42"/>
          <p:cNvSpPr/>
          <p:nvPr/>
        </p:nvSpPr>
        <p:spPr>
          <a:xfrm>
            <a:off x="9820656" y="2478024"/>
            <a:ext cx="1737360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20656" y="2478024"/>
            <a:ext cx="685800" cy="1828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820656" y="24780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기대효과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9893808" y="2660904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현업 주도 AX 과제 Pool 확보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498080" y="3090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※ 고객 데이터 분석 / Agent 기획서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프로토타입 3종</a:t>
            </a:r>
            <a:endParaRPr lang="en-US" sz="850" dirty="0"/>
          </a:p>
        </p:txBody>
      </p:sp>
      <p:sp>
        <p:nvSpPr>
          <p:cNvPr id="49" name="row-label-2"/>
          <p:cNvSpPr/>
          <p:nvPr/>
        </p:nvSpPr>
        <p:spPr>
          <a:xfrm>
            <a:off x="4480560" y="3456432"/>
            <a:ext cx="960120" cy="15087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480560" y="3456432"/>
            <a:ext cx="960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진단·실증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'26.4Q~'27.1H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559552" y="349300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•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교육 과제 실현성 검증 필요 → </a:t>
            </a:r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AX진단으로 과제 구조화, Quick-Win으로 실증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5715000" y="3767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e.g. 교육 도출 CRM·고객여정 과제 고도화 → AX-PI / Quick-Win 유형 분류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577840" y="4059936"/>
            <a:ext cx="1783080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77840" y="4059936"/>
            <a:ext cx="685800" cy="1828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577840" y="40599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이슈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650992" y="4242816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과제 실현성·효과 불확실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 rot="5400000">
            <a:off x="7351776" y="4224528"/>
            <a:ext cx="274320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58" name="Shape 56"/>
          <p:cNvSpPr/>
          <p:nvPr/>
        </p:nvSpPr>
        <p:spPr>
          <a:xfrm>
            <a:off x="7653528" y="4059936"/>
            <a:ext cx="1874520" cy="60350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53528" y="4059936"/>
            <a:ext cx="685800" cy="182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653528" y="40599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AX 활동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726680" y="4242816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AX진단 + Agent 실증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 rot="5400000">
            <a:off x="9518904" y="4224528"/>
            <a:ext cx="274320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63" name="Shape 61"/>
          <p:cNvSpPr/>
          <p:nvPr/>
        </p:nvSpPr>
        <p:spPr>
          <a:xfrm>
            <a:off x="9820656" y="4059936"/>
            <a:ext cx="1737360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820656" y="4059936"/>
            <a:ext cx="685800" cy="1828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820656" y="40599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기대효과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9893808" y="4242816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효과 실증 → 사업 범위 확정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7498080" y="4672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※ 실데이터·시스템 진단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레터 발송 Agent 실구현</a:t>
            </a:r>
            <a:endParaRPr lang="en-US" sz="850" dirty="0"/>
          </a:p>
        </p:txBody>
      </p:sp>
      <p:sp>
        <p:nvSpPr>
          <p:cNvPr id="68" name="row-label-3"/>
          <p:cNvSpPr/>
          <p:nvPr/>
        </p:nvSpPr>
        <p:spPr>
          <a:xfrm>
            <a:off x="4480560" y="5038344"/>
            <a:ext cx="960120" cy="15087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480560" y="5038344"/>
            <a:ext cx="960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AX-PI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사업 연계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'27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5559552" y="507492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•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구축 범위·요건 불명확 → </a:t>
            </a:r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AX-PI로 To-Be·요건 정의, 사업부 본사업 연계</a:t>
            </a:r>
            <a:endParaRPr lang="en-US" sz="1250" dirty="0"/>
          </a:p>
        </p:txBody>
      </p:sp>
      <p:sp>
        <p:nvSpPr>
          <p:cNvPr id="71" name="Text 69"/>
          <p:cNvSpPr txBox="1"/>
          <p:nvPr/>
        </p:nvSpPr>
        <p:spPr>
          <a:xfrm>
            <a:off x="5715000" y="534924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e.g. '27 AI 기반 온/오프 통합 e커머스 서비스 구축(사업부 수행) 범위 선점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577840" y="5641848"/>
            <a:ext cx="1783080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77840" y="5641848"/>
            <a:ext cx="685800" cy="1828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5577840" y="56418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이슈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5650992" y="5824728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온/오프 고객 데이터·여정 단절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 rot="5400000">
            <a:off x="7351776" y="5806440"/>
            <a:ext cx="274320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77" name="Shape 75"/>
          <p:cNvSpPr/>
          <p:nvPr/>
        </p:nvSpPr>
        <p:spPr>
          <a:xfrm>
            <a:off x="7653528" y="5641848"/>
            <a:ext cx="1874520" cy="60350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653528" y="5641848"/>
            <a:ext cx="685800" cy="182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7653528" y="56418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AX 활동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7726680" y="5824728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AX-PI (To-Be 설계)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 rot="5400000">
            <a:off x="9518904" y="5806440"/>
            <a:ext cx="274320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82" name="Shape 80"/>
          <p:cNvSpPr/>
          <p:nvPr/>
        </p:nvSpPr>
        <p:spPr>
          <a:xfrm>
            <a:off x="9820656" y="5641848"/>
            <a:ext cx="1737360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820656" y="5641848"/>
            <a:ext cx="685800" cy="1828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820656" y="56418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기대효과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9893808" y="5824728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사업부 구축 사업 수주 연계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7498080" y="6254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※ 통합 고객여정 To-Be / 구축 요건·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RFP 정의 → 사업부 이관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11558016" y="2779776"/>
            <a:ext cx="128016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686032" y="2779776"/>
            <a:ext cx="0" cy="3163824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58016" y="5943600"/>
            <a:ext cx="128016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90" name="Text 88"/>
          <p:cNvSpPr txBox="1"/>
          <p:nvPr/>
        </p:nvSpPr>
        <p:spPr>
          <a:xfrm rot="5400000">
            <a:off x="10853928" y="40050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단계별 사업 확대 · 타 그룹사 확산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7B4FA8"/>
      </a:accent1>
      <a:accent2>
        <a:srgbClr val="EDE6F5"/>
      </a:accent2>
      <a:accent3>
        <a:srgbClr val="1F3FB0"/>
      </a:accent3>
      <a:accent4>
        <a:srgbClr val="D9D9D9"/>
      </a:accent4>
      <a:accent5>
        <a:srgbClr val="7F7F7F"/>
      </a:accent5>
      <a:accent6>
        <a:srgbClr val="BFBFBF"/>
      </a:accent6>
      <a:hlink>
        <a:srgbClr val="1F3FB0"/>
      </a:hlink>
      <a:folHlink>
        <a:srgbClr val="7B4FA8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2026-10-31T02:16:31Z</dcterms:created>
  <dcterms:modified xsi:type="dcterms:W3CDTF">2026-10-31T02:16:31Z</dcterms:modified>
</cp:coreProperties>
</file>