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좌측: '25~'26 AX 컨설팅팀 수행 경과(누적 22건). 우측: 과제 도출 이후 운영 단계 전환을 막는 4대 구조적 한계(거버넌스 미비, 데이터 파편화, 투자 부족-KPI/ROI 부재, 인력 부족-운영 R&amp;R 불명확). 하단: '27년 AX 실행 전환으로의 사업 방향 시사점.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AX 컨설팅 수행 경과 및 운영 전환의 한계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'25년부터 22건의 AI 과제 컨설팅으로 과제 발굴 기반은 확보했으나, 거버넌스·데이터·투자·운영 R&amp;R의 구조적 한계로 본사업(운영) 전환은 정체되어 있음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617720" cy="3657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3716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컨설팅팀 수행 경과 ('25 ~ '26)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1085850" cy="658368"/>
          </a:xfrm>
          <a:prstGeom prst="rect">
            <a:avLst/>
          </a:prstGeom>
          <a:solidFill>
            <a:srgbClr val="FBECEB"/>
          </a:solidFill>
          <a:ln w="12700">
            <a:solidFill>
              <a:srgbClr val="D728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856232"/>
            <a:ext cx="1085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22건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2212848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수행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43050" y="1828800"/>
            <a:ext cx="108585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43050" y="1856232"/>
            <a:ext cx="1085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19건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43050" y="2212848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20340" y="1828800"/>
            <a:ext cx="108585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20340" y="1856232"/>
            <a:ext cx="1085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3건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720340" y="2212848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97630" y="1828800"/>
            <a:ext cx="108585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97630" y="1856232"/>
            <a:ext cx="1085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12명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897630" y="2212848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투입인원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" y="2816352"/>
            <a:ext cx="0" cy="3017520"/>
          </a:xfrm>
          <a:prstGeom prst="line">
            <a:avLst/>
          </a:prstGeom>
          <a:noFill/>
          <a:ln w="19050">
            <a:solidFill>
              <a:srgbClr val="D9D9D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39496" y="2706624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E6E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0040" y="298094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51560" y="2633472"/>
            <a:ext cx="3931920" cy="13350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61288" y="269748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지주 주관 AI 스몰 컨설팅  </a:t>
            </a:r>
            <a:pPr indent="0" marL="0">
              <a:buNone/>
            </a:pPr>
            <a:r>
              <a:rPr lang="en-US" sz="1250" b="1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(16건)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61288" y="2999232"/>
            <a:ext cx="371246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지주-LIT 4차수 과제발굴 (호텔·웰푸드·하이마트·마트·GRS·칠성·LGL·케미칼)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후속 상세화 : 마트-슈퍼 KPI, 호텔 객실요금 최적화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선제안 : 홈쇼핑 GPU, 코리아세븐, 건설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 : 공항철도, 군인공제회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9496" y="4133088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E6E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0040" y="44074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'26 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51560" y="4059936"/>
            <a:ext cx="3931920" cy="84124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61288" y="4123944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Value-Chain AI 과제 컨설팅  </a:t>
            </a:r>
            <a:pPr indent="0" marL="0">
              <a:buNone/>
            </a:pPr>
            <a:r>
              <a:rPr lang="en-US" sz="1250" b="1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(6건)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161288" y="4425696"/>
            <a:ext cx="3712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백화점, 컬처웍스, LIT AX 과제 컨설팅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 : 신분당선, KT&amp;G AI 컨설팅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39496" y="5065776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7281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0040" y="5340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'26 하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51560" y="4992624"/>
            <a:ext cx="3931920" cy="84124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61288" y="505663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실행 전환 준비  </a:t>
            </a:r>
            <a:pPr indent="0" marL="0">
              <a:buNone/>
            </a:pPr>
            <a:r>
              <a:rPr lang="en-US" sz="1250" b="1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(진행)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161288" y="5358384"/>
            <a:ext cx="3712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물산 AI 과제 컨설팅, K7 AX전환 Blueprint 설계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발굴 → 실행·운영 설계로 고객 수요 이동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93208" y="3520440"/>
            <a:ext cx="274320" cy="548640"/>
          </a:xfrm>
          <a:prstGeom prst="chevron">
            <a:avLst/>
          </a:prstGeom>
          <a:solidFill>
            <a:srgbClr val="D7281E"/>
          </a:solidFill>
          <a:ln w="12700">
            <a:solidFill>
              <a:srgbClr val="D7281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0" y="1371600"/>
            <a:ext cx="6336792" cy="365760"/>
          </a:xfrm>
          <a:prstGeom prst="rect">
            <a:avLst/>
          </a:prstGeom>
          <a:solidFill>
            <a:srgbClr val="D7281E"/>
          </a:solidFill>
          <a:ln w="12700">
            <a:solidFill>
              <a:srgbClr val="D7281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0" y="1371600"/>
            <a:ext cx="6336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발굴 이후 운영 단계 전환을 가로막는 4대 구조적 한계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0" y="1828800"/>
            <a:ext cx="3113532" cy="31089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0" y="1828800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체계 미흡 요인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709660" y="1828800"/>
            <a:ext cx="3113532" cy="310896"/>
          </a:xfrm>
          <a:prstGeom prst="rect">
            <a:avLst/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709660" y="1828800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자원 부족 요인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486400" y="2231136"/>
            <a:ext cx="1501902" cy="868680"/>
          </a:xfrm>
          <a:prstGeom prst="rect">
            <a:avLst/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17895" y="2304288"/>
            <a:ext cx="438912" cy="438912"/>
          </a:xfrm>
          <a:prstGeom prst="ellipse">
            <a:avLst/>
          </a:prstGeom>
          <a:solidFill>
            <a:srgbClr val="D7281E"/>
          </a:solidFill>
          <a:ln w="12700">
            <a:solidFill>
              <a:srgbClr val="D7281E"/>
            </a:solidFill>
            <a:prstDash val="solid"/>
          </a:ln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8479" y="2404872"/>
            <a:ext cx="237744" cy="237744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5486400" y="2779776"/>
            <a:ext cx="15019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거버넌스 체계 미비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5486400" y="3099816"/>
            <a:ext cx="150190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559552" y="3191256"/>
            <a:ext cx="13555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의사결정·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기준 부재</a:t>
            </a:r>
            <a:endParaRPr lang="en-US" sz="1250" dirty="0"/>
          </a:p>
        </p:txBody>
      </p:sp>
      <p:sp>
        <p:nvSpPr>
          <p:cNvPr id="47" name="Text 44"/>
          <p:cNvSpPr txBox="1"/>
          <p:nvPr/>
        </p:nvSpPr>
        <p:spPr>
          <a:xfrm>
            <a:off x="5577840" y="3767328"/>
            <a:ext cx="131902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승인·성과관리 프로세스 부재</a:t>
            </a:r>
            <a:endParaRPr lang="en-US" sz="1050" dirty="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AI·데이터 보안 가이드라인 미정립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 rot="10800000">
            <a:off x="5917311" y="4828032"/>
            <a:ext cx="640080" cy="182880"/>
          </a:xfrm>
          <a:prstGeom prst="triangl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486400" y="5084064"/>
            <a:ext cx="1501902" cy="384048"/>
          </a:xfrm>
          <a:prstGeom prst="rect">
            <a:avLst/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532120" y="5084064"/>
            <a:ext cx="14104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과제별 개별 판단으로 실행 지연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5486400" y="5522976"/>
            <a:ext cx="1501902" cy="384048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532120" y="5522976"/>
            <a:ext cx="14104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우려로 현장 적용 보류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7098030" y="2231136"/>
            <a:ext cx="1501902" cy="868680"/>
          </a:xfrm>
          <a:prstGeom prst="rect">
            <a:avLst/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629525" y="2304288"/>
            <a:ext cx="438912" cy="438912"/>
          </a:xfrm>
          <a:prstGeom prst="ellipse">
            <a:avLst/>
          </a:prstGeom>
          <a:solidFill>
            <a:srgbClr val="D7281E"/>
          </a:solidFill>
          <a:ln w="12700">
            <a:solidFill>
              <a:srgbClr val="D7281E"/>
            </a:solidFill>
            <a:prstDash val="solid"/>
          </a:ln>
        </p:spPr>
      </p:sp>
      <p:pic>
        <p:nvPicPr>
          <p:cNvPr id="5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109" y="2404872"/>
            <a:ext cx="237744" cy="237744"/>
          </a:xfrm>
          <a:prstGeom prst="rect">
            <a:avLst/>
          </a:prstGeom>
        </p:spPr>
      </p:pic>
      <p:sp>
        <p:nvSpPr>
          <p:cNvPr id="56" name="Text 52"/>
          <p:cNvSpPr txBox="1"/>
          <p:nvPr/>
        </p:nvSpPr>
        <p:spPr>
          <a:xfrm>
            <a:off x="7098030" y="2779776"/>
            <a:ext cx="15019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파편화</a:t>
            </a:r>
            <a:endParaRPr lang="en-US" sz="1300" dirty="0"/>
          </a:p>
        </p:txBody>
      </p:sp>
      <p:sp>
        <p:nvSpPr>
          <p:cNvPr id="57" name="Shape 53"/>
          <p:cNvSpPr/>
          <p:nvPr/>
        </p:nvSpPr>
        <p:spPr>
          <a:xfrm>
            <a:off x="7098030" y="3099816"/>
            <a:ext cx="150190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7171182" y="3191256"/>
            <a:ext cx="13555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AI-Ready Data 및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연계 인프라 부족</a:t>
            </a:r>
            <a:endParaRPr lang="en-US" sz="1250" dirty="0"/>
          </a:p>
        </p:txBody>
      </p:sp>
      <p:sp>
        <p:nvSpPr>
          <p:cNvPr id="59" name="Text 55"/>
          <p:cNvSpPr txBox="1"/>
          <p:nvPr/>
        </p:nvSpPr>
        <p:spPr>
          <a:xfrm>
            <a:off x="7189470" y="3767328"/>
            <a:ext cx="131902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시스템별 데이터 분산, 표준·품질 미정립</a:t>
            </a:r>
            <a:endParaRPr lang="en-US" sz="1050" dirty="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 서버 등 AI 연계 인프라 부재</a:t>
            </a:r>
            <a:endParaRPr lang="en-US" sz="1050" dirty="0"/>
          </a:p>
        </p:txBody>
      </p:sp>
      <p:sp>
        <p:nvSpPr>
          <p:cNvPr id="60" name="Shape 56"/>
          <p:cNvSpPr/>
          <p:nvPr/>
        </p:nvSpPr>
        <p:spPr>
          <a:xfrm rot="10800000">
            <a:off x="7528941" y="4828032"/>
            <a:ext cx="640080" cy="182880"/>
          </a:xfrm>
          <a:prstGeom prst="triangl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7098030" y="5084064"/>
            <a:ext cx="1501902" cy="384048"/>
          </a:xfrm>
          <a:prstGeom prst="rect">
            <a:avLst/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7143750" y="5084064"/>
            <a:ext cx="14104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이후 확장·연계 불가</a:t>
            </a:r>
            <a:endParaRPr lang="en-US" sz="1050" dirty="0"/>
          </a:p>
        </p:txBody>
      </p:sp>
      <p:sp>
        <p:nvSpPr>
          <p:cNvPr id="63" name="Shape 59"/>
          <p:cNvSpPr/>
          <p:nvPr/>
        </p:nvSpPr>
        <p:spPr>
          <a:xfrm>
            <a:off x="7098030" y="5522976"/>
            <a:ext cx="1501902" cy="384048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7143750" y="5522976"/>
            <a:ext cx="14104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 선투자 부담 가중</a:t>
            </a:r>
            <a:endParaRPr lang="en-US" sz="1050" dirty="0"/>
          </a:p>
        </p:txBody>
      </p:sp>
      <p:sp>
        <p:nvSpPr>
          <p:cNvPr id="65" name="Shape 61"/>
          <p:cNvSpPr/>
          <p:nvPr/>
        </p:nvSpPr>
        <p:spPr>
          <a:xfrm>
            <a:off x="8709660" y="2231136"/>
            <a:ext cx="1501902" cy="868680"/>
          </a:xfrm>
          <a:prstGeom prst="rect">
            <a:avLst/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9241155" y="2304288"/>
            <a:ext cx="438912" cy="438912"/>
          </a:xfrm>
          <a:prstGeom prst="ellipse">
            <a:avLst/>
          </a:prstGeom>
          <a:solidFill>
            <a:srgbClr val="D7281E"/>
          </a:solidFill>
          <a:ln w="12700">
            <a:solidFill>
              <a:srgbClr val="D7281E"/>
            </a:solidFill>
            <a:prstDash val="solid"/>
          </a:ln>
        </p:spPr>
      </p:sp>
      <p:pic>
        <p:nvPicPr>
          <p:cNvPr id="6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1739" y="2404872"/>
            <a:ext cx="237744" cy="237744"/>
          </a:xfrm>
          <a:prstGeom prst="rect">
            <a:avLst/>
          </a:prstGeom>
        </p:spPr>
      </p:pic>
      <p:sp>
        <p:nvSpPr>
          <p:cNvPr id="68" name="Text 63"/>
          <p:cNvSpPr txBox="1"/>
          <p:nvPr/>
        </p:nvSpPr>
        <p:spPr>
          <a:xfrm>
            <a:off x="8709660" y="2779776"/>
            <a:ext cx="15019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부족</a:t>
            </a:r>
            <a:endParaRPr lang="en-US" sz="1300" dirty="0"/>
          </a:p>
        </p:txBody>
      </p:sp>
      <p:sp>
        <p:nvSpPr>
          <p:cNvPr id="69" name="Shape 64"/>
          <p:cNvSpPr/>
          <p:nvPr/>
        </p:nvSpPr>
        <p:spPr>
          <a:xfrm>
            <a:off x="8709660" y="3099816"/>
            <a:ext cx="150190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0" name="Text 65"/>
          <p:cNvSpPr txBox="1"/>
          <p:nvPr/>
        </p:nvSpPr>
        <p:spPr>
          <a:xfrm>
            <a:off x="8782812" y="3191256"/>
            <a:ext cx="13555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KPI·ROI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 부재</a:t>
            </a:r>
            <a:endParaRPr lang="en-US" sz="1250" dirty="0"/>
          </a:p>
        </p:txBody>
      </p:sp>
      <p:sp>
        <p:nvSpPr>
          <p:cNvPr id="71" name="Text 66"/>
          <p:cNvSpPr txBox="1"/>
          <p:nvPr/>
        </p:nvSpPr>
        <p:spPr>
          <a:xfrm>
            <a:off x="8801100" y="3767328"/>
            <a:ext cx="131902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문제정의 단계 KPI 부실, 효과 정량화 불가</a:t>
            </a:r>
            <a:endParaRPr lang="en-US" sz="1050" dirty="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ROI 기준 부재로 투자 근거 취약</a:t>
            </a:r>
            <a:endParaRPr lang="en-US" sz="1050" dirty="0"/>
          </a:p>
        </p:txBody>
      </p:sp>
      <p:sp>
        <p:nvSpPr>
          <p:cNvPr id="72" name="Shape 67"/>
          <p:cNvSpPr/>
          <p:nvPr/>
        </p:nvSpPr>
        <p:spPr>
          <a:xfrm rot="10800000">
            <a:off x="9140571" y="4828032"/>
            <a:ext cx="640080" cy="182880"/>
          </a:xfrm>
          <a:prstGeom prst="triangl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8709660" y="5084064"/>
            <a:ext cx="1501902" cy="384048"/>
          </a:xfrm>
          <a:prstGeom prst="rect">
            <a:avLst/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74" name="Text 69"/>
          <p:cNvSpPr txBox="1"/>
          <p:nvPr/>
        </p:nvSpPr>
        <p:spPr>
          <a:xfrm>
            <a:off x="8755380" y="5084064"/>
            <a:ext cx="14104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의사결정 지연·보류</a:t>
            </a:r>
            <a:endParaRPr lang="en-US" sz="1050" dirty="0"/>
          </a:p>
        </p:txBody>
      </p:sp>
      <p:sp>
        <p:nvSpPr>
          <p:cNvPr id="75" name="Shape 70"/>
          <p:cNvSpPr/>
          <p:nvPr/>
        </p:nvSpPr>
        <p:spPr>
          <a:xfrm>
            <a:off x="8709660" y="5522976"/>
            <a:ext cx="1501902" cy="384048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76" name="Text 71"/>
          <p:cNvSpPr txBox="1"/>
          <p:nvPr/>
        </p:nvSpPr>
        <p:spPr>
          <a:xfrm>
            <a:off x="8755380" y="5522976"/>
            <a:ext cx="14104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본사업 예산 미확보</a:t>
            </a:r>
            <a:endParaRPr lang="en-US" sz="1050" dirty="0"/>
          </a:p>
        </p:txBody>
      </p:sp>
      <p:sp>
        <p:nvSpPr>
          <p:cNvPr id="77" name="Shape 72"/>
          <p:cNvSpPr/>
          <p:nvPr/>
        </p:nvSpPr>
        <p:spPr>
          <a:xfrm>
            <a:off x="10321290" y="2231136"/>
            <a:ext cx="1501902" cy="868680"/>
          </a:xfrm>
          <a:prstGeom prst="rect">
            <a:avLst/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10852785" y="2304288"/>
            <a:ext cx="438912" cy="438912"/>
          </a:xfrm>
          <a:prstGeom prst="ellipse">
            <a:avLst/>
          </a:prstGeom>
          <a:solidFill>
            <a:srgbClr val="D7281E"/>
          </a:solidFill>
          <a:ln w="12700">
            <a:solidFill>
              <a:srgbClr val="D7281E"/>
            </a:solidFill>
            <a:prstDash val="solid"/>
          </a:ln>
        </p:spPr>
      </p:sp>
      <p:pic>
        <p:nvPicPr>
          <p:cNvPr id="7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369" y="2404872"/>
            <a:ext cx="237744" cy="237744"/>
          </a:xfrm>
          <a:prstGeom prst="rect">
            <a:avLst/>
          </a:prstGeom>
        </p:spPr>
      </p:pic>
      <p:sp>
        <p:nvSpPr>
          <p:cNvPr id="80" name="Text 74"/>
          <p:cNvSpPr txBox="1"/>
          <p:nvPr/>
        </p:nvSpPr>
        <p:spPr>
          <a:xfrm>
            <a:off x="10321290" y="2779776"/>
            <a:ext cx="15019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 부족</a:t>
            </a:r>
            <a:endParaRPr lang="en-US" sz="1300" dirty="0"/>
          </a:p>
        </p:txBody>
      </p:sp>
      <p:sp>
        <p:nvSpPr>
          <p:cNvPr id="81" name="Shape 75"/>
          <p:cNvSpPr/>
          <p:nvPr/>
        </p:nvSpPr>
        <p:spPr>
          <a:xfrm>
            <a:off x="10321290" y="3099816"/>
            <a:ext cx="150190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2" name="Text 76"/>
          <p:cNvSpPr txBox="1"/>
          <p:nvPr/>
        </p:nvSpPr>
        <p:spPr>
          <a:xfrm>
            <a:off x="10394442" y="3191256"/>
            <a:ext cx="13555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R&amp;R 불명확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(구조적 한계)</a:t>
            </a:r>
            <a:endParaRPr lang="en-US" sz="1250" dirty="0"/>
          </a:p>
        </p:txBody>
      </p:sp>
      <p:sp>
        <p:nvSpPr>
          <p:cNvPr id="83" name="Text 77"/>
          <p:cNvSpPr txBox="1"/>
          <p:nvPr/>
        </p:nvSpPr>
        <p:spPr>
          <a:xfrm>
            <a:off x="10412730" y="3767328"/>
            <a:ext cx="131902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현업·IT·AX 조직 간 운영 책임 경계 모호</a:t>
            </a:r>
            <a:endParaRPr lang="en-US" sz="1050" dirty="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운영·고도화 전담 인력 부재</a:t>
            </a:r>
            <a:endParaRPr lang="en-US" sz="1050" dirty="0"/>
          </a:p>
        </p:txBody>
      </p:sp>
      <p:sp>
        <p:nvSpPr>
          <p:cNvPr id="84" name="Shape 78"/>
          <p:cNvSpPr/>
          <p:nvPr/>
        </p:nvSpPr>
        <p:spPr>
          <a:xfrm rot="10800000">
            <a:off x="10752201" y="4828032"/>
            <a:ext cx="640080" cy="182880"/>
          </a:xfrm>
          <a:prstGeom prst="triangl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5" name="Shape 79"/>
          <p:cNvSpPr/>
          <p:nvPr/>
        </p:nvSpPr>
        <p:spPr>
          <a:xfrm>
            <a:off x="10321290" y="5084064"/>
            <a:ext cx="1501902" cy="384048"/>
          </a:xfrm>
          <a:prstGeom prst="rect">
            <a:avLst/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86" name="Text 80"/>
          <p:cNvSpPr txBox="1"/>
          <p:nvPr/>
        </p:nvSpPr>
        <p:spPr>
          <a:xfrm>
            <a:off x="10367010" y="5084064"/>
            <a:ext cx="14104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오너십 공백 발생</a:t>
            </a:r>
            <a:endParaRPr lang="en-US" sz="1050" dirty="0"/>
          </a:p>
        </p:txBody>
      </p:sp>
      <p:sp>
        <p:nvSpPr>
          <p:cNvPr id="87" name="Shape 81"/>
          <p:cNvSpPr/>
          <p:nvPr/>
        </p:nvSpPr>
        <p:spPr>
          <a:xfrm>
            <a:off x="10321290" y="5522976"/>
            <a:ext cx="1501902" cy="384048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88" name="Text 82"/>
          <p:cNvSpPr txBox="1"/>
          <p:nvPr/>
        </p:nvSpPr>
        <p:spPr>
          <a:xfrm>
            <a:off x="10367010" y="5522976"/>
            <a:ext cx="14104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이관 후 지속성 저하</a:t>
            </a:r>
            <a:endParaRPr lang="en-US" sz="1050" dirty="0"/>
          </a:p>
        </p:txBody>
      </p:sp>
      <p:sp>
        <p:nvSpPr>
          <p:cNvPr id="89" name="Shape 83"/>
          <p:cNvSpPr/>
          <p:nvPr/>
        </p:nvSpPr>
        <p:spPr>
          <a:xfrm>
            <a:off x="365760" y="6053328"/>
            <a:ext cx="11457432" cy="548640"/>
          </a:xfrm>
          <a:prstGeom prst="rect">
            <a:avLst/>
          </a:prstGeom>
          <a:solidFill>
            <a:srgbClr val="FBECEB"/>
          </a:solidFill>
          <a:ln w="15875">
            <a:solidFill>
              <a:srgbClr val="D7281E"/>
            </a:solidFill>
            <a:prstDash val="solid"/>
          </a:ln>
        </p:spPr>
      </p:sp>
      <p:sp>
        <p:nvSpPr>
          <p:cNvPr id="90" name="Text 84"/>
          <p:cNvSpPr txBox="1"/>
          <p:nvPr/>
        </p:nvSpPr>
        <p:spPr>
          <a:xfrm>
            <a:off x="548640" y="605332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Implication  </a:t>
            </a:r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발굴(What)은 축적되었으나 실행(How) 기반이 부재 → '27년은 거버넌스·데이터·KPI/ROI·운영 R&amp;R을 포함한 'AX 실행 전환' 컨설팅으로 사업 방향 전환 필요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2026-10-14T08:47:20Z</dcterms:created>
  <dcterms:modified xsi:type="dcterms:W3CDTF">2026-10-14T08:47:20Z</dcterms:modified>
</cp:coreProperties>
</file>