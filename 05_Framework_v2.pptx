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8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05. 프로젝트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1152144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1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6주간 'Agent 과제 도출'을 축으로, Use Case 기반 현업 검토와 내부 워크샵을 통해 Agent 후보를 발굴하고, 운영 적용성을 검증한 Agent 과제와 프로토타입을 제안함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89888"/>
            <a:ext cx="11475720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500" b="1" i="0" u="none">
                <a:solidFill>
                  <a:srgbClr val="FFE600"/>
                </a:solidFill>
                <a:latin typeface="맑은 고딕"/>
                <a:ea typeface="맑은 고딕"/>
                <a:cs typeface="맑은 고딕"/>
              </a:rPr>
              <a:t>Agent 과제 도출</a:t>
            </a:r>
            <a:r>
              <a:rPr sz="12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 |   발굴 → 검증 → 운영 적용 제안 (6주)</a:t>
            </a:r>
          </a:p>
        </p:txBody>
      </p:sp>
      <p:sp>
        <p:nvSpPr>
          <p:cNvPr id="5" name="Pentagon 4"/>
          <p:cNvSpPr/>
          <p:nvPr/>
        </p:nvSpPr>
        <p:spPr>
          <a:xfrm>
            <a:off x="365760" y="1792224"/>
            <a:ext cx="6858000" cy="402336"/>
          </a:xfrm>
          <a:prstGeom prst="homePlate">
            <a:avLst>
              <a:gd name="adj" fmla="val 30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Agent 후보 발굴  </a:t>
            </a:r>
            <a:r>
              <a:rPr sz="1100" b="1" i="0" u="none">
                <a:solidFill>
                  <a:srgbClr val="FFE600"/>
                </a:solidFill>
                <a:latin typeface="맑은 고딕"/>
                <a:ea typeface="맑은 고딕"/>
                <a:cs typeface="맑은 고딕"/>
              </a:rPr>
              <a:t>W1 ~ W3</a:t>
            </a:r>
          </a:p>
        </p:txBody>
      </p:sp>
      <p:sp>
        <p:nvSpPr>
          <p:cNvPr id="6" name="Chevron 5"/>
          <p:cNvSpPr/>
          <p:nvPr/>
        </p:nvSpPr>
        <p:spPr>
          <a:xfrm>
            <a:off x="7132320" y="1792224"/>
            <a:ext cx="4709160" cy="402336"/>
          </a:xfrm>
          <a:prstGeom prst="chevron">
            <a:avLst>
              <a:gd name="adj" fmla="val 30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 운영 적용 과제 확정·검증  </a:t>
            </a:r>
            <a:r>
              <a:rPr sz="1100" b="1" i="0" u="none">
                <a:solidFill>
                  <a:srgbClr val="FFE600"/>
                </a:solidFill>
                <a:latin typeface="맑은 고딕"/>
                <a:ea typeface="맑은 고딕"/>
                <a:cs typeface="맑은 고딕"/>
              </a:rPr>
              <a:t>W4 ~ W6</a:t>
            </a:r>
          </a:p>
        </p:txBody>
      </p:sp>
      <p:sp>
        <p:nvSpPr>
          <p:cNvPr id="7" name="Pentagon 6"/>
          <p:cNvSpPr/>
          <p:nvPr/>
        </p:nvSpPr>
        <p:spPr>
          <a:xfrm>
            <a:off x="365760" y="2286000"/>
            <a:ext cx="2926080" cy="329184"/>
          </a:xfrm>
          <a:prstGeom prst="homePlate">
            <a:avLst>
              <a:gd name="adj" fmla="val 35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Agent Use Case Pool  </a:t>
            </a:r>
            <a:r>
              <a:rPr sz="11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30+</a:t>
            </a:r>
          </a:p>
        </p:txBody>
      </p:sp>
      <p:sp>
        <p:nvSpPr>
          <p:cNvPr id="8" name="Chevron 7"/>
          <p:cNvSpPr/>
          <p:nvPr/>
        </p:nvSpPr>
        <p:spPr>
          <a:xfrm>
            <a:off x="3236976" y="2286000"/>
            <a:ext cx="2926080" cy="329184"/>
          </a:xfrm>
          <a:prstGeom prst="chevron">
            <a:avLst>
              <a:gd name="adj" fmla="val 35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Agent 후보 Pool  </a:t>
            </a:r>
            <a:r>
              <a:rPr sz="11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15~20개</a:t>
            </a:r>
          </a:p>
        </p:txBody>
      </p:sp>
      <p:sp>
        <p:nvSpPr>
          <p:cNvPr id="9" name="Chevron 8"/>
          <p:cNvSpPr/>
          <p:nvPr/>
        </p:nvSpPr>
        <p:spPr>
          <a:xfrm>
            <a:off x="6108192" y="2286000"/>
            <a:ext cx="2926080" cy="329184"/>
          </a:xfrm>
          <a:prstGeom prst="chevron">
            <a:avLst>
              <a:gd name="adj" fmla="val 35000"/>
            </a:avLst>
          </a:prstGeom>
          <a:solidFill>
            <a:srgbClr val="FFF1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 적용 Agent 과제  </a:t>
            </a:r>
            <a:r>
              <a:rPr sz="11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5~8개</a:t>
            </a:r>
          </a:p>
        </p:txBody>
      </p:sp>
      <p:sp>
        <p:nvSpPr>
          <p:cNvPr id="10" name="Chevron 9"/>
          <p:cNvSpPr/>
          <p:nvPr/>
        </p:nvSpPr>
        <p:spPr>
          <a:xfrm>
            <a:off x="8979408" y="2286000"/>
            <a:ext cx="2926080" cy="329184"/>
          </a:xfrm>
          <a:prstGeom prst="chevron">
            <a:avLst>
              <a:gd name="adj" fmla="val 35000"/>
            </a:avLst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프로토타입  </a:t>
            </a:r>
            <a:r>
              <a:rPr sz="1150" b="1" i="0" u="none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2개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108960"/>
            <a:ext cx="2011680" cy="384048"/>
          </a:xfrm>
          <a:prstGeom prst="round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 Value Chain 분석</a:t>
            </a:r>
          </a:p>
        </p:txBody>
      </p:sp>
      <p:sp>
        <p:nvSpPr>
          <p:cNvPr id="12" name="Oval 11"/>
          <p:cNvSpPr/>
          <p:nvPr/>
        </p:nvSpPr>
        <p:spPr>
          <a:xfrm>
            <a:off x="347472" y="2999232"/>
            <a:ext cx="310896" cy="310896"/>
          </a:xfrm>
          <a:prstGeom prst="ellipse">
            <a:avLst/>
          </a:prstGeom>
          <a:solidFill>
            <a:srgbClr val="FFE6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907791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00" b="1" i="0" u="none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W1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547872"/>
            <a:ext cx="201168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Value Chain 內 핵심 업무 영역 정의 (2~3개)</a:t>
            </a:r>
          </a:p>
          <a:p>
            <a:pPr algn="l">
              <a:spcAft>
                <a:spcPts val="200"/>
              </a:spcAft>
            </a:pPr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업무 흐름·Pain Point 파악</a:t>
            </a:r>
          </a:p>
          <a:p>
            <a:pPr algn="l">
              <a:spcAft>
                <a:spcPts val="200"/>
              </a:spcAft>
            </a:pPr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테마파크 Agent Use Case Pool 준비</a:t>
            </a:r>
          </a:p>
        </p:txBody>
      </p:sp>
      <p:pic>
        <p:nvPicPr>
          <p:cNvPr id="15" name="Picture 14" descr="th_di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26280"/>
            <a:ext cx="1463040" cy="777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" y="5321807"/>
            <a:ext cx="20116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&lt;Agent Use Case Pool&gt;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3108960"/>
            <a:ext cx="2011680" cy="384048"/>
          </a:xfrm>
          <a:prstGeom prst="round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Use Case 기반 현업 검토</a:t>
            </a:r>
          </a:p>
        </p:txBody>
      </p:sp>
      <p:sp>
        <p:nvSpPr>
          <p:cNvPr id="18" name="Oval 17"/>
          <p:cNvSpPr/>
          <p:nvPr/>
        </p:nvSpPr>
        <p:spPr>
          <a:xfrm>
            <a:off x="2633472" y="2999232"/>
            <a:ext cx="310896" cy="310896"/>
          </a:xfrm>
          <a:prstGeom prst="ellipse">
            <a:avLst/>
          </a:prstGeom>
          <a:solidFill>
            <a:srgbClr val="FFE6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907791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00" b="1" i="0" u="none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W2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2862072"/>
            <a:ext cx="777240" cy="201168"/>
          </a:xfrm>
          <a:prstGeom prst="round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Top-down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3547872"/>
            <a:ext cx="201168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Agent Use Case를 현업과 함께 검토</a:t>
            </a:r>
          </a:p>
          <a:p>
            <a:pPr algn="l">
              <a:spcAft>
                <a:spcPts val="200"/>
              </a:spcAft>
            </a:pPr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경영진·실무자·IS팀 인터뷰</a:t>
            </a:r>
          </a:p>
          <a:p>
            <a:pPr algn="l">
              <a:spcAft>
                <a:spcPts val="200"/>
              </a:spcAft>
            </a:pPr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적용 가능한 후보 선별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0" y="4956048"/>
            <a:ext cx="2011680" cy="384048"/>
          </a:xfrm>
          <a:prstGeom prst="round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내부 Agent 워크샵</a:t>
            </a:r>
          </a:p>
        </p:txBody>
      </p:sp>
      <p:sp>
        <p:nvSpPr>
          <p:cNvPr id="23" name="Oval 22"/>
          <p:cNvSpPr/>
          <p:nvPr/>
        </p:nvSpPr>
        <p:spPr>
          <a:xfrm>
            <a:off x="2633472" y="4846320"/>
            <a:ext cx="310896" cy="310896"/>
          </a:xfrm>
          <a:prstGeom prst="ellipse">
            <a:avLst/>
          </a:prstGeom>
          <a:solidFill>
            <a:srgbClr val="FFE6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75488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00" b="1" i="0" u="none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W2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8920" y="4709160"/>
            <a:ext cx="777240" cy="201168"/>
          </a:xfrm>
          <a:prstGeom prst="round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Bottom-up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5394960"/>
            <a:ext cx="201168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실무자가 필요한 Agent 직접 도출</a:t>
            </a:r>
          </a:p>
          <a:p>
            <a:pPr algn="l">
              <a:spcAft>
                <a:spcPts val="200"/>
              </a:spcAft>
            </a:pPr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반복·판단 업무 중심 아이디어화</a:t>
            </a:r>
          </a:p>
          <a:p>
            <a:pPr algn="l">
              <a:spcAft>
                <a:spcPts val="200"/>
              </a:spcAft>
            </a:pPr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요구사항·개선 기회 정리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3108960"/>
            <a:ext cx="2011680" cy="384048"/>
          </a:xfrm>
          <a:prstGeom prst="round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Agent 후보 Pool 확정</a:t>
            </a:r>
          </a:p>
        </p:txBody>
      </p:sp>
      <p:sp>
        <p:nvSpPr>
          <p:cNvPr id="28" name="Oval 27"/>
          <p:cNvSpPr/>
          <p:nvPr/>
        </p:nvSpPr>
        <p:spPr>
          <a:xfrm>
            <a:off x="4919472" y="2999232"/>
            <a:ext cx="310896" cy="310896"/>
          </a:xfrm>
          <a:prstGeom prst="ellipse">
            <a:avLst/>
          </a:prstGeom>
          <a:solidFill>
            <a:srgbClr val="FFE6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907791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00" b="1" i="0" u="none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W3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3547872"/>
            <a:ext cx="201168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Top-down·Bottom-up 후보 통합</a:t>
            </a:r>
          </a:p>
          <a:p>
            <a:pPr algn="l">
              <a:spcAft>
                <a:spcPts val="200"/>
              </a:spcAft>
            </a:pPr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문제 정의 및 기대효과 가설</a:t>
            </a:r>
          </a:p>
          <a:p>
            <a:pPr algn="l">
              <a:spcAft>
                <a:spcPts val="200"/>
              </a:spcAft>
            </a:pPr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Agent 후보 Pool (15~20개)</a:t>
            </a:r>
          </a:p>
        </p:txBody>
      </p:sp>
      <p:pic>
        <p:nvPicPr>
          <p:cNvPr id="31" name="Picture 30" descr="th_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4526280"/>
            <a:ext cx="1463040" cy="7772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029200" y="5321807"/>
            <a:ext cx="20116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&lt;Agent 후보 Pool&gt;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468880" y="3300984"/>
            <a:ext cx="128016" cy="0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596896" y="3300984"/>
            <a:ext cx="0" cy="1847088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596896" y="3300984"/>
            <a:ext cx="146304" cy="0"/>
          </a:xfrm>
          <a:prstGeom prst="line">
            <a:avLst/>
          </a:prstGeom>
          <a:ln w="1905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596896" y="5148072"/>
            <a:ext cx="146304" cy="0"/>
          </a:xfrm>
          <a:prstGeom prst="line">
            <a:avLst/>
          </a:prstGeom>
          <a:ln w="1905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754880" y="3300984"/>
            <a:ext cx="128016" cy="0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754880" y="5148072"/>
            <a:ext cx="128016" cy="0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882896" y="3300984"/>
            <a:ext cx="0" cy="1847088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882896" y="3300984"/>
            <a:ext cx="146304" cy="0"/>
          </a:xfrm>
          <a:prstGeom prst="line">
            <a:avLst/>
          </a:prstGeom>
          <a:ln w="1905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7406640" y="3108960"/>
            <a:ext cx="2011680" cy="384048"/>
          </a:xfrm>
          <a:prstGeom prst="round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 적용성 평가·확정</a:t>
            </a:r>
          </a:p>
        </p:txBody>
      </p:sp>
      <p:sp>
        <p:nvSpPr>
          <p:cNvPr id="42" name="Oval 41"/>
          <p:cNvSpPr/>
          <p:nvPr/>
        </p:nvSpPr>
        <p:spPr>
          <a:xfrm>
            <a:off x="7296912" y="2999232"/>
            <a:ext cx="310896" cy="310896"/>
          </a:xfrm>
          <a:prstGeom prst="ellipse">
            <a:avLst/>
          </a:prstGeom>
          <a:solidFill>
            <a:srgbClr val="FFE6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0" y="2907791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00" b="1" i="0" u="none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W4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52360" y="3547872"/>
            <a:ext cx="201168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업무 임팩트·데이터 준비도·시스템 연계성 평가 (IS팀 협업)</a:t>
            </a:r>
          </a:p>
          <a:p>
            <a:pPr algn="l">
              <a:spcAft>
                <a:spcPts val="200"/>
              </a:spcAft>
            </a:pPr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 적용 Agent 과제 확정 (5~8개)</a:t>
            </a:r>
          </a:p>
          <a:p>
            <a:pPr algn="l">
              <a:spcAft>
                <a:spcPts val="200"/>
              </a:spcAft>
            </a:pPr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프로토타입 대상 선정 (2개)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06640" y="4956048"/>
            <a:ext cx="2011680" cy="384048"/>
          </a:xfrm>
          <a:prstGeom prst="round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To-Be 운영 설계</a:t>
            </a:r>
          </a:p>
        </p:txBody>
      </p:sp>
      <p:sp>
        <p:nvSpPr>
          <p:cNvPr id="46" name="Oval 45"/>
          <p:cNvSpPr/>
          <p:nvPr/>
        </p:nvSpPr>
        <p:spPr>
          <a:xfrm>
            <a:off x="7296912" y="4846320"/>
            <a:ext cx="310896" cy="310896"/>
          </a:xfrm>
          <a:prstGeom prst="ellipse">
            <a:avLst/>
          </a:prstGeom>
          <a:solidFill>
            <a:srgbClr val="FFE6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61120" y="475488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00" b="1" i="0" u="none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W4~W5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52360" y="5394960"/>
            <a:ext cx="201168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사람·Agent 역할 기반 To-Be 프로세스</a:t>
            </a:r>
          </a:p>
          <a:p>
            <a:pPr algn="l">
              <a:spcAft>
                <a:spcPts val="200"/>
              </a:spcAft>
            </a:pPr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데이터·시스템 연계 요건 정의</a:t>
            </a:r>
          </a:p>
          <a:p>
            <a:pPr algn="l">
              <a:spcAft>
                <a:spcPts val="200"/>
              </a:spcAft>
            </a:pPr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과제 정의서 작성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738360" y="3108960"/>
            <a:ext cx="2011680" cy="384048"/>
          </a:xfrm>
          <a:prstGeom prst="round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프로토타입·현업 검증</a:t>
            </a:r>
          </a:p>
        </p:txBody>
      </p:sp>
      <p:sp>
        <p:nvSpPr>
          <p:cNvPr id="50" name="Oval 49"/>
          <p:cNvSpPr/>
          <p:nvPr/>
        </p:nvSpPr>
        <p:spPr>
          <a:xfrm>
            <a:off x="9628632" y="2999232"/>
            <a:ext cx="310896" cy="310896"/>
          </a:xfrm>
          <a:prstGeom prst="ellipse">
            <a:avLst/>
          </a:prstGeom>
          <a:solidFill>
            <a:srgbClr val="FFE6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92840" y="2907791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00" b="1" i="0" u="none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W5~W6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84080" y="3547872"/>
            <a:ext cx="201168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n8n 기반 Agent 워크플로우 구현</a:t>
            </a:r>
          </a:p>
          <a:p>
            <a:pPr algn="l">
              <a:spcAft>
                <a:spcPts val="200"/>
              </a:spcAft>
            </a:pPr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바이브 코딩 서비스 화면</a:t>
            </a:r>
          </a:p>
          <a:p>
            <a:pPr algn="l">
              <a:spcAft>
                <a:spcPts val="200"/>
              </a:spcAft>
            </a:pPr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현업 파일럿 시연·피드백 반영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738360" y="4956048"/>
            <a:ext cx="2011680" cy="384048"/>
          </a:xfrm>
          <a:prstGeom prst="round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 적용 방안 수립</a:t>
            </a:r>
          </a:p>
        </p:txBody>
      </p:sp>
      <p:sp>
        <p:nvSpPr>
          <p:cNvPr id="54" name="Oval 53"/>
          <p:cNvSpPr/>
          <p:nvPr/>
        </p:nvSpPr>
        <p:spPr>
          <a:xfrm>
            <a:off x="9628632" y="4846320"/>
            <a:ext cx="310896" cy="310896"/>
          </a:xfrm>
          <a:prstGeom prst="ellipse">
            <a:avLst/>
          </a:prstGeom>
          <a:solidFill>
            <a:srgbClr val="FFE6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92840" y="475488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00" b="1" i="0" u="none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W6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84080" y="5394960"/>
            <a:ext cx="201168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 체계·R&amp;R 및 관리 방안</a:t>
            </a:r>
          </a:p>
          <a:p>
            <a:pPr algn="l">
              <a:spcAft>
                <a:spcPts val="200"/>
              </a:spcAft>
            </a:pPr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Agent 과제 실행 로드맵</a:t>
            </a:r>
          </a:p>
          <a:p>
            <a:pPr algn="l">
              <a:spcAft>
                <a:spcPts val="200"/>
              </a:spcAft>
            </a:pPr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최종 보고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680960" y="4553712"/>
            <a:ext cx="1463040" cy="274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1" i="0" u="none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✔ 운영 적용 Gate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7040880" y="3300984"/>
            <a:ext cx="365760" cy="0"/>
          </a:xfrm>
          <a:prstGeom prst="line">
            <a:avLst/>
          </a:prstGeom>
          <a:ln w="1905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8412480" y="4828032"/>
            <a:ext cx="0" cy="128016"/>
          </a:xfrm>
          <a:prstGeom prst="line">
            <a:avLst/>
          </a:prstGeom>
          <a:ln w="1905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418320" y="5148072"/>
            <a:ext cx="155448" cy="0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9573768" y="3300984"/>
            <a:ext cx="0" cy="1847088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573768" y="3300984"/>
            <a:ext cx="164592" cy="0"/>
          </a:xfrm>
          <a:prstGeom prst="line">
            <a:avLst/>
          </a:prstGeom>
          <a:ln w="1905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744200" y="4434840"/>
            <a:ext cx="0" cy="521208"/>
          </a:xfrm>
          <a:prstGeom prst="line">
            <a:avLst/>
          </a:prstGeom>
          <a:ln w="1905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0" i="0" u="none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※ 과제 수는 예시이며 착수 시 협의를 통해 조정  /  프로토타입은 샘플·마스킹 데이터 기반으로 구현하며 운영 시스템 연동은 본 사업에서 검토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