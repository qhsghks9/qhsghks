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8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02. 주요 현황 분석 _ AI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5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AI는 '답을 주는 도구'에서 '일을 수행하는 동료'로 진화하고 있으며, 이에 따라 AI 도입도 기술 검토 중심에서 업무 재설계와 신규 사업 창출 중심으로 전환이 필요함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572768"/>
            <a:ext cx="566928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5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AI 패러다임의 변화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1965960"/>
            <a:ext cx="2103120" cy="457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As-Is  |  도구형 AI</a:t>
            </a:r>
          </a:p>
          <a:p>
            <a:pPr algn="ctr"/>
            <a:r>
              <a:rPr sz="950" b="0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(생성형 AI 도입기)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965960"/>
            <a:ext cx="2377440" cy="4572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To-Be  |  Agentic AI</a:t>
            </a:r>
          </a:p>
          <a:p>
            <a:pPr algn="ctr"/>
            <a:r>
              <a:rPr sz="950" b="0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(AI Agent 확산기)</a:t>
            </a:r>
          </a:p>
        </p:txBody>
      </p:sp>
      <p:pic>
        <p:nvPicPr>
          <p:cNvPr id="7" name="Picture 6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578608"/>
            <a:ext cx="512064" cy="51206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188720" y="2514600"/>
            <a:ext cx="210312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5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“사람이 묻고 AI가 답하는</a:t>
            </a:r>
          </a:p>
          <a:p>
            <a:pPr algn="ctr"/>
            <a:r>
              <a:rPr sz="125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보조 도구”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2514600"/>
            <a:ext cx="237744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5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“AI가 계획하고 실행하는</a:t>
            </a:r>
          </a:p>
          <a:p>
            <a:pPr algn="ctr"/>
            <a:r>
              <a:rPr sz="1250" b="1" i="1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업무 동료”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337560"/>
            <a:ext cx="731520" cy="53035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337560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질의응답·문서 요약 등</a:t>
            </a:r>
          </a:p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개별 작업 보조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3337560"/>
            <a:ext cx="27432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24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3337560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목표 기반 계획·실행</a:t>
            </a:r>
          </a:p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업무 흐름 전체 수행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41063"/>
            <a:ext cx="731520" cy="53035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41063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기술 중심 PoC</a:t>
            </a:r>
          </a:p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확산 실패 반복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3941063"/>
            <a:ext cx="27432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24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3941063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업무·가치 중심</a:t>
            </a:r>
          </a:p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Pain Point·ROI 우선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544568"/>
            <a:ext cx="731520" cy="53035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4544568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요구사항 문서 →</a:t>
            </a:r>
          </a:p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수개월 개발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544568"/>
            <a:ext cx="27432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24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544568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바이브 코딩으로</a:t>
            </a:r>
          </a:p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수일 내 프로토타입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48072"/>
            <a:ext cx="731520" cy="53035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고객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5148072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고객에</a:t>
            </a:r>
          </a:p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동일한 서비스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5148072"/>
            <a:ext cx="27432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24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11880" y="5148072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실시간 초개인화</a:t>
            </a:r>
          </a:p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AI 컨시어지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51576"/>
            <a:ext cx="731520" cy="530352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대표</a:t>
            </a:r>
          </a:p>
          <a:p>
            <a:pPr algn="ctr"/>
            <a:r>
              <a:rPr sz="12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5751576"/>
            <a:ext cx="2103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FAQ 챗봇,</a:t>
            </a:r>
          </a:p>
          <a:p>
            <a:pPr algn="ctr"/>
            <a:r>
              <a:rPr sz="1150" b="0" i="0" u="none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문서 요약 Copilot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5751576"/>
            <a:ext cx="27432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24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1880" y="5751576"/>
            <a:ext cx="2377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업무 Agent, 바이브 코딩,</a:t>
            </a:r>
          </a:p>
          <a:p>
            <a:pPr algn="ctr"/>
            <a:r>
              <a:rPr sz="11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멀티모달 현장 관제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1572768"/>
            <a:ext cx="54864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500" b="1" i="0" u="sng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기존 개발 방식</a:t>
            </a:r>
            <a:r>
              <a:rPr sz="15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vs </a:t>
            </a:r>
            <a:r>
              <a:rPr sz="1500" b="1" i="0" u="sng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바이브 코딩 프로토타입</a:t>
            </a:r>
            <a:r>
              <a:rPr sz="15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비교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965960"/>
            <a:ext cx="5486400" cy="4315968"/>
          </a:xfrm>
          <a:prstGeom prst="rect">
            <a:avLst/>
          </a:prstGeom>
          <a:solidFill>
            <a:srgbClr val="FFFFFF"/>
          </a:solidFill>
          <a:ln w="3175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16200000">
            <a:off x="6080760" y="4672583"/>
            <a:ext cx="274320" cy="274320"/>
          </a:xfrm>
          <a:prstGeom prst="triangl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098280" y="2103120"/>
            <a:ext cx="0" cy="4041647"/>
          </a:xfrm>
          <a:prstGeom prst="line">
            <a:avLst/>
          </a:prstGeom>
          <a:ln w="12700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92240" y="4123944"/>
            <a:ext cx="521207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37960" y="2103120"/>
            <a:ext cx="2468880" cy="34747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검증 기간</a:t>
            </a:r>
          </a:p>
        </p:txBody>
      </p:sp>
      <p:sp>
        <p:nvSpPr>
          <p:cNvPr id="36" name="Oval 35"/>
          <p:cNvSpPr/>
          <p:nvPr/>
        </p:nvSpPr>
        <p:spPr>
          <a:xfrm>
            <a:off x="6629400" y="2756915"/>
            <a:ext cx="822960" cy="8229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수개월</a:t>
            </a:r>
          </a:p>
        </p:txBody>
      </p:sp>
      <p:sp>
        <p:nvSpPr>
          <p:cNvPr id="37" name="Oval 36"/>
          <p:cNvSpPr/>
          <p:nvPr/>
        </p:nvSpPr>
        <p:spPr>
          <a:xfrm>
            <a:off x="7635240" y="2510027"/>
            <a:ext cx="1316736" cy="131673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854196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3854196"/>
            <a:ext cx="131673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9720" y="2103120"/>
            <a:ext cx="2468880" cy="34747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의사결정 근거</a:t>
            </a:r>
          </a:p>
        </p:txBody>
      </p:sp>
      <p:sp>
        <p:nvSpPr>
          <p:cNvPr id="41" name="Oval 40"/>
          <p:cNvSpPr/>
          <p:nvPr/>
        </p:nvSpPr>
        <p:spPr>
          <a:xfrm>
            <a:off x="9281160" y="2756915"/>
            <a:ext cx="822960" cy="8229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기획</a:t>
            </a:r>
          </a:p>
          <a:p>
            <a:pPr algn="ctr"/>
            <a:r>
              <a:rPr sz="12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</p:txBody>
      </p:sp>
      <p:sp>
        <p:nvSpPr>
          <p:cNvPr id="42" name="Oval 41"/>
          <p:cNvSpPr/>
          <p:nvPr/>
        </p:nvSpPr>
        <p:spPr>
          <a:xfrm>
            <a:off x="10287000" y="2510027"/>
            <a:ext cx="1316736" cy="131673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작동</a:t>
            </a:r>
          </a:p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854196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3854196"/>
            <a:ext cx="131673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37960" y="4178808"/>
            <a:ext cx="2468880" cy="34747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 참여 주체</a:t>
            </a:r>
          </a:p>
        </p:txBody>
      </p:sp>
      <p:sp>
        <p:nvSpPr>
          <p:cNvPr id="46" name="Oval 45"/>
          <p:cNvSpPr/>
          <p:nvPr/>
        </p:nvSpPr>
        <p:spPr>
          <a:xfrm>
            <a:off x="6629400" y="4832604"/>
            <a:ext cx="822960" cy="8229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  <a:p>
            <a:pPr algn="ctr"/>
            <a:r>
              <a:rPr sz="12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개발팀</a:t>
            </a:r>
          </a:p>
        </p:txBody>
      </p:sp>
      <p:sp>
        <p:nvSpPr>
          <p:cNvPr id="47" name="Oval 46"/>
          <p:cNvSpPr/>
          <p:nvPr/>
        </p:nvSpPr>
        <p:spPr>
          <a:xfrm>
            <a:off x="7635240" y="4585716"/>
            <a:ext cx="1316736" cy="131673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현업 +</a:t>
            </a:r>
          </a:p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컨설턴트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5929884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5929884"/>
            <a:ext cx="131673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89720" y="4178808"/>
            <a:ext cx="2468880" cy="34747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피드백 반복</a:t>
            </a:r>
          </a:p>
        </p:txBody>
      </p:sp>
      <p:sp>
        <p:nvSpPr>
          <p:cNvPr id="51" name="Oval 50"/>
          <p:cNvSpPr/>
          <p:nvPr/>
        </p:nvSpPr>
        <p:spPr>
          <a:xfrm>
            <a:off x="9281160" y="4832604"/>
            <a:ext cx="822960" cy="82296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1~2회</a:t>
            </a:r>
          </a:p>
        </p:txBody>
      </p:sp>
      <p:sp>
        <p:nvSpPr>
          <p:cNvPr id="52" name="Oval 51"/>
          <p:cNvSpPr/>
          <p:nvPr/>
        </p:nvSpPr>
        <p:spPr>
          <a:xfrm>
            <a:off x="10287000" y="4585716"/>
            <a:ext cx="1316736" cy="131673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상시</a:t>
            </a:r>
          </a:p>
          <a:p>
            <a:pPr algn="ctr"/>
            <a:r>
              <a:rPr sz="160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반복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1160" y="5929884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87000" y="5929884"/>
            <a:ext cx="1316736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950" b="1" i="0" u="none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</p:txBody>
      </p:sp>
      <p:sp>
        <p:nvSpPr>
          <p:cNvPr id="55" name="Oval 54"/>
          <p:cNvSpPr/>
          <p:nvPr/>
        </p:nvSpPr>
        <p:spPr>
          <a:xfrm>
            <a:off x="8961119" y="3031236"/>
            <a:ext cx="274320" cy="274320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600" b="1" i="0" u="none">
                <a:solidFill>
                  <a:srgbClr val="FFE600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0" i="0" u="none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바이브 코딩: 자연어 지시만으로 AI가 코드를 생성해 빠르게 화면을 구현하는 방식  /  우측 비교는 일반적인 경향을 나타낸 예시임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