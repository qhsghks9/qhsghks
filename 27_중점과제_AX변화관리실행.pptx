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배경: 1회성 교육·Agent 단독 구현의 한계 → 업무 재설계·현장 변화관리 필요, 주요 그룹 사례. 방향: ① 그룹 공통 교육·인증(인재개발원 협업) ② 현장 AI 정착(FDE 연계), ②의 사례·Agent를 ①에 환류.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2PANE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14400"/>
            <a:ext cx="11457432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966960" y="6510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AX컨설팅팀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'27년 중점추진과제  &gt;  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④ AX 변화관리 실행</a:t>
            </a:r>
            <a:endParaRPr lang="en-US" sz="2600" dirty="0"/>
          </a:p>
        </p:txBody>
      </p:sp>
      <p:sp>
        <p:nvSpPr>
          <p:cNvPr id="3" name="거버닝 메시지"/>
          <p:cNvSpPr txBox="1"/>
          <p:nvPr/>
        </p:nvSpPr>
        <p:spPr>
          <a:xfrm>
            <a:off x="365760" y="987552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</a:rPr>
              <a:t>인재개발원과 협업하여 그룹 공통 AX 역량 체계를 마련하고, 계열사 현장 정착을 병행 지원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572768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626"/>
                </a:solidFill>
              </a:rPr>
              <a:t>추진 배경</a:t>
            </a:r>
            <a:endParaRPr lang="en-US" sz="1500" dirty="0"/>
          </a:p>
        </p:txBody>
      </p:sp>
      <p:sp>
        <p:nvSpPr>
          <p:cNvPr id="5" name="구역선"/>
          <p:cNvSpPr/>
          <p:nvPr/>
        </p:nvSpPr>
        <p:spPr>
          <a:xfrm>
            <a:off x="365760" y="1920240"/>
            <a:ext cx="5577840" cy="0"/>
          </a:xfrm>
          <a:prstGeom prst="line">
            <a:avLst/>
          </a:prstGeom>
          <a:noFill/>
          <a:ln w="31750">
            <a:solidFill>
              <a:srgbClr val="8A94A6"/>
            </a:solidFill>
            <a:prstDash val="solid"/>
          </a:ln>
        </p:spPr>
      </p:sp>
      <p:sp>
        <p:nvSpPr>
          <p:cNvPr id="6" name="실행 방안 패널"/>
          <p:cNvSpPr/>
          <p:nvPr/>
        </p:nvSpPr>
        <p:spPr>
          <a:xfrm>
            <a:off x="6172200" y="1956816"/>
            <a:ext cx="5650992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D5D9E0"/>
            </a:solidFill>
            <a:prstDash val="solid"/>
          </a:ln>
        </p:spPr>
      </p:sp>
      <p:sp>
        <p:nvSpPr>
          <p:cNvPr id="7" name="실행 방안 헤더"/>
          <p:cNvSpPr txBox="1"/>
          <p:nvPr/>
        </p:nvSpPr>
        <p:spPr>
          <a:xfrm>
            <a:off x="6172200" y="1572768"/>
            <a:ext cx="5650992" cy="384048"/>
          </a:xfrm>
          <a:prstGeom prst="round2SameRect">
            <a:avLst>
              <a:gd name="adj" fmla="val 19048"/>
            </a:avLst>
          </a:prstGeom>
          <a:solidFill>
            <a:srgbClr val="1F386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AX 변화관리 방안</a:t>
            </a:r>
            <a:endParaRPr lang="en-US" sz="1500" dirty="0"/>
          </a:p>
        </p:txBody>
      </p:sp>
      <p:sp>
        <p:nvSpPr>
          <p:cNvPr id="8" name="머리표"/>
          <p:cNvSpPr/>
          <p:nvPr/>
        </p:nvSpPr>
        <p:spPr>
          <a:xfrm>
            <a:off x="384048" y="2112264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204825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AI 단발성 교육 → 지속적인 AX 역량·실행 체계 필요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3957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리터러시는 확산됐으나 </a:t>
            </a:r>
            <a:pPr indent="0" marL="0">
              <a:buNone/>
            </a:pPr>
            <a:r>
              <a:rPr lang="en-US" sz="1150" b="1" dirty="0">
                <a:solidFill>
                  <a:srgbClr val="1F3FA8"/>
                </a:solidFill>
              </a:rPr>
              <a:t>AI 중심 업무 재설계·성과 창출</a:t>
            </a:r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로 미연결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7004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- 업무 방식은 그대로 둔 채 Agent만 구현 → 활용도 저하 → 성과 미흡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9626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성과 창출을 위해 </a:t>
            </a:r>
            <a:pPr indent="0" marL="0">
              <a:buNone/>
            </a:pPr>
            <a:r>
              <a:rPr lang="en-US" sz="1150" b="1" dirty="0">
                <a:solidFill>
                  <a:srgbClr val="1F3FA8"/>
                </a:solidFill>
              </a:rPr>
              <a:t>AI 활용 역량 확보와 현장 변화관리</a:t>
            </a:r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를 함께 추진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23697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- 주요 그룹은 공통 AI 역량 교육·인증과 현장 정착 지원을 병행</a:t>
            </a:r>
            <a:endParaRPr lang="en-US" sz="1050" dirty="0"/>
          </a:p>
        </p:txBody>
      </p:sp>
      <p:graphicFrame>
        <p:nvGraphicFramePr>
          <p:cNvPr id="2" name="그룹 사례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511296"/>
          <a:ext cx="4892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1605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SK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교육 정부 인증, 그룹 AI 역량 모델 기반 인증 제도화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직무·계층별 전 임직원 교육, AI Crew 통한 현장 변화관리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LG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임원 AI 교육, 사별 AI 교육·제도 운영, 사내 AI대학원 개원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머리표"/>
          <p:cNvSpPr/>
          <p:nvPr/>
        </p:nvSpPr>
        <p:spPr>
          <a:xfrm>
            <a:off x="384048" y="4581144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0080" y="45171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FA8"/>
                </a:solidFill>
              </a:rPr>
              <a:t>AI 활용 역량 강화</a:t>
            </a:r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 → </a:t>
            </a:r>
            <a:pPr indent="0" marL="0">
              <a:buNone/>
            </a:pPr>
            <a:r>
              <a:rPr lang="en-US" sz="1300" b="1" dirty="0">
                <a:solidFill>
                  <a:srgbClr val="1F3FA8"/>
                </a:solidFill>
              </a:rPr>
              <a:t>현업 성과</a:t>
            </a:r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로 이어지도록 AX 변화관리 실행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4882896"/>
            <a:ext cx="2670048" cy="292608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번호 1"/>
          <p:cNvSpPr/>
          <p:nvPr/>
        </p:nvSpPr>
        <p:spPr>
          <a:xfrm>
            <a:off x="484632" y="4928616"/>
            <a:ext cx="201168" cy="201168"/>
          </a:xfrm>
          <a:prstGeom prst="ellipse">
            <a:avLst/>
          </a:prstGeom>
          <a:solidFill>
            <a:srgbClr val="7F7F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" y="4928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740664" y="488289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그룹 공통 AI 프로그램</a:t>
            </a:r>
            <a:endParaRPr lang="en-US" sz="1150" dirty="0"/>
          </a:p>
        </p:txBody>
      </p:sp>
      <p:sp>
        <p:nvSpPr>
          <p:cNvPr id="21" name="박스 1"/>
          <p:cNvSpPr txBox="1"/>
          <p:nvPr/>
        </p:nvSpPr>
        <p:spPr>
          <a:xfrm>
            <a:off x="411480" y="5175504"/>
            <a:ext cx="26700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인재개발원과 협업하여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직무·계층별 교육·인증 제도 개발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3264408" y="4882896"/>
            <a:ext cx="2670048" cy="292608"/>
          </a:xfrm>
          <a:prstGeom prst="rect">
            <a:avLst/>
          </a:prstGeom>
          <a:solidFill>
            <a:srgbClr val="D9D9D9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번호 2"/>
          <p:cNvSpPr/>
          <p:nvPr/>
        </p:nvSpPr>
        <p:spPr>
          <a:xfrm>
            <a:off x="3337560" y="4928616"/>
            <a:ext cx="201168" cy="201168"/>
          </a:xfrm>
          <a:prstGeom prst="ellipse">
            <a:avLst/>
          </a:prstGeom>
          <a:solidFill>
            <a:srgbClr val="7F7F7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37560" y="4928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593592" y="488289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626"/>
                </a:solidFill>
              </a:rPr>
              <a:t>현장 AI 정착 프로그램</a:t>
            </a:r>
            <a:endParaRPr lang="en-US" sz="1150" dirty="0"/>
          </a:p>
        </p:txBody>
      </p:sp>
      <p:sp>
        <p:nvSpPr>
          <p:cNvPr id="26" name="박스 2"/>
          <p:cNvSpPr txBox="1"/>
          <p:nvPr/>
        </p:nvSpPr>
        <p:spPr>
          <a:xfrm>
            <a:off x="3264408" y="5175504"/>
            <a:ext cx="2670048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현업 교육으로 AI 니즈 수집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62626"/>
                </a:solidFill>
              </a:rPr>
              <a:t>→ FDE 방식으로 과제 선제안</a:t>
            </a:r>
            <a:endParaRPr lang="en-US" sz="1050" dirty="0"/>
          </a:p>
        </p:txBody>
      </p:sp>
      <p:sp>
        <p:nvSpPr>
          <p:cNvPr id="27" name="환류선"/>
          <p:cNvSpPr/>
          <p:nvPr/>
        </p:nvSpPr>
        <p:spPr>
          <a:xfrm>
            <a:off x="4599432" y="5742432"/>
            <a:ext cx="0" cy="201168"/>
          </a:xfrm>
          <a:prstGeom prst="line">
            <a:avLst/>
          </a:prstGeom>
          <a:noFill/>
          <a:ln w="19050">
            <a:solidFill>
              <a:srgbClr val="1F3FA8"/>
            </a:solidFill>
            <a:prstDash val="solid"/>
          </a:ln>
        </p:spPr>
      </p:sp>
      <p:sp>
        <p:nvSpPr>
          <p:cNvPr id="28" name="환류선"/>
          <p:cNvSpPr/>
          <p:nvPr/>
        </p:nvSpPr>
        <p:spPr>
          <a:xfrm>
            <a:off x="1746504" y="5943600"/>
            <a:ext cx="2852928" cy="0"/>
          </a:xfrm>
          <a:prstGeom prst="line">
            <a:avLst/>
          </a:prstGeom>
          <a:noFill/>
          <a:ln w="19050">
            <a:solidFill>
              <a:srgbClr val="1F3FA8"/>
            </a:solidFill>
            <a:prstDash val="solid"/>
          </a:ln>
        </p:spPr>
      </p:sp>
      <p:sp>
        <p:nvSpPr>
          <p:cNvPr id="29" name="환류선"/>
          <p:cNvSpPr/>
          <p:nvPr/>
        </p:nvSpPr>
        <p:spPr>
          <a:xfrm>
            <a:off x="1746504" y="5742432"/>
            <a:ext cx="0" cy="201168"/>
          </a:xfrm>
          <a:prstGeom prst="line">
            <a:avLst/>
          </a:prstGeom>
          <a:noFill/>
          <a:ln w="19050">
            <a:solidFill>
              <a:srgbClr val="1F3FA8"/>
            </a:solidFill>
            <a:prstDash val="solid"/>
            <a:headEnd type="triangle"/>
          </a:ln>
        </p:spPr>
      </p:sp>
      <p:sp>
        <p:nvSpPr>
          <p:cNvPr id="30" name="환류 라벨"/>
          <p:cNvSpPr txBox="1"/>
          <p:nvPr/>
        </p:nvSpPr>
        <p:spPr>
          <a:xfrm>
            <a:off x="2020824" y="5934456"/>
            <a:ext cx="230428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FA8"/>
                </a:solidFill>
              </a:rPr>
              <a:t>현장 사례 · Agent를 교육 콘텐츠에 반영</a:t>
            </a:r>
            <a:endParaRPr lang="en-US" sz="950" dirty="0"/>
          </a:p>
        </p:txBody>
      </p:sp>
      <p:sp>
        <p:nvSpPr>
          <p:cNvPr id="31" name="머리표"/>
          <p:cNvSpPr/>
          <p:nvPr/>
        </p:nvSpPr>
        <p:spPr>
          <a:xfrm>
            <a:off x="6300216" y="2112264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556248" y="2048256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그룹 공통 AI 프로그램 (가칭 Lotte AX Academy)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464808" y="2377440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</a:rPr>
              <a:t>인재개발원 주관, </a:t>
            </a:r>
            <a:pPr indent="0" marL="0">
              <a:buNone/>
            </a:pPr>
            <a:r>
              <a:rPr lang="en-US" sz="1100" b="1" dirty="0">
                <a:solidFill>
                  <a:srgbClr val="1F3FA8"/>
                </a:solidFill>
              </a:rPr>
              <a:t>AX컨설팅팀 맞춤 콘텐츠·실습 시나리오 제공</a:t>
            </a:r>
            <a:endParaRPr lang="en-US" sz="1100" dirty="0"/>
          </a:p>
        </p:txBody>
      </p:sp>
      <p:graphicFrame>
        <p:nvGraphicFramePr>
          <p:cNvPr id="3" name="공통 프로그램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2688336"/>
          <a:ext cx="5431536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105656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직무·계층별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프로그램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계층별 기대되는 '변화 역할' 기반 AI 교육 운영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직무별 현장 시나리오 기반 실습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 역량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인증 제도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4단계 (이해 → 적용 → 구현 → 내재화 및 확산)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· AX 성장 경로별 인증 관리 (HR 연계는 단계적 검토)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5" name="머리표"/>
          <p:cNvSpPr/>
          <p:nvPr/>
        </p:nvSpPr>
        <p:spPr>
          <a:xfrm>
            <a:off x="6300216" y="4270248"/>
            <a:ext cx="164592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  <a:effectLst>
            <a:outerShdw sx="100000" sy="100000" kx="0" ky="0" algn="bl" rotWithShape="0" blurRad="12700" dist="19050" dir="2700000">
              <a:srgbClr val="7F7F7F">
                <a:alpha val="6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6556248" y="420624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</a:rPr>
              <a:t>현장 AI 정착 프로그램</a:t>
            </a:r>
            <a:endParaRPr lang="en-US" sz="1300" dirty="0"/>
          </a:p>
        </p:txBody>
      </p:sp>
      <p:sp>
        <p:nvSpPr>
          <p:cNvPr id="37" name="Text 33"/>
          <p:cNvSpPr txBox="1"/>
          <p:nvPr/>
        </p:nvSpPr>
        <p:spPr>
          <a:xfrm>
            <a:off x="6464808" y="4535424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</a:rPr>
              <a:t>•  </a:t>
            </a:r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</a:rPr>
              <a:t>그룹사 先제안으로 </a:t>
            </a:r>
            <a:pPr indent="0" marL="0">
              <a:buNone/>
            </a:pPr>
            <a:r>
              <a:rPr lang="en-US" sz="1100" b="1" dirty="0">
                <a:solidFill>
                  <a:srgbClr val="1F3FA8"/>
                </a:solidFill>
              </a:rPr>
              <a:t>현업 AI과제 도출부터 성과 개선까지 지원</a:t>
            </a:r>
            <a:endParaRPr lang="en-US" sz="1100" dirty="0"/>
          </a:p>
        </p:txBody>
      </p:sp>
      <p:graphicFrame>
        <p:nvGraphicFramePr>
          <p:cNvPr id="4" name="현장 정착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4846320"/>
          <a:ext cx="5431536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4105656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 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사항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 Inno Camp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현업 참여 기반 實데이터로 Agent 기획 및 구현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F7F7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(사례) 백화점 이커머스 ('26.10) : 실무자 AI 과제 도출 교육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체계 수립 지원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AX SPOT</a:t>
                      </a:r>
                      <a:pPr indent="0" marL="0">
                        <a:buNone/>
                      </a:pPr>
                      <a:r>
                        <a:rPr lang="en-US" sz="1000" b="1" baseline="3000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1)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진단 → 성과 중심 실행 과제 도출 →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F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FDE 연계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5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Text 34"/>
          <p:cNvSpPr txBox="1"/>
          <p:nvPr/>
        </p:nvSpPr>
        <p:spPr>
          <a:xfrm>
            <a:off x="6281928" y="6035040"/>
            <a:ext cx="5431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</a:rPr>
              <a:t>1) AX SPOT(전략·프로세스·조직·기술) : AX 성과 관점의 과제별 현황 진단 및 개선 제언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Consulting">
  <a:themeElements>
    <a:clrScheme name="AX Consulting">
      <a:dk1>
        <a:srgbClr val="1F2329"/>
      </a:dk1>
      <a:lt1>
        <a:srgbClr val="FFFFFF"/>
      </a:lt1>
      <a:dk2>
        <a:srgbClr val="2F3E55"/>
      </a:dk2>
      <a:lt2>
        <a:srgbClr val="F2F4F7"/>
      </a:lt2>
      <a:accent1>
        <a:srgbClr val="1F4E9A"/>
      </a:accent1>
      <a:accent2>
        <a:srgbClr val="D0342C"/>
      </a:accent2>
      <a:accent3>
        <a:srgbClr val="8A94A6"/>
      </a:accent3>
      <a:accent4>
        <a:srgbClr val="E3EAF5"/>
      </a:accent4>
      <a:accent5>
        <a:srgbClr val="5B6B82"/>
      </a:accent5>
      <a:accent6>
        <a:srgbClr val="0F7B6C"/>
      </a:accent6>
      <a:hlink>
        <a:srgbClr val="1F4E9A"/>
      </a:hlink>
      <a:folHlink>
        <a:srgbClr val="5B6B82"/>
      </a:folHlink>
    </a:clrScheme>
    <a:fontScheme name="AX Consulting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2026-10-29T07:03:12Z</dcterms:created>
  <dcterms:modified xsi:type="dcterms:W3CDTF">2026-10-29T07:03:12Z</dcterms:modified>
</cp:coreProperties>
</file>